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12192000"/>
  <p:embeddedFontLst>
    <p:embeddedFont>
      <p:font typeface="Consolas" panose="020B0609020204030204" pitchFamily="49" charset="0"/>
      <p:regular r:id="rId49"/>
      <p:bold r:id="rId50"/>
      <p:italic r:id="rId51"/>
      <p:boldItalic r:id="rId52"/>
    </p:embeddedFont>
    <p:embeddedFont>
      <p:font typeface="DM Sans" pitchFamily="2" charset="0"/>
      <p:regular r:id="rId53"/>
      <p:bold r:id="rId54"/>
      <p:italic r:id="rId55"/>
      <p:boldItalic r:id="rId56"/>
    </p:embeddedFont>
    <p:embeddedFont>
      <p:font typeface="Libre Baskerville" panose="02000000000000000000" pitchFamily="2" charset="0"/>
      <p:regular r:id="rId5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21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315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DFA"/>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8.svg"/><Relationship Id="rId4" Type="http://schemas.openxmlformats.org/officeDocument/2006/relationships/image" Target="../media/image27.sv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3.sv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0.svg"/></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19809" y="0"/>
            <a:ext cx="4571886" cy="6858000"/>
          </a:xfrm>
          <a:prstGeom prst="rect">
            <a:avLst/>
          </a:prstGeom>
        </p:spPr>
      </p:pic>
      <p:sp>
        <p:nvSpPr>
          <p:cNvPr id="3" name="Text 0"/>
          <p:cNvSpPr/>
          <p:nvPr/>
        </p:nvSpPr>
        <p:spPr>
          <a:xfrm>
            <a:off x="661475" y="1364555"/>
            <a:ext cx="6296860" cy="1550194"/>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From Numbers to Words: How the Model Actually Thinks</a:t>
            </a:r>
            <a:endParaRPr lang="en-US" sz="3250" dirty="0"/>
          </a:p>
        </p:txBody>
      </p:sp>
      <p:sp>
        <p:nvSpPr>
          <p:cNvPr id="4" name="Text 1"/>
          <p:cNvSpPr/>
          <p:nvPr/>
        </p:nvSpPr>
        <p:spPr>
          <a:xfrm>
            <a:off x="661475" y="2980829"/>
            <a:ext cx="2676954" cy="258465"/>
          </a:xfrm>
          <a:prstGeom prst="rect">
            <a:avLst/>
          </a:prstGeom>
          <a:noFill/>
          <a:ln/>
        </p:spPr>
        <p:txBody>
          <a:bodyPr wrap="none" lIns="0" tIns="0" rIns="0" bIns="0" rtlCol="0" anchor="t"/>
          <a:lstStyle/>
          <a:p>
            <a:pPr marL="0" indent="0" algn="l">
              <a:lnSpc>
                <a:spcPct val="104000"/>
              </a:lnSpc>
              <a:buNone/>
            </a:pPr>
            <a:r>
              <a:rPr lang="en-US" sz="1600" b="1" dirty="0">
                <a:solidFill>
                  <a:srgbClr val="B88E23"/>
                </a:solidFill>
                <a:latin typeface="Libre Baskerville" pitchFamily="34" charset="0"/>
                <a:ea typeface="Libre Baskerville" pitchFamily="34" charset="-122"/>
                <a:cs typeface="Libre Baskerville" pitchFamily="34" charset="-120"/>
              </a:rPr>
              <a:t>SOMA KESARA</a:t>
            </a:r>
            <a:endParaRPr lang="en-US" sz="1600" dirty="0"/>
          </a:p>
        </p:txBody>
      </p:sp>
      <p:sp>
        <p:nvSpPr>
          <p:cNvPr id="5" name="Shape 2"/>
          <p:cNvSpPr/>
          <p:nvPr/>
        </p:nvSpPr>
        <p:spPr>
          <a:xfrm>
            <a:off x="661475" y="3487341"/>
            <a:ext cx="650660" cy="310952"/>
          </a:xfrm>
          <a:prstGeom prst="roundRect">
            <a:avLst>
              <a:gd name="adj" fmla="val 17871"/>
            </a:avLst>
          </a:prstGeom>
          <a:solidFill>
            <a:srgbClr val="F7EDD4"/>
          </a:solidFill>
          <a:ln/>
        </p:spPr>
      </p:sp>
      <p:sp>
        <p:nvSpPr>
          <p:cNvPr id="6" name="Text 3"/>
          <p:cNvSpPr/>
          <p:nvPr/>
        </p:nvSpPr>
        <p:spPr>
          <a:xfrm>
            <a:off x="760691" y="3536950"/>
            <a:ext cx="1061812" cy="211733"/>
          </a:xfrm>
          <a:prstGeom prst="rect">
            <a:avLst/>
          </a:prstGeom>
          <a:noFill/>
          <a:ln/>
        </p:spPr>
        <p:txBody>
          <a:bodyPr wrap="none" lIns="0" tIns="0" rIns="0" bIns="0" rtlCol="0" anchor="t"/>
          <a:lstStyle/>
          <a:p>
            <a:pPr marL="0" indent="0" algn="l">
              <a:lnSpc>
                <a:spcPct val="133000"/>
              </a:lnSpc>
              <a:buNone/>
            </a:pPr>
            <a:r>
              <a:rPr lang="en-US" sz="1000" dirty="0">
                <a:solidFill>
                  <a:srgbClr val="454240"/>
                </a:solidFill>
                <a:latin typeface="DM Sans" pitchFamily="34" charset="0"/>
                <a:ea typeface="DM Sans" pitchFamily="34" charset="-122"/>
                <a:cs typeface="DM Sans" pitchFamily="34" charset="-120"/>
              </a:rPr>
              <a:t>PART 2 </a:t>
            </a:r>
            <a:endParaRPr lang="en-US" sz="1000" dirty="0"/>
          </a:p>
        </p:txBody>
      </p:sp>
      <p:sp>
        <p:nvSpPr>
          <p:cNvPr id="7" name="Text 4"/>
          <p:cNvSpPr/>
          <p:nvPr/>
        </p:nvSpPr>
        <p:spPr>
          <a:xfrm>
            <a:off x="661475" y="3984327"/>
            <a:ext cx="6296860" cy="1509117"/>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Our running example is still the same sentence: </a:t>
            </a:r>
            <a:r>
              <a:rPr lang="en-US" sz="1300" b="1" dirty="0">
                <a:solidFill>
                  <a:srgbClr val="454240"/>
                </a:solidFill>
                <a:latin typeface="DM Sans" pitchFamily="34" charset="0"/>
                <a:ea typeface="DM Sans" pitchFamily="34" charset="-122"/>
                <a:cs typeface="DM Sans" pitchFamily="34" charset="-120"/>
              </a:rPr>
              <a:t>"What is my portfolio's exposure to emerging-market equities?"</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Last time, we ended with every word turned into a bundle of numbers carrying </a:t>
            </a:r>
            <a:r>
              <a:rPr lang="en-US" sz="1300" b="1" dirty="0">
                <a:solidFill>
                  <a:srgbClr val="454240"/>
                </a:solidFill>
                <a:latin typeface="DM Sans" pitchFamily="34" charset="0"/>
                <a:ea typeface="DM Sans" pitchFamily="34" charset="-122"/>
                <a:cs typeface="DM Sans" pitchFamily="34" charset="-120"/>
              </a:rPr>
              <a:t>meaning</a:t>
            </a:r>
            <a:r>
              <a:rPr lang="en-US" sz="1300" dirty="0">
                <a:solidFill>
                  <a:srgbClr val="454240"/>
                </a:solidFill>
                <a:latin typeface="DM Sans" pitchFamily="34" charset="0"/>
                <a:ea typeface="DM Sans" pitchFamily="34" charset="-122"/>
                <a:cs typeface="DM Sans" pitchFamily="34" charset="-120"/>
              </a:rPr>
              <a:t> and </a:t>
            </a:r>
            <a:r>
              <a:rPr lang="en-US" sz="1300" b="1" dirty="0">
                <a:solidFill>
                  <a:srgbClr val="454240"/>
                </a:solidFill>
                <a:latin typeface="DM Sans" pitchFamily="34" charset="0"/>
                <a:ea typeface="DM Sans" pitchFamily="34" charset="-122"/>
                <a:cs typeface="DM Sans" pitchFamily="34" charset="-120"/>
              </a:rPr>
              <a:t>position</a:t>
            </a:r>
            <a:r>
              <a:rPr lang="en-US" sz="1300" dirty="0">
                <a:solidFill>
                  <a:srgbClr val="454240"/>
                </a:solidFill>
                <a:latin typeface="DM Sans" pitchFamily="34" charset="0"/>
                <a:ea typeface="DM Sans" pitchFamily="34" charset="-122"/>
                <a:cs typeface="DM Sans" pitchFamily="34" charset="-120"/>
              </a:rPr>
              <a:t>. Now we follow those numbers the rest of the way — into the model's "thinking," and back out as the answer that appears on your screen.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4571886" cy="6858000"/>
          </a:xfrm>
          <a:prstGeom prst="rect">
            <a:avLst/>
          </a:prstGeom>
        </p:spPr>
      </p:pic>
      <p:sp>
        <p:nvSpPr>
          <p:cNvPr id="3" name="Text 0"/>
          <p:cNvSpPr/>
          <p:nvPr/>
        </p:nvSpPr>
        <p:spPr>
          <a:xfrm>
            <a:off x="5233360" y="1750516"/>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Where We Left Off — A One-Line Recap</a:t>
            </a:r>
            <a:endParaRPr lang="en-US" sz="3250" dirty="0"/>
          </a:p>
        </p:txBody>
      </p:sp>
      <p:sp>
        <p:nvSpPr>
          <p:cNvPr id="4" name="Text 1"/>
          <p:cNvSpPr/>
          <p:nvPr/>
        </p:nvSpPr>
        <p:spPr>
          <a:xfrm>
            <a:off x="5233360" y="3032026"/>
            <a:ext cx="629686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Each token in our sentence is now a rich list of numbers. The model has </a:t>
            </a:r>
            <a:r>
              <a:rPr lang="en-US" sz="1300" i="1" dirty="0">
                <a:solidFill>
                  <a:srgbClr val="454240"/>
                </a:solidFill>
                <a:latin typeface="DM Sans" pitchFamily="34" charset="0"/>
                <a:ea typeface="DM Sans" pitchFamily="34" charset="-122"/>
                <a:cs typeface="DM Sans" pitchFamily="34" charset="-120"/>
              </a:rPr>
              <a:t>what</a:t>
            </a:r>
            <a:r>
              <a:rPr lang="en-US" sz="1300" dirty="0">
                <a:solidFill>
                  <a:srgbClr val="454240"/>
                </a:solidFill>
                <a:latin typeface="DM Sans" pitchFamily="34" charset="0"/>
                <a:ea typeface="DM Sans" pitchFamily="34" charset="-122"/>
                <a:cs typeface="DM Sans" pitchFamily="34" charset="-120"/>
              </a:rPr>
              <a:t> each word means and </a:t>
            </a:r>
            <a:r>
              <a:rPr lang="en-US" sz="1300" i="1" dirty="0">
                <a:solidFill>
                  <a:srgbClr val="454240"/>
                </a:solidFill>
                <a:latin typeface="DM Sans" pitchFamily="34" charset="0"/>
                <a:ea typeface="DM Sans" pitchFamily="34" charset="-122"/>
                <a:cs typeface="DM Sans" pitchFamily="34" charset="-120"/>
              </a:rPr>
              <a:t>where</a:t>
            </a:r>
            <a:r>
              <a:rPr lang="en-US" sz="1300" dirty="0">
                <a:solidFill>
                  <a:srgbClr val="454240"/>
                </a:solidFill>
                <a:latin typeface="DM Sans" pitchFamily="34" charset="0"/>
                <a:ea typeface="DM Sans" pitchFamily="34" charset="-122"/>
                <a:cs typeface="DM Sans" pitchFamily="34" charset="-120"/>
              </a:rPr>
              <a:t> it sits. But it still doesn't know how the words </a:t>
            </a:r>
            <a:r>
              <a:rPr lang="en-US" sz="1300" b="1" dirty="0">
                <a:solidFill>
                  <a:srgbClr val="454240"/>
                </a:solidFill>
                <a:latin typeface="DM Sans" pitchFamily="34" charset="0"/>
                <a:ea typeface="DM Sans" pitchFamily="34" charset="-122"/>
                <a:cs typeface="DM Sans" pitchFamily="34" charset="-120"/>
              </a:rPr>
              <a:t>relate to each other</a:t>
            </a:r>
            <a:r>
              <a:rPr lang="en-US" sz="1300" dirty="0">
                <a:solidFill>
                  <a:srgbClr val="454240"/>
                </a:solidFill>
                <a:latin typeface="DM Sans" pitchFamily="34" charset="0"/>
                <a:ea typeface="DM Sans" pitchFamily="34" charset="-122"/>
                <a:cs typeface="DM Sans" pitchFamily="34" charset="-120"/>
              </a:rPr>
              <a:t>.</a:t>
            </a:r>
            <a:endParaRPr lang="en-US" sz="1300" dirty="0"/>
          </a:p>
        </p:txBody>
      </p:sp>
      <p:sp>
        <p:nvSpPr>
          <p:cNvPr id="5" name="Shape 2"/>
          <p:cNvSpPr/>
          <p:nvPr/>
        </p:nvSpPr>
        <p:spPr>
          <a:xfrm>
            <a:off x="5233360" y="4011910"/>
            <a:ext cx="6296860" cy="909439"/>
          </a:xfrm>
          <a:prstGeom prst="roundRect">
            <a:avLst>
              <a:gd name="adj" fmla="val 7638"/>
            </a:avLst>
          </a:prstGeom>
          <a:solidFill>
            <a:srgbClr val="B6D6FC"/>
          </a:solidFill>
          <a:ln/>
        </p:spPr>
      </p:sp>
      <p:pic>
        <p:nvPicPr>
          <p:cNvPr id="6"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98655" y="4251623"/>
            <a:ext cx="206667" cy="165298"/>
          </a:xfrm>
          <a:prstGeom prst="rect">
            <a:avLst/>
          </a:prstGeom>
        </p:spPr>
      </p:pic>
      <p:sp>
        <p:nvSpPr>
          <p:cNvPr id="7" name="Text 3"/>
          <p:cNvSpPr/>
          <p:nvPr/>
        </p:nvSpPr>
        <p:spPr>
          <a:xfrm>
            <a:off x="5770617" y="4202013"/>
            <a:ext cx="559430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That's the job of the next step — and it's the </a:t>
            </a:r>
            <a:r>
              <a:rPr lang="en-US" sz="1300" b="1" dirty="0">
                <a:solidFill>
                  <a:srgbClr val="000000"/>
                </a:solidFill>
                <a:latin typeface="DM Sans" pitchFamily="34" charset="0"/>
                <a:ea typeface="DM Sans" pitchFamily="34" charset="-122"/>
                <a:cs typeface="DM Sans" pitchFamily="34" charset="-120"/>
              </a:rPr>
              <a:t>single most important idea</a:t>
            </a:r>
            <a:r>
              <a:rPr lang="en-US" sz="1300" dirty="0">
                <a:solidFill>
                  <a:srgbClr val="000000"/>
                </a:solidFill>
                <a:latin typeface="DM Sans" pitchFamily="34" charset="0"/>
                <a:ea typeface="DM Sans" pitchFamily="34" charset="-122"/>
                <a:cs typeface="DM Sans" pitchFamily="34" charset="-120"/>
              </a:rPr>
              <a:t> in modern AI.</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574" y="1269901"/>
            <a:ext cx="10868547"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Attention: Letting Every Word Look at Every Other Word</a:t>
            </a:r>
            <a:endParaRPr lang="en-US" sz="3250" dirty="0"/>
          </a:p>
        </p:txBody>
      </p:sp>
      <p:sp>
        <p:nvSpPr>
          <p:cNvPr id="3" name="Text 1"/>
          <p:cNvSpPr/>
          <p:nvPr/>
        </p:nvSpPr>
        <p:spPr>
          <a:xfrm>
            <a:off x="661574" y="2369443"/>
            <a:ext cx="3791450"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The Problem Attention Solves</a:t>
            </a:r>
            <a:endParaRPr lang="en-US" sz="1600" dirty="0"/>
          </a:p>
        </p:txBody>
      </p:sp>
      <p:sp>
        <p:nvSpPr>
          <p:cNvPr id="4" name="Text 2"/>
          <p:cNvSpPr/>
          <p:nvPr/>
        </p:nvSpPr>
        <p:spPr>
          <a:xfrm>
            <a:off x="661574" y="2875955"/>
            <a:ext cx="10868547" cy="1430536"/>
          </a:xfrm>
          <a:prstGeom prst="rect">
            <a:avLst/>
          </a:prstGeom>
          <a:noFill/>
          <a:ln/>
        </p:spPr>
        <p:txBody>
          <a:bodyPr wrap="squar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Look at our sentence again: </a:t>
            </a:r>
            <a:r>
              <a:rPr lang="en-US" sz="1300" i="1" dirty="0">
                <a:solidFill>
                  <a:srgbClr val="454240"/>
                </a:solidFill>
                <a:latin typeface="DM Sans" pitchFamily="34" charset="0"/>
                <a:ea typeface="DM Sans" pitchFamily="34" charset="-122"/>
                <a:cs typeface="DM Sans" pitchFamily="34" charset="-120"/>
              </a:rPr>
              <a:t>"What is my portfolio's exposure to </a:t>
            </a:r>
            <a:r>
              <a:rPr lang="en-US" sz="1300" b="1" i="1" dirty="0">
                <a:solidFill>
                  <a:srgbClr val="454240"/>
                </a:solidFill>
                <a:latin typeface="DM Sans" pitchFamily="34" charset="0"/>
                <a:ea typeface="DM Sans" pitchFamily="34" charset="-122"/>
                <a:cs typeface="DM Sans" pitchFamily="34" charset="-120"/>
              </a:rPr>
              <a:t>emerging-market equities</a:t>
            </a:r>
            <a:r>
              <a:rPr lang="en-US" sz="1300" i="1" dirty="0">
                <a:solidFill>
                  <a:srgbClr val="454240"/>
                </a:solidFill>
                <a:latin typeface="DM Sans" pitchFamily="34" charset="0"/>
                <a:ea typeface="DM Sans" pitchFamily="34" charset="-122"/>
                <a:cs typeface="DM Sans" pitchFamily="34" charset="-120"/>
              </a:rPr>
              <a:t>?"</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word </a:t>
            </a:r>
            <a:r>
              <a:rPr lang="en-US" sz="1300" b="1" dirty="0">
                <a:solidFill>
                  <a:srgbClr val="454240"/>
                </a:solidFill>
                <a:latin typeface="DM Sans" pitchFamily="34" charset="0"/>
                <a:ea typeface="DM Sans" pitchFamily="34" charset="-122"/>
                <a:cs typeface="DM Sans" pitchFamily="34" charset="-120"/>
              </a:rPr>
              <a:t>"exposure"</a:t>
            </a:r>
            <a:r>
              <a:rPr lang="en-US" sz="1300" dirty="0">
                <a:solidFill>
                  <a:srgbClr val="454240"/>
                </a:solidFill>
                <a:latin typeface="DM Sans" pitchFamily="34" charset="0"/>
                <a:ea typeface="DM Sans" pitchFamily="34" charset="-122"/>
                <a:cs typeface="DM Sans" pitchFamily="34" charset="-120"/>
              </a:rPr>
              <a:t> is the key word. But "exposure" on its own is vague — exposure to </a:t>
            </a:r>
            <a:r>
              <a:rPr lang="en-US" sz="1300" i="1" dirty="0">
                <a:solidFill>
                  <a:srgbClr val="454240"/>
                </a:solidFill>
                <a:latin typeface="DM Sans" pitchFamily="34" charset="0"/>
                <a:ea typeface="DM Sans" pitchFamily="34" charset="-122"/>
                <a:cs typeface="DM Sans" pitchFamily="34" charset="-120"/>
              </a:rPr>
              <a:t>what</a:t>
            </a:r>
            <a:r>
              <a:rPr lang="en-US" sz="1300" dirty="0">
                <a:solidFill>
                  <a:srgbClr val="454240"/>
                </a:solidFill>
                <a:latin typeface="DM Sans" pitchFamily="34" charset="0"/>
                <a:ea typeface="DM Sans" pitchFamily="34" charset="-122"/>
                <a:cs typeface="DM Sans" pitchFamily="34" charset="-120"/>
              </a:rPr>
              <a:t>? To sunlight? To risk? To a chemical?</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To answer correctly, the model has to figure out that </a:t>
            </a:r>
            <a:r>
              <a:rPr lang="en-US" sz="1300" b="1" dirty="0">
                <a:solidFill>
                  <a:srgbClr val="454240"/>
                </a:solidFill>
                <a:latin typeface="DM Sans" pitchFamily="34" charset="0"/>
                <a:ea typeface="DM Sans" pitchFamily="34" charset="-122"/>
                <a:cs typeface="DM Sans" pitchFamily="34" charset="-120"/>
              </a:rPr>
              <a:t>"exposure"</a:t>
            </a:r>
            <a:r>
              <a:rPr lang="en-US" sz="1300" dirty="0">
                <a:solidFill>
                  <a:srgbClr val="454240"/>
                </a:solidFill>
                <a:latin typeface="DM Sans" pitchFamily="34" charset="0"/>
                <a:ea typeface="DM Sans" pitchFamily="34" charset="-122"/>
                <a:cs typeface="DM Sans" pitchFamily="34" charset="-120"/>
              </a:rPr>
              <a:t> here is connected to </a:t>
            </a:r>
            <a:r>
              <a:rPr lang="en-US" sz="1300" b="1" dirty="0">
                <a:solidFill>
                  <a:srgbClr val="454240"/>
                </a:solidFill>
                <a:latin typeface="DM Sans" pitchFamily="34" charset="0"/>
                <a:ea typeface="DM Sans" pitchFamily="34" charset="-122"/>
                <a:cs typeface="DM Sans" pitchFamily="34" charset="-120"/>
              </a:rPr>
              <a:t>"emerging-market equities"</a:t>
            </a:r>
            <a:r>
              <a:rPr lang="en-US" sz="1300" dirty="0">
                <a:solidFill>
                  <a:srgbClr val="454240"/>
                </a:solidFill>
                <a:latin typeface="DM Sans" pitchFamily="34" charset="0"/>
                <a:ea typeface="DM Sans" pitchFamily="34" charset="-122"/>
                <a:cs typeface="DM Sans" pitchFamily="34" charset="-120"/>
              </a:rPr>
              <a:t>. Those words, several positions away, give "exposure" its real meaning in this sentence.</a:t>
            </a:r>
            <a:endParaRPr lang="en-US" sz="1300" dirty="0"/>
          </a:p>
        </p:txBody>
      </p:sp>
      <p:sp>
        <p:nvSpPr>
          <p:cNvPr id="5" name="Shape 3"/>
          <p:cNvSpPr/>
          <p:nvPr/>
        </p:nvSpPr>
        <p:spPr>
          <a:xfrm>
            <a:off x="661574" y="4492526"/>
            <a:ext cx="10868547" cy="909439"/>
          </a:xfrm>
          <a:prstGeom prst="roundRect">
            <a:avLst>
              <a:gd name="adj" fmla="val 7638"/>
            </a:avLst>
          </a:prstGeom>
          <a:solidFill>
            <a:srgbClr val="F3E4BF"/>
          </a:solidFill>
          <a:ln/>
        </p:spPr>
      </p:sp>
      <p:pic>
        <p:nvPicPr>
          <p:cNvPr id="6"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4732238"/>
            <a:ext cx="206667" cy="165298"/>
          </a:xfrm>
          <a:prstGeom prst="rect">
            <a:avLst/>
          </a:prstGeom>
        </p:spPr>
      </p:pic>
      <p:sp>
        <p:nvSpPr>
          <p:cNvPr id="7" name="Text 4"/>
          <p:cNvSpPr/>
          <p:nvPr/>
        </p:nvSpPr>
        <p:spPr>
          <a:xfrm>
            <a:off x="1198830" y="4682629"/>
            <a:ext cx="10165996"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This is what </a:t>
            </a:r>
            <a:r>
              <a:rPr lang="en-US" sz="1300" b="1" dirty="0">
                <a:solidFill>
                  <a:srgbClr val="000000"/>
                </a:solidFill>
                <a:latin typeface="DM Sans" pitchFamily="34" charset="0"/>
                <a:ea typeface="DM Sans" pitchFamily="34" charset="-122"/>
                <a:cs typeface="DM Sans" pitchFamily="34" charset="-120"/>
              </a:rPr>
              <a:t>attention</a:t>
            </a:r>
            <a:r>
              <a:rPr lang="en-US" sz="1300" dirty="0">
                <a:solidFill>
                  <a:srgbClr val="000000"/>
                </a:solidFill>
                <a:latin typeface="DM Sans" pitchFamily="34" charset="0"/>
                <a:ea typeface="DM Sans" pitchFamily="34" charset="-122"/>
                <a:cs typeface="DM Sans" pitchFamily="34" charset="-120"/>
              </a:rPr>
              <a:t> does: it lets every word in the sentence look at every other word and decide which ones matter for understanding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574" y="946944"/>
            <a:ext cx="5680826"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The Classroom Analogy</a:t>
            </a:r>
            <a:endParaRPr lang="en-US" sz="3250" dirty="0"/>
          </a:p>
        </p:txBody>
      </p:sp>
      <p:sp>
        <p:nvSpPr>
          <p:cNvPr id="3" name="Text 1"/>
          <p:cNvSpPr/>
          <p:nvPr/>
        </p:nvSpPr>
        <p:spPr>
          <a:xfrm>
            <a:off x="661574" y="1794371"/>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Imagine a classroom of students. Each student is one word in our sentence. The teacher asks every student: </a:t>
            </a:r>
            <a:r>
              <a:rPr lang="en-US" sz="1300" i="1" dirty="0">
                <a:solidFill>
                  <a:srgbClr val="454240"/>
                </a:solidFill>
                <a:latin typeface="DM Sans" pitchFamily="34" charset="0"/>
                <a:ea typeface="DM Sans" pitchFamily="34" charset="-122"/>
                <a:cs typeface="DM Sans" pitchFamily="34" charset="-120"/>
              </a:rPr>
              <a:t>"Look around the room. Who else in here is relevant to you? Pay close attention to them. Ignore the rest."</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525" y="2509639"/>
            <a:ext cx="3531702" cy="1520230"/>
          </a:xfrm>
          <a:prstGeom prst="rect">
            <a:avLst/>
          </a:prstGeom>
        </p:spPr>
      </p:pic>
      <p:sp>
        <p:nvSpPr>
          <p:cNvPr id="5" name="Text 2"/>
          <p:cNvSpPr/>
          <p:nvPr/>
        </p:nvSpPr>
        <p:spPr>
          <a:xfrm>
            <a:off x="903066" y="2693988"/>
            <a:ext cx="2549461"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"exposure" looks around</a:t>
            </a:r>
            <a:endParaRPr lang="en-US" sz="1600" dirty="0"/>
          </a:p>
        </p:txBody>
      </p:sp>
      <p:sp>
        <p:nvSpPr>
          <p:cNvPr id="6" name="Text 3"/>
          <p:cNvSpPr/>
          <p:nvPr/>
        </p:nvSpPr>
        <p:spPr>
          <a:xfrm>
            <a:off x="903066" y="3051671"/>
            <a:ext cx="308681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Pays a lot of attention to </a:t>
            </a:r>
            <a:r>
              <a:rPr lang="en-US" sz="1300" b="1" dirty="0">
                <a:solidFill>
                  <a:srgbClr val="454240"/>
                </a:solidFill>
                <a:latin typeface="DM Sans" pitchFamily="34" charset="0"/>
                <a:ea typeface="DM Sans" pitchFamily="34" charset="-122"/>
                <a:cs typeface="DM Sans" pitchFamily="34" charset="-120"/>
              </a:rPr>
              <a:t>"portfolio"</a:t>
            </a:r>
            <a:r>
              <a:rPr lang="en-US" sz="1300" dirty="0">
                <a:solidFill>
                  <a:srgbClr val="454240"/>
                </a:solidFill>
                <a:latin typeface="DM Sans" pitchFamily="34" charset="0"/>
                <a:ea typeface="DM Sans" pitchFamily="34" charset="-122"/>
                <a:cs typeface="DM Sans" pitchFamily="34" charset="-120"/>
              </a:rPr>
              <a:t>, </a:t>
            </a:r>
            <a:r>
              <a:rPr lang="en-US" sz="1300" b="1" dirty="0">
                <a:solidFill>
                  <a:srgbClr val="454240"/>
                </a:solidFill>
                <a:latin typeface="DM Sans" pitchFamily="34" charset="0"/>
                <a:ea typeface="DM Sans" pitchFamily="34" charset="-122"/>
                <a:cs typeface="DM Sans" pitchFamily="34" charset="-120"/>
              </a:rPr>
              <a:t>"emerging"</a:t>
            </a:r>
            <a:r>
              <a:rPr lang="en-US" sz="1300" dirty="0">
                <a:solidFill>
                  <a:srgbClr val="454240"/>
                </a:solidFill>
                <a:latin typeface="DM Sans" pitchFamily="34" charset="0"/>
                <a:ea typeface="DM Sans" pitchFamily="34" charset="-122"/>
                <a:cs typeface="DM Sans" pitchFamily="34" charset="-120"/>
              </a:rPr>
              <a:t>, and </a:t>
            </a:r>
            <a:r>
              <a:rPr lang="en-US" sz="1300" b="1" dirty="0">
                <a:solidFill>
                  <a:srgbClr val="454240"/>
                </a:solidFill>
                <a:latin typeface="DM Sans" pitchFamily="34" charset="0"/>
                <a:ea typeface="DM Sans" pitchFamily="34" charset="-122"/>
                <a:cs typeface="DM Sans" pitchFamily="34" charset="-120"/>
              </a:rPr>
              <a:t>"equities"</a:t>
            </a:r>
            <a:r>
              <a:rPr lang="en-US" sz="1300" dirty="0">
                <a:solidFill>
                  <a:srgbClr val="454240"/>
                </a:solidFill>
                <a:latin typeface="DM Sans" pitchFamily="34" charset="0"/>
                <a:ea typeface="DM Sans" pitchFamily="34" charset="-122"/>
                <a:cs typeface="DM Sans" pitchFamily="34" charset="-120"/>
              </a:rPr>
              <a:t>. It barely looks at "is" or "my".</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20472" y="2509639"/>
            <a:ext cx="3531702" cy="1520230"/>
          </a:xfrm>
          <a:prstGeom prst="rect">
            <a:avLst/>
          </a:prstGeom>
        </p:spPr>
      </p:pic>
      <p:sp>
        <p:nvSpPr>
          <p:cNvPr id="8" name="Text 4"/>
          <p:cNvSpPr/>
          <p:nvPr/>
        </p:nvSpPr>
        <p:spPr>
          <a:xfrm>
            <a:off x="4581014" y="2693988"/>
            <a:ext cx="2513942"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"equities" pays attention</a:t>
            </a:r>
            <a:endParaRPr lang="en-US" sz="1600" dirty="0"/>
          </a:p>
        </p:txBody>
      </p:sp>
      <p:sp>
        <p:nvSpPr>
          <p:cNvPr id="9" name="Text 5"/>
          <p:cNvSpPr/>
          <p:nvPr/>
        </p:nvSpPr>
        <p:spPr>
          <a:xfrm>
            <a:off x="4581014" y="3051671"/>
            <a:ext cx="308681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Focuses on </a:t>
            </a:r>
            <a:r>
              <a:rPr lang="en-US" sz="1300" b="1" dirty="0">
                <a:solidFill>
                  <a:srgbClr val="454240"/>
                </a:solidFill>
                <a:latin typeface="DM Sans" pitchFamily="34" charset="0"/>
                <a:ea typeface="DM Sans" pitchFamily="34" charset="-122"/>
                <a:cs typeface="DM Sans" pitchFamily="34" charset="-120"/>
              </a:rPr>
              <a:t>"emerging"</a:t>
            </a:r>
            <a:r>
              <a:rPr lang="en-US" sz="1300" dirty="0">
                <a:solidFill>
                  <a:srgbClr val="454240"/>
                </a:solidFill>
                <a:latin typeface="DM Sans" pitchFamily="34" charset="0"/>
                <a:ea typeface="DM Sans" pitchFamily="34" charset="-122"/>
                <a:cs typeface="DM Sans" pitchFamily="34" charset="-120"/>
              </a:rPr>
              <a:t> and </a:t>
            </a:r>
            <a:r>
              <a:rPr lang="en-US" sz="1300" b="1" dirty="0">
                <a:solidFill>
                  <a:srgbClr val="454240"/>
                </a:solidFill>
                <a:latin typeface="DM Sans" pitchFamily="34" charset="0"/>
                <a:ea typeface="DM Sans" pitchFamily="34" charset="-122"/>
                <a:cs typeface="DM Sans" pitchFamily="34" charset="-120"/>
              </a:rPr>
              <a:t>"market"</a:t>
            </a:r>
            <a:r>
              <a:rPr lang="en-US" sz="1300" dirty="0">
                <a:solidFill>
                  <a:srgbClr val="454240"/>
                </a:solidFill>
                <a:latin typeface="DM Sans" pitchFamily="34" charset="0"/>
                <a:ea typeface="DM Sans" pitchFamily="34" charset="-122"/>
                <a:cs typeface="DM Sans" pitchFamily="34" charset="-120"/>
              </a:rPr>
              <a:t> — they describe what kind of equities.</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8419" y="2509639"/>
            <a:ext cx="3531702" cy="1520230"/>
          </a:xfrm>
          <a:prstGeom prst="rect">
            <a:avLst/>
          </a:prstGeom>
        </p:spPr>
      </p:pic>
      <p:sp>
        <p:nvSpPr>
          <p:cNvPr id="11" name="Text 6"/>
          <p:cNvSpPr/>
          <p:nvPr/>
        </p:nvSpPr>
        <p:spPr>
          <a:xfrm>
            <a:off x="8258961" y="2693988"/>
            <a:ext cx="2636474"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"is" has little to figure out</a:t>
            </a:r>
            <a:endParaRPr lang="en-US" sz="1600" dirty="0"/>
          </a:p>
        </p:txBody>
      </p:sp>
      <p:sp>
        <p:nvSpPr>
          <p:cNvPr id="12" name="Text 7"/>
          <p:cNvSpPr/>
          <p:nvPr/>
        </p:nvSpPr>
        <p:spPr>
          <a:xfrm>
            <a:off x="8258961" y="3051671"/>
            <a:ext cx="308681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Mostly looks at nothing in particular — it's grammar glue.</a:t>
            </a:r>
            <a:endParaRPr lang="en-US" sz="1300" dirty="0"/>
          </a:p>
        </p:txBody>
      </p:sp>
      <p:sp>
        <p:nvSpPr>
          <p:cNvPr id="13" name="Text 8"/>
          <p:cNvSpPr/>
          <p:nvPr/>
        </p:nvSpPr>
        <p:spPr>
          <a:xfrm>
            <a:off x="661574" y="4215904"/>
            <a:ext cx="10868547" cy="1695152"/>
          </a:xfrm>
          <a:prstGeom prst="rect">
            <a:avLst/>
          </a:prstGeom>
          <a:noFill/>
          <a:ln/>
        </p:spPr>
        <p:txBody>
          <a:bodyPr wrap="squar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Every word does this </a:t>
            </a:r>
            <a:r>
              <a:rPr lang="en-US" sz="1300" b="1" dirty="0">
                <a:solidFill>
                  <a:srgbClr val="454240"/>
                </a:solidFill>
                <a:latin typeface="DM Sans" pitchFamily="34" charset="0"/>
                <a:ea typeface="DM Sans" pitchFamily="34" charset="-122"/>
                <a:cs typeface="DM Sans" pitchFamily="34" charset="-120"/>
              </a:rPr>
              <a:t>at the same time</a:t>
            </a:r>
            <a:r>
              <a:rPr lang="en-US" sz="1300" dirty="0">
                <a:solidFill>
                  <a:srgbClr val="454240"/>
                </a:solidFill>
                <a:latin typeface="DM Sans" pitchFamily="34" charset="0"/>
                <a:ea typeface="DM Sans" pitchFamily="34" charset="-122"/>
                <a:cs typeface="DM Sans" pitchFamily="34" charset="-120"/>
              </a:rPr>
              <a:t>, in parallel.</a:t>
            </a:r>
            <a:endParaRPr lang="en-US" sz="1300" dirty="0"/>
          </a:p>
          <a:p>
            <a:pPr marL="0" indent="0" algn="l">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That's why GPUs matter — remember the stadium of accountants from Part 1? This is exactly the kind of work they were built for.</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Because every word updates its meaning based on context, the model builds a rich, context-aware representation of the whole sentence — not just a bag of isolated word meanings. That is what makes attention far more powerful than earlier approaches like simple word embeddings.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574" y="513259"/>
            <a:ext cx="5476540" cy="439241"/>
          </a:xfrm>
          <a:prstGeom prst="rect">
            <a:avLst/>
          </a:prstGeom>
          <a:noFill/>
          <a:ln/>
        </p:spPr>
        <p:txBody>
          <a:bodyPr wrap="none" lIns="0" tIns="0" rIns="0" bIns="0" rtlCol="0" anchor="t"/>
          <a:lstStyle/>
          <a:p>
            <a:pPr marL="0" indent="0" algn="l">
              <a:lnSpc>
                <a:spcPct val="104000"/>
              </a:lnSpc>
              <a:buNone/>
            </a:pPr>
            <a:r>
              <a:rPr lang="en-US" sz="2750" dirty="0">
                <a:solidFill>
                  <a:srgbClr val="5C4E3D"/>
                </a:solidFill>
                <a:latin typeface="Libre Baskerville" pitchFamily="34" charset="0"/>
                <a:ea typeface="Libre Baskerville" pitchFamily="34" charset="-122"/>
                <a:cs typeface="Libre Baskerville" pitchFamily="34" charset="-120"/>
              </a:rPr>
              <a:t>Attention Weights: A Visual</a:t>
            </a:r>
            <a:endParaRPr lang="en-US" sz="2750" dirty="0"/>
          </a:p>
        </p:txBody>
      </p:sp>
      <p:pic>
        <p:nvPicPr>
          <p:cNvPr id="3"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1574" y="1266031"/>
            <a:ext cx="5616931" cy="4944269"/>
          </a:xfrm>
          <a:prstGeom prst="rect">
            <a:avLst/>
          </a:prstGeom>
        </p:spPr>
      </p:pic>
      <p:sp>
        <p:nvSpPr>
          <p:cNvPr id="4" name="Text 1"/>
          <p:cNvSpPr/>
          <p:nvPr/>
        </p:nvSpPr>
        <p:spPr>
          <a:xfrm>
            <a:off x="7619016" y="1239143"/>
            <a:ext cx="3917455" cy="624185"/>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Each word in a sentence attends to every other word with different weights. The lines and connections in the diagram represent those attention scores.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574" y="677366"/>
            <a:ext cx="9323253" cy="413445"/>
          </a:xfrm>
          <a:prstGeom prst="rect">
            <a:avLst/>
          </a:prstGeom>
          <a:noFill/>
          <a:ln/>
        </p:spPr>
        <p:txBody>
          <a:bodyPr wrap="none" lIns="0" tIns="0" rIns="0" bIns="0" rtlCol="0" anchor="t"/>
          <a:lstStyle/>
          <a:p>
            <a:pPr marL="0" indent="0" algn="l">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Multi-Head Attention: Many Conversations at Once</a:t>
            </a:r>
            <a:endParaRPr lang="en-US" sz="2600" dirty="0"/>
          </a:p>
        </p:txBody>
      </p:sp>
      <p:pic>
        <p:nvPicPr>
          <p:cNvPr id="3"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1574" y="1368623"/>
            <a:ext cx="6367006" cy="4600079"/>
          </a:xfrm>
          <a:prstGeom prst="rect">
            <a:avLst/>
          </a:prstGeom>
        </p:spPr>
      </p:pic>
      <p:sp>
        <p:nvSpPr>
          <p:cNvPr id="4" name="Text 1"/>
          <p:cNvSpPr/>
          <p:nvPr/>
        </p:nvSpPr>
        <p:spPr>
          <a:xfrm>
            <a:off x="8949407" y="1355328"/>
            <a:ext cx="2586965" cy="1446709"/>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5C4E3D"/>
                </a:solidFill>
                <a:latin typeface="Libre Baskerville" pitchFamily="34" charset="0"/>
                <a:ea typeface="Libre Baskerville" pitchFamily="34" charset="-122"/>
                <a:cs typeface="Libre Baskerville" pitchFamily="34" charset="-120"/>
              </a:rPr>
              <a:t>Real transformer models don't run attention just once per layer — they run it in parallel across multiple "heads," each one attending to different kinds of relationships simultaneously.</a:t>
            </a:r>
            <a:endParaRPr lang="en-US" sz="1300" dirty="0"/>
          </a:p>
        </p:txBody>
      </p:sp>
      <p:sp>
        <p:nvSpPr>
          <p:cNvPr id="5" name="Text 2"/>
          <p:cNvSpPr/>
          <p:nvPr/>
        </p:nvSpPr>
        <p:spPr>
          <a:xfrm>
            <a:off x="8949407" y="2907804"/>
            <a:ext cx="3196550" cy="190500"/>
          </a:xfrm>
          <a:prstGeom prst="rect">
            <a:avLst/>
          </a:prstGeom>
          <a:noFill/>
          <a:ln/>
        </p:spPr>
        <p:txBody>
          <a:bodyPr wrap="none" lIns="0" tIns="0" rIns="0" bIns="0" rtlCol="0" anchor="t"/>
          <a:lstStyle/>
          <a:p>
            <a:pPr marL="0" indent="0" algn="l">
              <a:lnSpc>
                <a:spcPct val="120000"/>
              </a:lnSpc>
              <a:buNone/>
            </a:pPr>
            <a:endParaRPr lang="en-US" sz="1000" dirty="0"/>
          </a:p>
        </p:txBody>
      </p:sp>
      <p:sp>
        <p:nvSpPr>
          <p:cNvPr id="6" name="Text 3"/>
          <p:cNvSpPr/>
          <p:nvPr/>
        </p:nvSpPr>
        <p:spPr>
          <a:xfrm>
            <a:off x="8949407" y="3204071"/>
            <a:ext cx="2586965" cy="620018"/>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5C4E3D"/>
                </a:solidFill>
                <a:latin typeface="Libre Baskerville" pitchFamily="34" charset="0"/>
                <a:ea typeface="Libre Baskerville" pitchFamily="34" charset="-122"/>
                <a:cs typeface="Libre Baskerville" pitchFamily="34" charset="-120"/>
              </a:rPr>
              <a:t>One head might focus on grammatical structure, another on semantic meaning.</a:t>
            </a:r>
            <a:endParaRPr lang="en-US" sz="1300" dirty="0"/>
          </a:p>
        </p:txBody>
      </p:sp>
      <p:sp>
        <p:nvSpPr>
          <p:cNvPr id="7" name="Text 4"/>
          <p:cNvSpPr/>
          <p:nvPr/>
        </p:nvSpPr>
        <p:spPr>
          <a:xfrm>
            <a:off x="8949407" y="3929856"/>
            <a:ext cx="3196550" cy="190500"/>
          </a:xfrm>
          <a:prstGeom prst="rect">
            <a:avLst/>
          </a:prstGeom>
          <a:noFill/>
          <a:ln/>
        </p:spPr>
        <p:txBody>
          <a:bodyPr wrap="none" lIns="0" tIns="0" rIns="0" bIns="0" rtlCol="0" anchor="t"/>
          <a:lstStyle/>
          <a:p>
            <a:pPr marL="0" indent="0" algn="l">
              <a:lnSpc>
                <a:spcPct val="120000"/>
              </a:lnSpc>
              <a:buNone/>
            </a:pPr>
            <a:endParaRPr lang="en-US" sz="1000" dirty="0"/>
          </a:p>
        </p:txBody>
      </p:sp>
      <p:sp>
        <p:nvSpPr>
          <p:cNvPr id="8" name="Text 5"/>
          <p:cNvSpPr/>
          <p:nvPr/>
        </p:nvSpPr>
        <p:spPr>
          <a:xfrm>
            <a:off x="8949407" y="4226123"/>
            <a:ext cx="2586965" cy="620018"/>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5C4E3D"/>
                </a:solidFill>
                <a:latin typeface="Libre Baskerville" pitchFamily="34" charset="0"/>
                <a:ea typeface="Libre Baskerville" pitchFamily="34" charset="-122"/>
                <a:cs typeface="Libre Baskerville" pitchFamily="34" charset="-120"/>
              </a:rPr>
              <a:t>another on long-range dependencies. The outputs of all heads are then combined</a:t>
            </a:r>
            <a:endParaRPr lang="en-US" sz="1300" dirty="0"/>
          </a:p>
        </p:txBody>
      </p:sp>
      <p:sp>
        <p:nvSpPr>
          <p:cNvPr id="9" name="Text 6"/>
          <p:cNvSpPr/>
          <p:nvPr/>
        </p:nvSpPr>
        <p:spPr>
          <a:xfrm>
            <a:off x="8949407" y="4951909"/>
            <a:ext cx="3196550" cy="190500"/>
          </a:xfrm>
          <a:prstGeom prst="rect">
            <a:avLst/>
          </a:prstGeom>
          <a:noFill/>
          <a:ln/>
        </p:spPr>
        <p:txBody>
          <a:bodyPr wrap="none" lIns="0" tIns="0" rIns="0" bIns="0" rtlCol="0" anchor="t"/>
          <a:lstStyle/>
          <a:p>
            <a:pPr marL="0" indent="0" algn="l">
              <a:lnSpc>
                <a:spcPct val="120000"/>
              </a:lnSpc>
              <a:buNone/>
            </a:pPr>
            <a:endParaRPr lang="en-US" sz="1000" dirty="0"/>
          </a:p>
        </p:txBody>
      </p:sp>
      <p:sp>
        <p:nvSpPr>
          <p:cNvPr id="10" name="Text 7"/>
          <p:cNvSpPr/>
          <p:nvPr/>
        </p:nvSpPr>
        <p:spPr>
          <a:xfrm>
            <a:off x="8949407" y="5248176"/>
            <a:ext cx="2586965" cy="826691"/>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5C4E3D"/>
                </a:solidFill>
                <a:latin typeface="Libre Baskerville" pitchFamily="34" charset="0"/>
                <a:ea typeface="Libre Baskerville" pitchFamily="34" charset="-122"/>
                <a:cs typeface="Libre Baskerville" pitchFamily="34" charset="-120"/>
              </a:rPr>
              <a:t>Giving the model a richer, multi-dimensional understanding of each word's context.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6503" y="468809"/>
            <a:ext cx="7617329" cy="5220097"/>
          </a:xfrm>
          <a:prstGeom prst="rect">
            <a:avLst/>
          </a:prstGeom>
        </p:spPr>
      </p:pic>
      <p:sp>
        <p:nvSpPr>
          <p:cNvPr id="3" name="Text 0"/>
          <p:cNvSpPr/>
          <p:nvPr/>
        </p:nvSpPr>
        <p:spPr>
          <a:xfrm>
            <a:off x="746503" y="5905798"/>
            <a:ext cx="4476241" cy="483295"/>
          </a:xfrm>
          <a:prstGeom prst="rect">
            <a:avLst/>
          </a:prstGeom>
          <a:noFill/>
          <a:ln/>
        </p:spPr>
        <p:txBody>
          <a:bodyPr wrap="none" lIns="0" tIns="0" rIns="0" bIns="0" rtlCol="0" anchor="t"/>
          <a:lstStyle/>
          <a:p>
            <a:pPr marL="0" indent="0" algn="l">
              <a:lnSpc>
                <a:spcPct val="104000"/>
              </a:lnSpc>
              <a:buNone/>
            </a:pP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1574" y="493316"/>
            <a:ext cx="9499561" cy="5106491"/>
          </a:xfrm>
          <a:prstGeom prst="rect">
            <a:avLst/>
          </a:prstGeom>
        </p:spPr>
      </p:pic>
      <p:sp>
        <p:nvSpPr>
          <p:cNvPr id="3" name="Text 0"/>
          <p:cNvSpPr/>
          <p:nvPr/>
        </p:nvSpPr>
        <p:spPr>
          <a:xfrm>
            <a:off x="661574" y="5847854"/>
            <a:ext cx="4744323" cy="516731"/>
          </a:xfrm>
          <a:prstGeom prst="rect">
            <a:avLst/>
          </a:prstGeom>
          <a:noFill/>
          <a:ln/>
        </p:spPr>
        <p:txBody>
          <a:bodyPr wrap="none" lIns="0" tIns="0" rIns="0" bIns="0" rtlCol="0" anchor="t"/>
          <a:lstStyle/>
          <a:p>
            <a:pPr marL="0" indent="0" algn="l">
              <a:lnSpc>
                <a:spcPct val="104000"/>
              </a:lnSpc>
              <a:buNone/>
            </a:pPr>
            <a:endParaRPr lang="en-US" sz="3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1574" y="555327"/>
            <a:ext cx="8910415" cy="4982468"/>
          </a:xfrm>
          <a:prstGeom prst="rect">
            <a:avLst/>
          </a:prstGeom>
        </p:spPr>
      </p:pic>
      <p:sp>
        <p:nvSpPr>
          <p:cNvPr id="3" name="Text 0"/>
          <p:cNvSpPr/>
          <p:nvPr/>
        </p:nvSpPr>
        <p:spPr>
          <a:xfrm>
            <a:off x="661574" y="5785842"/>
            <a:ext cx="4744323" cy="516731"/>
          </a:xfrm>
          <a:prstGeom prst="rect">
            <a:avLst/>
          </a:prstGeom>
          <a:noFill/>
          <a:ln/>
        </p:spPr>
        <p:txBody>
          <a:bodyPr wrap="none" lIns="0" tIns="0" rIns="0" bIns="0" rtlCol="0" anchor="t"/>
          <a:lstStyle/>
          <a:p>
            <a:pPr marL="0" indent="0" algn="l">
              <a:lnSpc>
                <a:spcPct val="104000"/>
              </a:lnSpc>
              <a:buNone/>
            </a:pPr>
            <a:endParaRPr lang="en-US" sz="3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1432" y="488355"/>
            <a:ext cx="6011712" cy="500658"/>
          </a:xfrm>
          <a:prstGeom prst="rect">
            <a:avLst/>
          </a:prstGeom>
          <a:noFill/>
          <a:ln/>
        </p:spPr>
        <p:txBody>
          <a:bodyPr wrap="none" lIns="0" tIns="0" rIns="0" bIns="0" rtlCol="0" anchor="t"/>
          <a:lstStyle/>
          <a:p>
            <a:pPr marL="0" indent="0" algn="l">
              <a:lnSpc>
                <a:spcPct val="104000"/>
              </a:lnSpc>
              <a:buNone/>
            </a:pPr>
            <a:r>
              <a:rPr lang="en-US" sz="3150" dirty="0">
                <a:solidFill>
                  <a:srgbClr val="5C4E3D"/>
                </a:solidFill>
                <a:latin typeface="Libre Baskerville" pitchFamily="34" charset="0"/>
                <a:ea typeface="Libre Baskerville" pitchFamily="34" charset="-122"/>
                <a:cs typeface="Libre Baskerville" pitchFamily="34" charset="-120"/>
              </a:rPr>
              <a:t>Why It's Called "Attention"</a:t>
            </a:r>
            <a:endParaRPr lang="en-US" sz="3150" dirty="0"/>
          </a:p>
        </p:txBody>
      </p:sp>
      <p:sp>
        <p:nvSpPr>
          <p:cNvPr id="3" name="Text 1"/>
          <p:cNvSpPr/>
          <p:nvPr/>
        </p:nvSpPr>
        <p:spPr>
          <a:xfrm>
            <a:off x="831432" y="1299369"/>
            <a:ext cx="10528830" cy="931466"/>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Because each word literally </a:t>
            </a:r>
            <a:r>
              <a:rPr lang="en-US" sz="1250" b="1" dirty="0">
                <a:solidFill>
                  <a:srgbClr val="454240"/>
                </a:solidFill>
                <a:latin typeface="DM Sans" pitchFamily="34" charset="0"/>
                <a:ea typeface="DM Sans" pitchFamily="34" charset="-122"/>
                <a:cs typeface="DM Sans" pitchFamily="34" charset="-120"/>
              </a:rPr>
              <a:t>pays more attention</a:t>
            </a:r>
            <a:r>
              <a:rPr lang="en-US" sz="1250" dirty="0">
                <a:solidFill>
                  <a:srgbClr val="454240"/>
                </a:solidFill>
                <a:latin typeface="DM Sans" pitchFamily="34" charset="0"/>
                <a:ea typeface="DM Sans" pitchFamily="34" charset="-122"/>
                <a:cs typeface="DM Sans" pitchFamily="34" charset="-120"/>
              </a:rPr>
              <a:t> to some words and less to others. The model assigns a weight — a number between 0 and 1 — to every pair of words.</a:t>
            </a:r>
            <a:endParaRPr lang="en-US" sz="1250" dirty="0"/>
          </a:p>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A simplified picture of what </a:t>
            </a:r>
            <a:r>
              <a:rPr lang="en-US" sz="1250" b="1" dirty="0">
                <a:solidFill>
                  <a:srgbClr val="454240"/>
                </a:solidFill>
                <a:latin typeface="DM Sans" pitchFamily="34" charset="0"/>
                <a:ea typeface="DM Sans" pitchFamily="34" charset="-122"/>
                <a:cs typeface="DM Sans" pitchFamily="34" charset="-120"/>
              </a:rPr>
              <a:t>"exposure"</a:t>
            </a:r>
            <a:r>
              <a:rPr lang="en-US" sz="1250" dirty="0">
                <a:solidFill>
                  <a:srgbClr val="454240"/>
                </a:solidFill>
                <a:latin typeface="DM Sans" pitchFamily="34" charset="0"/>
                <a:ea typeface="DM Sans" pitchFamily="34" charset="-122"/>
                <a:cs typeface="DM Sans" pitchFamily="34" charset="-120"/>
              </a:rPr>
              <a:t> pays attention to in our sentence:</a:t>
            </a:r>
            <a:endParaRPr lang="en-US" sz="1250" dirty="0"/>
          </a:p>
        </p:txBody>
      </p:sp>
      <p:sp>
        <p:nvSpPr>
          <p:cNvPr id="4" name="Shape 2"/>
          <p:cNvSpPr/>
          <p:nvPr/>
        </p:nvSpPr>
        <p:spPr>
          <a:xfrm>
            <a:off x="831432" y="2405360"/>
            <a:ext cx="10528830" cy="2751336"/>
          </a:xfrm>
          <a:prstGeom prst="roundRect">
            <a:avLst>
              <a:gd name="adj" fmla="val 2446"/>
            </a:avLst>
          </a:prstGeom>
          <a:noFill/>
          <a:ln w="6350">
            <a:solidFill>
              <a:srgbClr val="000000">
                <a:alpha val="8000"/>
              </a:srgbClr>
            </a:solidFill>
            <a:prstDash val="solid"/>
          </a:ln>
        </p:spPr>
      </p:sp>
      <p:sp>
        <p:nvSpPr>
          <p:cNvPr id="5" name="Text 3"/>
          <p:cNvSpPr/>
          <p:nvPr/>
        </p:nvSpPr>
        <p:spPr>
          <a:xfrm>
            <a:off x="997917" y="2511127"/>
            <a:ext cx="5544205" cy="252313"/>
          </a:xfrm>
          <a:prstGeom prst="rect">
            <a:avLst/>
          </a:prstGeom>
          <a:noFill/>
          <a:ln/>
        </p:spPr>
        <p:txBody>
          <a:bodyPr wrap="none" lIns="0" tIns="0" rIns="0" bIns="0" rtlCol="0" anchor="t"/>
          <a:lstStyle/>
          <a:p>
            <a:pPr marL="0" indent="0" algn="l">
              <a:lnSpc>
                <a:spcPct val="131000"/>
              </a:lnSpc>
              <a:buNone/>
            </a:pPr>
            <a:r>
              <a:rPr lang="en-US" sz="1250" b="1" dirty="0">
                <a:solidFill>
                  <a:srgbClr val="454240"/>
                </a:solidFill>
                <a:latin typeface="DM Sans" pitchFamily="34" charset="0"/>
                <a:ea typeface="DM Sans" pitchFamily="34" charset="-122"/>
                <a:cs typeface="DM Sans" pitchFamily="34" charset="-120"/>
              </a:rPr>
              <a:t>Word it's looking at</a:t>
            </a:r>
            <a:endParaRPr lang="en-US" sz="1250" dirty="0"/>
          </a:p>
        </p:txBody>
      </p:sp>
      <p:sp>
        <p:nvSpPr>
          <p:cNvPr id="6" name="Text 4"/>
          <p:cNvSpPr/>
          <p:nvPr/>
        </p:nvSpPr>
        <p:spPr>
          <a:xfrm>
            <a:off x="6259157" y="2511127"/>
            <a:ext cx="5544205" cy="252313"/>
          </a:xfrm>
          <a:prstGeom prst="rect">
            <a:avLst/>
          </a:prstGeom>
          <a:noFill/>
          <a:ln/>
        </p:spPr>
        <p:txBody>
          <a:bodyPr wrap="none" lIns="0" tIns="0" rIns="0" bIns="0" rtlCol="0" anchor="t"/>
          <a:lstStyle/>
          <a:p>
            <a:pPr marL="0" indent="0" algn="l">
              <a:lnSpc>
                <a:spcPct val="131000"/>
              </a:lnSpc>
              <a:buNone/>
            </a:pPr>
            <a:r>
              <a:rPr lang="en-US" sz="1250" b="1" dirty="0">
                <a:solidFill>
                  <a:srgbClr val="454240"/>
                </a:solidFill>
                <a:latin typeface="DM Sans" pitchFamily="34" charset="0"/>
                <a:ea typeface="DM Sans" pitchFamily="34" charset="-122"/>
                <a:cs typeface="DM Sans" pitchFamily="34" charset="-120"/>
              </a:rPr>
              <a:t>Attention Weight</a:t>
            </a:r>
            <a:endParaRPr lang="en-US" sz="1250" dirty="0"/>
          </a:p>
        </p:txBody>
      </p:sp>
      <p:sp>
        <p:nvSpPr>
          <p:cNvPr id="7" name="Text 5"/>
          <p:cNvSpPr/>
          <p:nvPr/>
        </p:nvSpPr>
        <p:spPr>
          <a:xfrm>
            <a:off x="997917" y="2968625"/>
            <a:ext cx="5544205" cy="252313"/>
          </a:xfrm>
          <a:prstGeom prst="rect">
            <a:avLst/>
          </a:prstGeom>
          <a:noFill/>
          <a:ln/>
        </p:spPr>
        <p:txBody>
          <a:bodyPr wrap="none" lIns="0" tIns="0" rIns="0" bIns="0" rtlCol="0" anchor="t"/>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"portfolio"</a:t>
            </a:r>
            <a:endParaRPr lang="en-US" sz="1250" dirty="0"/>
          </a:p>
        </p:txBody>
      </p:sp>
      <p:sp>
        <p:nvSpPr>
          <p:cNvPr id="8" name="Text 6"/>
          <p:cNvSpPr/>
          <p:nvPr/>
        </p:nvSpPr>
        <p:spPr>
          <a:xfrm>
            <a:off x="6259157" y="2968625"/>
            <a:ext cx="5544205" cy="252313"/>
          </a:xfrm>
          <a:prstGeom prst="rect">
            <a:avLst/>
          </a:prstGeom>
          <a:noFill/>
          <a:ln/>
        </p:spPr>
        <p:txBody>
          <a:bodyPr wrap="none" lIns="0" tIns="0" rIns="0" bIns="0" rtlCol="0" anchor="t"/>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0.35</a:t>
            </a:r>
            <a:endParaRPr lang="en-US" sz="1250" dirty="0"/>
          </a:p>
        </p:txBody>
      </p:sp>
      <p:sp>
        <p:nvSpPr>
          <p:cNvPr id="9" name="Text 7"/>
          <p:cNvSpPr/>
          <p:nvPr/>
        </p:nvSpPr>
        <p:spPr>
          <a:xfrm>
            <a:off x="997917" y="3426123"/>
            <a:ext cx="5544205" cy="252313"/>
          </a:xfrm>
          <a:prstGeom prst="rect">
            <a:avLst/>
          </a:prstGeom>
          <a:noFill/>
          <a:ln/>
        </p:spPr>
        <p:txBody>
          <a:bodyPr wrap="none" lIns="0" tIns="0" rIns="0" bIns="0" rtlCol="0" anchor="t"/>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"equities"</a:t>
            </a:r>
            <a:endParaRPr lang="en-US" sz="1250" dirty="0"/>
          </a:p>
        </p:txBody>
      </p:sp>
      <p:sp>
        <p:nvSpPr>
          <p:cNvPr id="10" name="Text 8"/>
          <p:cNvSpPr/>
          <p:nvPr/>
        </p:nvSpPr>
        <p:spPr>
          <a:xfrm>
            <a:off x="6259157" y="3426123"/>
            <a:ext cx="5544205" cy="252313"/>
          </a:xfrm>
          <a:prstGeom prst="rect">
            <a:avLst/>
          </a:prstGeom>
          <a:noFill/>
          <a:ln/>
        </p:spPr>
        <p:txBody>
          <a:bodyPr wrap="none" lIns="0" tIns="0" rIns="0" bIns="0" rtlCol="0" anchor="t"/>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0.25</a:t>
            </a:r>
            <a:endParaRPr lang="en-US" sz="1250" dirty="0"/>
          </a:p>
        </p:txBody>
      </p:sp>
      <p:sp>
        <p:nvSpPr>
          <p:cNvPr id="11" name="Text 9"/>
          <p:cNvSpPr/>
          <p:nvPr/>
        </p:nvSpPr>
        <p:spPr>
          <a:xfrm>
            <a:off x="997917" y="3883620"/>
            <a:ext cx="5544205" cy="252313"/>
          </a:xfrm>
          <a:prstGeom prst="rect">
            <a:avLst/>
          </a:prstGeom>
          <a:noFill/>
          <a:ln/>
        </p:spPr>
        <p:txBody>
          <a:bodyPr wrap="none" lIns="0" tIns="0" rIns="0" bIns="0" rtlCol="0" anchor="t"/>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"emerging"</a:t>
            </a:r>
            <a:endParaRPr lang="en-US" sz="1250" dirty="0"/>
          </a:p>
        </p:txBody>
      </p:sp>
      <p:sp>
        <p:nvSpPr>
          <p:cNvPr id="12" name="Text 10"/>
          <p:cNvSpPr/>
          <p:nvPr/>
        </p:nvSpPr>
        <p:spPr>
          <a:xfrm>
            <a:off x="6259157" y="3883620"/>
            <a:ext cx="5544205" cy="252313"/>
          </a:xfrm>
          <a:prstGeom prst="rect">
            <a:avLst/>
          </a:prstGeom>
          <a:noFill/>
          <a:ln/>
        </p:spPr>
        <p:txBody>
          <a:bodyPr wrap="none" lIns="0" tIns="0" rIns="0" bIns="0" rtlCol="0" anchor="t"/>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0.20</a:t>
            </a:r>
            <a:endParaRPr lang="en-US" sz="1250" dirty="0"/>
          </a:p>
        </p:txBody>
      </p:sp>
      <p:sp>
        <p:nvSpPr>
          <p:cNvPr id="13" name="Text 11"/>
          <p:cNvSpPr/>
          <p:nvPr/>
        </p:nvSpPr>
        <p:spPr>
          <a:xfrm>
            <a:off x="997917" y="4341118"/>
            <a:ext cx="5544205" cy="252313"/>
          </a:xfrm>
          <a:prstGeom prst="rect">
            <a:avLst/>
          </a:prstGeom>
          <a:noFill/>
          <a:ln/>
        </p:spPr>
        <p:txBody>
          <a:bodyPr wrap="none" lIns="0" tIns="0" rIns="0" bIns="0" rtlCol="0" anchor="t"/>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"market"</a:t>
            </a:r>
            <a:endParaRPr lang="en-US" sz="1250" dirty="0"/>
          </a:p>
        </p:txBody>
      </p:sp>
      <p:sp>
        <p:nvSpPr>
          <p:cNvPr id="14" name="Text 12"/>
          <p:cNvSpPr/>
          <p:nvPr/>
        </p:nvSpPr>
        <p:spPr>
          <a:xfrm>
            <a:off x="6259157" y="4341118"/>
            <a:ext cx="5544205" cy="252313"/>
          </a:xfrm>
          <a:prstGeom prst="rect">
            <a:avLst/>
          </a:prstGeom>
          <a:noFill/>
          <a:ln/>
        </p:spPr>
        <p:txBody>
          <a:bodyPr wrap="none" lIns="0" tIns="0" rIns="0" bIns="0" rtlCol="0" anchor="t"/>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0.15</a:t>
            </a:r>
            <a:endParaRPr lang="en-US" sz="1250" dirty="0"/>
          </a:p>
        </p:txBody>
      </p:sp>
      <p:sp>
        <p:nvSpPr>
          <p:cNvPr id="15" name="Text 13"/>
          <p:cNvSpPr/>
          <p:nvPr/>
        </p:nvSpPr>
        <p:spPr>
          <a:xfrm>
            <a:off x="997917" y="4798616"/>
            <a:ext cx="5544205" cy="252313"/>
          </a:xfrm>
          <a:prstGeom prst="rect">
            <a:avLst/>
          </a:prstGeom>
          <a:noFill/>
          <a:ln/>
        </p:spPr>
        <p:txBody>
          <a:bodyPr wrap="none" lIns="0" tIns="0" rIns="0" bIns="0" rtlCol="0" anchor="t"/>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"is", "my", "to", "?" (combined)</a:t>
            </a:r>
            <a:endParaRPr lang="en-US" sz="1250" dirty="0"/>
          </a:p>
        </p:txBody>
      </p:sp>
      <p:sp>
        <p:nvSpPr>
          <p:cNvPr id="16" name="Text 14"/>
          <p:cNvSpPr/>
          <p:nvPr/>
        </p:nvSpPr>
        <p:spPr>
          <a:xfrm>
            <a:off x="6259157" y="4798616"/>
            <a:ext cx="5544205" cy="252313"/>
          </a:xfrm>
          <a:prstGeom prst="rect">
            <a:avLst/>
          </a:prstGeom>
          <a:noFill/>
          <a:ln/>
        </p:spPr>
        <p:txBody>
          <a:bodyPr wrap="none" lIns="0" tIns="0" rIns="0" bIns="0" rtlCol="0" anchor="t"/>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0.05</a:t>
            </a:r>
            <a:endParaRPr lang="en-US" sz="1250" dirty="0"/>
          </a:p>
        </p:txBody>
      </p:sp>
      <p:sp>
        <p:nvSpPr>
          <p:cNvPr id="17" name="Shape 15"/>
          <p:cNvSpPr/>
          <p:nvPr/>
        </p:nvSpPr>
        <p:spPr>
          <a:xfrm>
            <a:off x="831432" y="5331222"/>
            <a:ext cx="10528830" cy="863798"/>
          </a:xfrm>
          <a:prstGeom prst="roundRect">
            <a:avLst>
              <a:gd name="adj" fmla="val 7790"/>
            </a:avLst>
          </a:prstGeom>
          <a:solidFill>
            <a:srgbClr val="B6D6FC"/>
          </a:solidFill>
          <a:ln/>
        </p:spPr>
      </p:sp>
      <p:pic>
        <p:nvPicPr>
          <p:cNvPr id="18"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91567" y="5556250"/>
            <a:ext cx="200218" cy="160139"/>
          </a:xfrm>
          <a:prstGeom prst="rect">
            <a:avLst/>
          </a:prstGeom>
        </p:spPr>
      </p:pic>
      <p:sp>
        <p:nvSpPr>
          <p:cNvPr id="19" name="Text 16"/>
          <p:cNvSpPr/>
          <p:nvPr/>
        </p:nvSpPr>
        <p:spPr>
          <a:xfrm>
            <a:off x="1351921" y="5510808"/>
            <a:ext cx="9848207"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000000"/>
                </a:solidFill>
                <a:latin typeface="DM Sans" pitchFamily="34" charset="0"/>
                <a:ea typeface="DM Sans" pitchFamily="34" charset="-122"/>
                <a:cs typeface="DM Sans" pitchFamily="34" charset="-120"/>
              </a:rPr>
              <a:t>These weights tell the model: </a:t>
            </a:r>
            <a:r>
              <a:rPr lang="en-US" sz="1250" i="1" dirty="0">
                <a:solidFill>
                  <a:srgbClr val="000000"/>
                </a:solidFill>
                <a:latin typeface="DM Sans" pitchFamily="34" charset="0"/>
                <a:ea typeface="DM Sans" pitchFamily="34" charset="-122"/>
                <a:cs typeface="DM Sans" pitchFamily="34" charset="-120"/>
              </a:rPr>
              <a:t>"When you're updating what 'exposure' means in this sentence, mostly use information from 'portfolio' and 'equities'."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4571886" cy="6858000"/>
          </a:xfrm>
          <a:prstGeom prst="rect">
            <a:avLst/>
          </a:prstGeom>
        </p:spPr>
      </p:pic>
      <p:sp>
        <p:nvSpPr>
          <p:cNvPr id="3" name="Text 0"/>
          <p:cNvSpPr/>
          <p:nvPr/>
        </p:nvSpPr>
        <p:spPr>
          <a:xfrm>
            <a:off x="5233360" y="1206897"/>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Every Word, Every Other Word — All at Once</a:t>
            </a:r>
            <a:endParaRPr lang="en-US" sz="3250" dirty="0"/>
          </a:p>
        </p:txBody>
      </p:sp>
      <p:sp>
        <p:nvSpPr>
          <p:cNvPr id="4" name="Text 1"/>
          <p:cNvSpPr/>
          <p:nvPr/>
        </p:nvSpPr>
        <p:spPr>
          <a:xfrm>
            <a:off x="5233360" y="2488406"/>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Here's the part that surprised researchers when this idea was introduced in 2017 (the famous paper was called </a:t>
            </a:r>
            <a:r>
              <a:rPr lang="en-US" sz="1300" b="1" dirty="0">
                <a:solidFill>
                  <a:srgbClr val="454240"/>
                </a:solidFill>
                <a:latin typeface="DM Sans" pitchFamily="34" charset="0"/>
                <a:ea typeface="DM Sans" pitchFamily="34" charset="-122"/>
                <a:cs typeface="DM Sans" pitchFamily="34" charset="-120"/>
              </a:rPr>
              <a:t>"Attention Is All You Need"</a:t>
            </a:r>
            <a:r>
              <a:rPr lang="en-US" sz="1300" dirty="0">
                <a:solidFill>
                  <a:srgbClr val="454240"/>
                </a:solidFill>
                <a:latin typeface="DM Sans" pitchFamily="34" charset="0"/>
                <a:ea typeface="DM Sans" pitchFamily="34" charset="-122"/>
                <a:cs typeface="DM Sans" pitchFamily="34" charset="-120"/>
              </a:rPr>
              <a:t>):</a:t>
            </a:r>
            <a:endParaRPr lang="en-US" sz="1300" dirty="0"/>
          </a:p>
        </p:txBody>
      </p:sp>
      <p:sp>
        <p:nvSpPr>
          <p:cNvPr id="5" name="Text 2"/>
          <p:cNvSpPr/>
          <p:nvPr/>
        </p:nvSpPr>
        <p:spPr>
          <a:xfrm>
            <a:off x="5481401" y="3389709"/>
            <a:ext cx="6048819"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You don't need anything fancy. You don't need the model to read the sentence left-to-right like we do. You just let </a:t>
            </a:r>
            <a:r>
              <a:rPr lang="en-US" sz="1300" b="1" dirty="0">
                <a:solidFill>
                  <a:srgbClr val="454240"/>
                </a:solidFill>
                <a:latin typeface="DM Sans" pitchFamily="34" charset="0"/>
                <a:ea typeface="DM Sans" pitchFamily="34" charset="-122"/>
                <a:cs typeface="DM Sans" pitchFamily="34" charset="-120"/>
              </a:rPr>
              <a:t>every word look at every other word, all at once</a:t>
            </a:r>
            <a:r>
              <a:rPr lang="en-US" sz="1300" dirty="0">
                <a:solidFill>
                  <a:srgbClr val="454240"/>
                </a:solidFill>
                <a:latin typeface="DM Sans" pitchFamily="34" charset="0"/>
                <a:ea typeface="DM Sans" pitchFamily="34" charset="-122"/>
                <a:cs typeface="DM Sans" pitchFamily="34" charset="-120"/>
              </a:rPr>
              <a:t>, and figure out what to focus on.</a:t>
            </a:r>
            <a:endParaRPr lang="en-US" sz="1300" dirty="0"/>
          </a:p>
        </p:txBody>
      </p:sp>
      <p:sp>
        <p:nvSpPr>
          <p:cNvPr id="6" name="Shape 3"/>
          <p:cNvSpPr/>
          <p:nvPr/>
        </p:nvSpPr>
        <p:spPr>
          <a:xfrm>
            <a:off x="5233360" y="4555629"/>
            <a:ext cx="6296860" cy="909439"/>
          </a:xfrm>
          <a:prstGeom prst="roundRect">
            <a:avLst>
              <a:gd name="adj" fmla="val 7638"/>
            </a:avLst>
          </a:prstGeom>
          <a:solidFill>
            <a:srgbClr val="B6FCB8"/>
          </a:solidFill>
          <a:ln/>
        </p:spPr>
      </p:sp>
      <p:pic>
        <p:nvPicPr>
          <p:cNvPr id="7"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98655" y="4795341"/>
            <a:ext cx="206667" cy="165298"/>
          </a:xfrm>
          <a:prstGeom prst="rect">
            <a:avLst/>
          </a:prstGeom>
        </p:spPr>
      </p:pic>
      <p:sp>
        <p:nvSpPr>
          <p:cNvPr id="8" name="Text 4"/>
          <p:cNvSpPr/>
          <p:nvPr/>
        </p:nvSpPr>
        <p:spPr>
          <a:xfrm>
            <a:off x="5770617" y="4745732"/>
            <a:ext cx="559430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That single idea is the foundation of every modern LLM — ChatGPT, Claude, Gemini, all of them.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574" y="777974"/>
            <a:ext cx="8943255"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Many Layers of Attention, Not Just One</a:t>
            </a:r>
            <a:endParaRPr lang="en-US" sz="3250" dirty="0"/>
          </a:p>
        </p:txBody>
      </p:sp>
      <p:sp>
        <p:nvSpPr>
          <p:cNvPr id="3" name="Text 1"/>
          <p:cNvSpPr/>
          <p:nvPr/>
        </p:nvSpPr>
        <p:spPr>
          <a:xfrm>
            <a:off x="661574" y="1625402"/>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One round of attention isn't enough. Real models do this </a:t>
            </a:r>
            <a:r>
              <a:rPr lang="en-US" sz="1300" b="1" dirty="0">
                <a:solidFill>
                  <a:srgbClr val="454240"/>
                </a:solidFill>
                <a:latin typeface="DM Sans" pitchFamily="34" charset="0"/>
                <a:ea typeface="DM Sans" pitchFamily="34" charset="-122"/>
                <a:cs typeface="DM Sans" pitchFamily="34" charset="-120"/>
              </a:rPr>
              <a:t>many times in a row</a:t>
            </a:r>
            <a:r>
              <a:rPr lang="en-US" sz="1300" dirty="0">
                <a:solidFill>
                  <a:srgbClr val="454240"/>
                </a:solidFill>
                <a:latin typeface="DM Sans" pitchFamily="34" charset="0"/>
                <a:ea typeface="DM Sans" pitchFamily="34" charset="-122"/>
                <a:cs typeface="DM Sans" pitchFamily="34" charset="-120"/>
              </a:rPr>
              <a:t> — typically 30 to 100 layers stacked on top of each other.</a:t>
            </a:r>
            <a:endParaRPr lang="en-US" sz="1300" dirty="0"/>
          </a:p>
        </p:txBody>
      </p:sp>
      <p:sp>
        <p:nvSpPr>
          <p:cNvPr id="4" name="Shape 2"/>
          <p:cNvSpPr/>
          <p:nvPr/>
        </p:nvSpPr>
        <p:spPr>
          <a:xfrm>
            <a:off x="909615" y="2985691"/>
            <a:ext cx="2344976" cy="165298"/>
          </a:xfrm>
          <a:prstGeom prst="roundRect">
            <a:avLst>
              <a:gd name="adj" fmla="val 42024"/>
            </a:avLst>
          </a:prstGeom>
          <a:solidFill>
            <a:srgbClr val="F7EDD4"/>
          </a:solidFill>
          <a:ln w="6350">
            <a:solidFill>
              <a:srgbClr val="DDD3BA"/>
            </a:solidFill>
            <a:prstDash val="solid"/>
          </a:ln>
        </p:spPr>
      </p:sp>
      <p:sp>
        <p:nvSpPr>
          <p:cNvPr id="5" name="Shape 3"/>
          <p:cNvSpPr/>
          <p:nvPr/>
        </p:nvSpPr>
        <p:spPr>
          <a:xfrm>
            <a:off x="661574" y="2820293"/>
            <a:ext cx="496081" cy="496094"/>
          </a:xfrm>
          <a:prstGeom prst="roundRect">
            <a:avLst>
              <a:gd name="adj" fmla="val 76800"/>
            </a:avLst>
          </a:prstGeom>
          <a:solidFill>
            <a:srgbClr val="F7EDD4"/>
          </a:solidFill>
          <a:ln w="6350">
            <a:solidFill>
              <a:srgbClr val="DDD3BA"/>
            </a:solidFill>
            <a:prstDash val="solid"/>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5594" y="2944316"/>
            <a:ext cx="248041" cy="248047"/>
          </a:xfrm>
          <a:prstGeom prst="rect">
            <a:avLst/>
          </a:prstGeom>
        </p:spPr>
      </p:pic>
      <p:sp>
        <p:nvSpPr>
          <p:cNvPr id="7" name="Text 4"/>
          <p:cNvSpPr/>
          <p:nvPr/>
        </p:nvSpPr>
        <p:spPr>
          <a:xfrm>
            <a:off x="826868" y="3481685"/>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Layer 1</a:t>
            </a:r>
            <a:endParaRPr lang="en-US" sz="1600" dirty="0"/>
          </a:p>
        </p:txBody>
      </p:sp>
      <p:sp>
        <p:nvSpPr>
          <p:cNvPr id="8" name="Text 5"/>
          <p:cNvSpPr/>
          <p:nvPr/>
        </p:nvSpPr>
        <p:spPr>
          <a:xfrm>
            <a:off x="826868" y="3839369"/>
            <a:ext cx="2262528"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Figures out simple things — which adjectives describe which nouns.</a:t>
            </a:r>
            <a:endParaRPr lang="en-US" sz="1300" dirty="0"/>
          </a:p>
        </p:txBody>
      </p:sp>
      <p:sp>
        <p:nvSpPr>
          <p:cNvPr id="9" name="Shape 6"/>
          <p:cNvSpPr/>
          <p:nvPr/>
        </p:nvSpPr>
        <p:spPr>
          <a:xfrm>
            <a:off x="3668025" y="2737545"/>
            <a:ext cx="2345076" cy="165298"/>
          </a:xfrm>
          <a:prstGeom prst="roundRect">
            <a:avLst>
              <a:gd name="adj" fmla="val 42024"/>
            </a:avLst>
          </a:prstGeom>
          <a:solidFill>
            <a:srgbClr val="F7EDD4"/>
          </a:solidFill>
          <a:ln w="6350">
            <a:solidFill>
              <a:srgbClr val="DDD3BA"/>
            </a:solidFill>
            <a:prstDash val="solid"/>
          </a:ln>
        </p:spPr>
      </p:sp>
      <p:sp>
        <p:nvSpPr>
          <p:cNvPr id="10" name="Shape 7"/>
          <p:cNvSpPr/>
          <p:nvPr/>
        </p:nvSpPr>
        <p:spPr>
          <a:xfrm>
            <a:off x="3419985" y="2572147"/>
            <a:ext cx="496081" cy="496094"/>
          </a:xfrm>
          <a:prstGeom prst="roundRect">
            <a:avLst>
              <a:gd name="adj" fmla="val 76800"/>
            </a:avLst>
          </a:prstGeom>
          <a:solidFill>
            <a:srgbClr val="F7EDD4"/>
          </a:solidFill>
          <a:ln w="6350">
            <a:solidFill>
              <a:srgbClr val="DDD3BA"/>
            </a:solidFill>
            <a:prstDash val="solid"/>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44005" y="2696170"/>
            <a:ext cx="248041" cy="248047"/>
          </a:xfrm>
          <a:prstGeom prst="rect">
            <a:avLst/>
          </a:prstGeom>
        </p:spPr>
      </p:pic>
      <p:sp>
        <p:nvSpPr>
          <p:cNvPr id="12" name="Text 8"/>
          <p:cNvSpPr/>
          <p:nvPr/>
        </p:nvSpPr>
        <p:spPr>
          <a:xfrm>
            <a:off x="3585279" y="3233539"/>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Layer 5</a:t>
            </a:r>
            <a:endParaRPr lang="en-US" sz="1600" dirty="0"/>
          </a:p>
        </p:txBody>
      </p:sp>
      <p:sp>
        <p:nvSpPr>
          <p:cNvPr id="13" name="Text 9"/>
          <p:cNvSpPr/>
          <p:nvPr/>
        </p:nvSpPr>
        <p:spPr>
          <a:xfrm>
            <a:off x="3585279" y="3591223"/>
            <a:ext cx="226262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Catches that "emerging-market" is really one concept describing "equities."</a:t>
            </a:r>
            <a:endParaRPr lang="en-US" sz="1300" dirty="0"/>
          </a:p>
        </p:txBody>
      </p:sp>
      <p:sp>
        <p:nvSpPr>
          <p:cNvPr id="14" name="Shape 10"/>
          <p:cNvSpPr/>
          <p:nvPr/>
        </p:nvSpPr>
        <p:spPr>
          <a:xfrm>
            <a:off x="6426535" y="2489498"/>
            <a:ext cx="2344976" cy="165298"/>
          </a:xfrm>
          <a:prstGeom prst="roundRect">
            <a:avLst>
              <a:gd name="adj" fmla="val 42024"/>
            </a:avLst>
          </a:prstGeom>
          <a:solidFill>
            <a:srgbClr val="F7EDD4"/>
          </a:solidFill>
          <a:ln w="6350">
            <a:solidFill>
              <a:srgbClr val="DDD3BA"/>
            </a:solidFill>
            <a:prstDash val="solid"/>
          </a:ln>
        </p:spPr>
      </p:sp>
      <p:sp>
        <p:nvSpPr>
          <p:cNvPr id="15" name="Shape 11"/>
          <p:cNvSpPr/>
          <p:nvPr/>
        </p:nvSpPr>
        <p:spPr>
          <a:xfrm>
            <a:off x="6178495" y="2324100"/>
            <a:ext cx="496081" cy="496094"/>
          </a:xfrm>
          <a:prstGeom prst="roundRect">
            <a:avLst>
              <a:gd name="adj" fmla="val 76800"/>
            </a:avLst>
          </a:prstGeom>
          <a:solidFill>
            <a:srgbClr val="F7EDD4"/>
          </a:solidFill>
          <a:ln w="6350">
            <a:solidFill>
              <a:srgbClr val="DDD3BA"/>
            </a:solidFill>
            <a:prstDash val="solid"/>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02515" y="2448123"/>
            <a:ext cx="248041" cy="248047"/>
          </a:xfrm>
          <a:prstGeom prst="rect">
            <a:avLst/>
          </a:prstGeom>
        </p:spPr>
      </p:pic>
      <p:sp>
        <p:nvSpPr>
          <p:cNvPr id="17" name="Text 12"/>
          <p:cNvSpPr/>
          <p:nvPr/>
        </p:nvSpPr>
        <p:spPr>
          <a:xfrm>
            <a:off x="6343789" y="2985492"/>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Layer 20</a:t>
            </a:r>
            <a:endParaRPr lang="en-US" sz="1600" dirty="0"/>
          </a:p>
        </p:txBody>
      </p:sp>
      <p:sp>
        <p:nvSpPr>
          <p:cNvPr id="18" name="Text 13"/>
          <p:cNvSpPr/>
          <p:nvPr/>
        </p:nvSpPr>
        <p:spPr>
          <a:xfrm>
            <a:off x="6343789" y="3343176"/>
            <a:ext cx="2262528"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Realises the whole sentence is a question about portfolio risk.</a:t>
            </a:r>
            <a:endParaRPr lang="en-US" sz="1300" dirty="0"/>
          </a:p>
        </p:txBody>
      </p:sp>
      <p:sp>
        <p:nvSpPr>
          <p:cNvPr id="19" name="Shape 14"/>
          <p:cNvSpPr/>
          <p:nvPr/>
        </p:nvSpPr>
        <p:spPr>
          <a:xfrm>
            <a:off x="9184946" y="2241451"/>
            <a:ext cx="2345076" cy="165298"/>
          </a:xfrm>
          <a:prstGeom prst="roundRect">
            <a:avLst>
              <a:gd name="adj" fmla="val 42024"/>
            </a:avLst>
          </a:prstGeom>
          <a:solidFill>
            <a:srgbClr val="F7EDD4"/>
          </a:solidFill>
          <a:ln w="6350">
            <a:solidFill>
              <a:srgbClr val="DDD3BA"/>
            </a:solidFill>
            <a:prstDash val="solid"/>
          </a:ln>
        </p:spPr>
      </p:sp>
      <p:sp>
        <p:nvSpPr>
          <p:cNvPr id="20" name="Shape 15"/>
          <p:cNvSpPr/>
          <p:nvPr/>
        </p:nvSpPr>
        <p:spPr>
          <a:xfrm>
            <a:off x="8936905" y="2076053"/>
            <a:ext cx="496081" cy="496094"/>
          </a:xfrm>
          <a:prstGeom prst="roundRect">
            <a:avLst>
              <a:gd name="adj" fmla="val 76800"/>
            </a:avLst>
          </a:prstGeom>
          <a:solidFill>
            <a:srgbClr val="F7EDD4"/>
          </a:solidFill>
          <a:ln w="6350">
            <a:solidFill>
              <a:srgbClr val="DDD3BA"/>
            </a:solidFill>
            <a:prstDash val="solid"/>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60926" y="2200077"/>
            <a:ext cx="248041" cy="248047"/>
          </a:xfrm>
          <a:prstGeom prst="rect">
            <a:avLst/>
          </a:prstGeom>
        </p:spPr>
      </p:pic>
      <p:sp>
        <p:nvSpPr>
          <p:cNvPr id="22" name="Text 16"/>
          <p:cNvSpPr/>
          <p:nvPr/>
        </p:nvSpPr>
        <p:spPr>
          <a:xfrm>
            <a:off x="9102200" y="2737445"/>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Layer 50</a:t>
            </a:r>
            <a:endParaRPr lang="en-US" sz="1600" dirty="0"/>
          </a:p>
        </p:txBody>
      </p:sp>
      <p:sp>
        <p:nvSpPr>
          <p:cNvPr id="23" name="Text 17"/>
          <p:cNvSpPr/>
          <p:nvPr/>
        </p:nvSpPr>
        <p:spPr>
          <a:xfrm>
            <a:off x="9102200" y="3095129"/>
            <a:ext cx="226262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Preparing the shape of the answer.</a:t>
            </a:r>
            <a:endParaRPr lang="en-US" sz="1300" dirty="0"/>
          </a:p>
        </p:txBody>
      </p:sp>
      <p:sp>
        <p:nvSpPr>
          <p:cNvPr id="24" name="Shape 18"/>
          <p:cNvSpPr/>
          <p:nvPr/>
        </p:nvSpPr>
        <p:spPr>
          <a:xfrm>
            <a:off x="661574" y="4984552"/>
            <a:ext cx="10868547" cy="909439"/>
          </a:xfrm>
          <a:prstGeom prst="roundRect">
            <a:avLst>
              <a:gd name="adj" fmla="val 7638"/>
            </a:avLst>
          </a:prstGeom>
          <a:solidFill>
            <a:srgbClr val="F3E4BF"/>
          </a:solidFill>
          <a:ln/>
        </p:spPr>
      </p:sp>
      <p:pic>
        <p:nvPicPr>
          <p:cNvPr id="25" name="Image 4" descr="preencoded.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26868" y="5224264"/>
            <a:ext cx="206667" cy="165298"/>
          </a:xfrm>
          <a:prstGeom prst="rect">
            <a:avLst/>
          </a:prstGeom>
        </p:spPr>
      </p:pic>
      <p:sp>
        <p:nvSpPr>
          <p:cNvPr id="26" name="Text 19"/>
          <p:cNvSpPr/>
          <p:nvPr/>
        </p:nvSpPr>
        <p:spPr>
          <a:xfrm>
            <a:off x="1198830" y="5174655"/>
            <a:ext cx="10165996"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The big idea:</a:t>
            </a:r>
            <a:r>
              <a:rPr lang="en-US" sz="1300" dirty="0">
                <a:solidFill>
                  <a:srgbClr val="000000"/>
                </a:solidFill>
                <a:latin typeface="DM Sans" pitchFamily="34" charset="0"/>
                <a:ea typeface="DM Sans" pitchFamily="34" charset="-122"/>
                <a:cs typeface="DM Sans" pitchFamily="34" charset="-120"/>
              </a:rPr>
              <a:t> After all these layers, the numbers representing "exposure" aren't just the generic meaning of "exposure" anymore. They've been reshaped to mean </a:t>
            </a:r>
            <a:r>
              <a:rPr lang="en-US" sz="1300" i="1" dirty="0">
                <a:solidFill>
                  <a:srgbClr val="000000"/>
                </a:solidFill>
                <a:latin typeface="DM Sans" pitchFamily="34" charset="0"/>
                <a:ea typeface="DM Sans" pitchFamily="34" charset="-122"/>
                <a:cs typeface="DM Sans" pitchFamily="34" charset="-120"/>
              </a:rPr>
              <a:t>"exposure, in the specific context of a portfolio question about emerging-market equities."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1574" y="1335782"/>
            <a:ext cx="8290214" cy="3421559"/>
          </a:xfrm>
          <a:prstGeom prst="rect">
            <a:avLst/>
          </a:prstGeom>
        </p:spPr>
      </p:pic>
      <p:sp>
        <p:nvSpPr>
          <p:cNvPr id="3" name="Text 0"/>
          <p:cNvSpPr/>
          <p:nvPr/>
        </p:nvSpPr>
        <p:spPr>
          <a:xfrm>
            <a:off x="661574" y="5005388"/>
            <a:ext cx="4744323" cy="516731"/>
          </a:xfrm>
          <a:prstGeom prst="rect">
            <a:avLst/>
          </a:prstGeom>
          <a:noFill/>
          <a:ln/>
        </p:spPr>
        <p:txBody>
          <a:bodyPr wrap="none" lIns="0" tIns="0" rIns="0" bIns="0" rtlCol="0" anchor="t"/>
          <a:lstStyle/>
          <a:p>
            <a:pPr marL="0" indent="0" algn="l">
              <a:lnSpc>
                <a:spcPct val="104000"/>
              </a:lnSpc>
              <a:buNone/>
            </a:pPr>
            <a:endParaRPr lang="en-US" sz="3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1574" y="834430"/>
            <a:ext cx="8186830" cy="4424263"/>
          </a:xfrm>
          <a:prstGeom prst="rect">
            <a:avLst/>
          </a:prstGeom>
        </p:spPr>
      </p:pic>
      <p:sp>
        <p:nvSpPr>
          <p:cNvPr id="3" name="Text 0"/>
          <p:cNvSpPr/>
          <p:nvPr/>
        </p:nvSpPr>
        <p:spPr>
          <a:xfrm>
            <a:off x="661574" y="5506740"/>
            <a:ext cx="4744323" cy="516731"/>
          </a:xfrm>
          <a:prstGeom prst="rect">
            <a:avLst/>
          </a:prstGeom>
          <a:noFill/>
          <a:ln/>
        </p:spPr>
        <p:txBody>
          <a:bodyPr wrap="none" lIns="0" tIns="0" rIns="0" bIns="0" rtlCol="0" anchor="t"/>
          <a:lstStyle/>
          <a:p>
            <a:pPr marL="0" indent="0" algn="l">
              <a:lnSpc>
                <a:spcPct val="104000"/>
              </a:lnSpc>
              <a:buNone/>
            </a:pPr>
            <a:endParaRPr lang="en-US" sz="3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1574" y="601861"/>
            <a:ext cx="9189510" cy="4889401"/>
          </a:xfrm>
          <a:prstGeom prst="rect">
            <a:avLst/>
          </a:prstGeom>
        </p:spPr>
      </p:pic>
      <p:sp>
        <p:nvSpPr>
          <p:cNvPr id="3" name="Text 0"/>
          <p:cNvSpPr/>
          <p:nvPr/>
        </p:nvSpPr>
        <p:spPr>
          <a:xfrm>
            <a:off x="661574" y="5739309"/>
            <a:ext cx="4744323" cy="516731"/>
          </a:xfrm>
          <a:prstGeom prst="rect">
            <a:avLst/>
          </a:prstGeom>
          <a:noFill/>
          <a:ln/>
        </p:spPr>
        <p:txBody>
          <a:bodyPr wrap="none" lIns="0" tIns="0" rIns="0" bIns="0" rtlCol="0" anchor="t"/>
          <a:lstStyle/>
          <a:p>
            <a:pPr marL="0" indent="0" algn="l">
              <a:lnSpc>
                <a:spcPct val="104000"/>
              </a:lnSpc>
              <a:buNone/>
            </a:pPr>
            <a:endParaRPr lang="en-US" sz="3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574" y="851198"/>
            <a:ext cx="8255686"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STEP 9 — Predicting the Next Word</a:t>
            </a:r>
            <a:endParaRPr lang="en-US" sz="3250" dirty="0"/>
          </a:p>
        </p:txBody>
      </p:sp>
      <p:sp>
        <p:nvSpPr>
          <p:cNvPr id="3" name="Text 1"/>
          <p:cNvSpPr/>
          <p:nvPr/>
        </p:nvSpPr>
        <p:spPr>
          <a:xfrm>
            <a:off x="661574" y="1434009"/>
            <a:ext cx="4188514"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What the Model Is Actually Doing</a:t>
            </a:r>
            <a:endParaRPr lang="en-US" sz="1600" dirty="0"/>
          </a:p>
        </p:txBody>
      </p:sp>
      <p:sp>
        <p:nvSpPr>
          <p:cNvPr id="4" name="Text 2"/>
          <p:cNvSpPr/>
          <p:nvPr/>
        </p:nvSpPr>
        <p:spPr>
          <a:xfrm>
            <a:off x="661574" y="1940520"/>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Here is the part most people find genuinely surprising:</a:t>
            </a:r>
            <a:endParaRPr lang="en-US" sz="1300" dirty="0"/>
          </a:p>
        </p:txBody>
      </p:sp>
      <p:sp>
        <p:nvSpPr>
          <p:cNvPr id="5" name="Text 3"/>
          <p:cNvSpPr/>
          <p:nvPr/>
        </p:nvSpPr>
        <p:spPr>
          <a:xfrm>
            <a:off x="661574" y="2453184"/>
            <a:ext cx="10868547" cy="2139553"/>
          </a:xfrm>
          <a:prstGeom prst="rect">
            <a:avLst/>
          </a:prstGeom>
          <a:noFill/>
          <a:ln/>
        </p:spPr>
        <p:txBody>
          <a:bodyPr wrap="square" lIns="0" tIns="0" rIns="0" bIns="0" rtlCol="0" anchor="t">
            <a:normAutofit/>
          </a:bodyPr>
          <a:lstStyle/>
          <a:p>
            <a:pPr marL="0" indent="0" algn="l">
              <a:lnSpc>
                <a:spcPct val="104000"/>
              </a:lnSpc>
              <a:buNone/>
            </a:pPr>
            <a:r>
              <a:rPr lang="en-US" sz="4450" dirty="0">
                <a:solidFill>
                  <a:srgbClr val="B88E23"/>
                </a:solidFill>
                <a:latin typeface="Libre Baskerville" pitchFamily="34" charset="0"/>
                <a:ea typeface="Libre Baskerville" pitchFamily="34" charset="-122"/>
                <a:cs typeface="Libre Baskerville" pitchFamily="34" charset="-120"/>
              </a:rPr>
              <a:t>An LLM is not answering your question. It's predicting the next word.</a:t>
            </a:r>
            <a:endParaRPr lang="en-US" sz="4450" dirty="0"/>
          </a:p>
        </p:txBody>
      </p:sp>
      <p:sp>
        <p:nvSpPr>
          <p:cNvPr id="6" name="Text 4"/>
          <p:cNvSpPr/>
          <p:nvPr/>
        </p:nvSpPr>
        <p:spPr>
          <a:xfrm>
            <a:off x="661574" y="4840784"/>
            <a:ext cx="10868547" cy="1165920"/>
          </a:xfrm>
          <a:prstGeom prst="rect">
            <a:avLst/>
          </a:prstGeom>
          <a:noFill/>
          <a:ln/>
        </p:spPr>
        <p:txBody>
          <a:bodyPr wrap="square" lIns="0" tIns="0" rIns="0" bIns="0" rtlCol="0" anchor="t"/>
          <a:lstStyle/>
          <a:p>
            <a:pPr marL="0" indent="0" algn="l">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That's it. That's the whole game.</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After all those layers of attention, the model arrives at one job: </a:t>
            </a:r>
            <a:r>
              <a:rPr lang="en-US" sz="1300" b="1" dirty="0">
                <a:solidFill>
                  <a:srgbClr val="454240"/>
                </a:solidFill>
                <a:latin typeface="DM Sans" pitchFamily="34" charset="0"/>
                <a:ea typeface="DM Sans" pitchFamily="34" charset="-122"/>
                <a:cs typeface="DM Sans" pitchFamily="34" charset="-120"/>
              </a:rPr>
              <a:t>"Given everything I've just processed, what is the most likely next word?"</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Then it does that again. And again. And again. One word at a time, until the answer is complete.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574" y="1200448"/>
            <a:ext cx="10429118"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This Is Why Answers Stream in Word by Word</a:t>
            </a:r>
            <a:endParaRPr lang="en-US" sz="3250" dirty="0"/>
          </a:p>
        </p:txBody>
      </p:sp>
      <p:sp>
        <p:nvSpPr>
          <p:cNvPr id="3" name="Text 1"/>
          <p:cNvSpPr/>
          <p:nvPr/>
        </p:nvSpPr>
        <p:spPr>
          <a:xfrm>
            <a:off x="661574" y="2047875"/>
            <a:ext cx="10868547" cy="979884"/>
          </a:xfrm>
          <a:prstGeom prst="rect">
            <a:avLst/>
          </a:prstGeom>
          <a:noFill/>
          <a:ln/>
        </p:spPr>
        <p:txBody>
          <a:bodyPr wrap="squar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Remember the question from Part 1 — </a:t>
            </a:r>
            <a:r>
              <a:rPr lang="en-US" sz="1300" i="1" dirty="0">
                <a:solidFill>
                  <a:srgbClr val="454240"/>
                </a:solidFill>
                <a:latin typeface="DM Sans" pitchFamily="34" charset="0"/>
                <a:ea typeface="DM Sans" pitchFamily="34" charset="-122"/>
                <a:cs typeface="DM Sans" pitchFamily="34" charset="-120"/>
              </a:rPr>
              <a:t>why does it reply one word at a time instead of returning the whole answer instantly?</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This is the answer. The model </a:t>
            </a:r>
            <a:r>
              <a:rPr lang="en-US" sz="1300" b="1" dirty="0">
                <a:solidFill>
                  <a:srgbClr val="454240"/>
                </a:solidFill>
                <a:latin typeface="DM Sans" pitchFamily="34" charset="0"/>
                <a:ea typeface="DM Sans" pitchFamily="34" charset="-122"/>
                <a:cs typeface="DM Sans" pitchFamily="34" charset="-120"/>
              </a:rPr>
              <a:t>literally cannot</a:t>
            </a:r>
            <a:r>
              <a:rPr lang="en-US" sz="1300" dirty="0">
                <a:solidFill>
                  <a:srgbClr val="454240"/>
                </a:solidFill>
                <a:latin typeface="DM Sans" pitchFamily="34" charset="0"/>
                <a:ea typeface="DM Sans" pitchFamily="34" charset="-122"/>
                <a:cs typeface="DM Sans" pitchFamily="34" charset="-120"/>
              </a:rPr>
              <a:t> produce the whole reply at once, because each new word depends on all the words it has already written.</a:t>
            </a:r>
            <a:endParaRPr lang="en-US" sz="1300" dirty="0"/>
          </a:p>
        </p:txBody>
      </p:sp>
      <p:sp>
        <p:nvSpPr>
          <p:cNvPr id="4" name="Shape 2"/>
          <p:cNvSpPr/>
          <p:nvPr/>
        </p:nvSpPr>
        <p:spPr>
          <a:xfrm>
            <a:off x="661574" y="3399830"/>
            <a:ext cx="10868547" cy="19050"/>
          </a:xfrm>
          <a:prstGeom prst="roundRect">
            <a:avLst>
              <a:gd name="adj" fmla="val 364642"/>
            </a:avLst>
          </a:prstGeom>
          <a:solidFill>
            <a:srgbClr val="DDD3BA"/>
          </a:solidFill>
          <a:ln/>
        </p:spPr>
      </p:sp>
      <p:sp>
        <p:nvSpPr>
          <p:cNvPr id="5" name="Shape 3"/>
          <p:cNvSpPr/>
          <p:nvPr/>
        </p:nvSpPr>
        <p:spPr>
          <a:xfrm>
            <a:off x="1656217" y="3399830"/>
            <a:ext cx="19050" cy="496094"/>
          </a:xfrm>
          <a:prstGeom prst="roundRect">
            <a:avLst>
              <a:gd name="adj" fmla="val 364642"/>
            </a:avLst>
          </a:prstGeom>
          <a:solidFill>
            <a:srgbClr val="DDD3BA"/>
          </a:solidFill>
          <a:ln/>
        </p:spPr>
      </p:sp>
      <p:sp>
        <p:nvSpPr>
          <p:cNvPr id="6" name="Shape 4"/>
          <p:cNvSpPr/>
          <p:nvPr/>
        </p:nvSpPr>
        <p:spPr>
          <a:xfrm>
            <a:off x="1479711" y="3213795"/>
            <a:ext cx="372061" cy="372070"/>
          </a:xfrm>
          <a:prstGeom prst="roundRect">
            <a:avLst>
              <a:gd name="adj" fmla="val 18670"/>
            </a:avLst>
          </a:prstGeom>
          <a:solidFill>
            <a:srgbClr val="F7EDD4"/>
          </a:solidFill>
          <a:ln w="6350">
            <a:solidFill>
              <a:srgbClr val="DDD3BA"/>
            </a:solidFill>
            <a:prstDash val="solid"/>
          </a:ln>
        </p:spPr>
      </p:sp>
      <p:sp>
        <p:nvSpPr>
          <p:cNvPr id="7" name="Text 5"/>
          <p:cNvSpPr/>
          <p:nvPr/>
        </p:nvSpPr>
        <p:spPr>
          <a:xfrm>
            <a:off x="1541722" y="3244800"/>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1</a:t>
            </a:r>
            <a:endParaRPr lang="en-US" sz="1950" dirty="0"/>
          </a:p>
        </p:txBody>
      </p:sp>
      <p:sp>
        <p:nvSpPr>
          <p:cNvPr id="8" name="Text 6"/>
          <p:cNvSpPr/>
          <p:nvPr/>
        </p:nvSpPr>
        <p:spPr>
          <a:xfrm>
            <a:off x="826868" y="4061420"/>
            <a:ext cx="1677747" cy="258465"/>
          </a:xfrm>
          <a:prstGeom prst="rect">
            <a:avLst/>
          </a:prstGeom>
          <a:noFill/>
          <a:ln/>
        </p:spPr>
        <p:txBody>
          <a:bodyPr wrap="none" lIns="0" tIns="0" rIns="0" bIns="0" rtlCol="0" anchor="t"/>
          <a:lstStyle/>
          <a:p>
            <a:pPr marL="0" indent="0" algn="ctr">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Predict word 1</a:t>
            </a:r>
            <a:endParaRPr lang="en-US" sz="1600" dirty="0"/>
          </a:p>
        </p:txBody>
      </p:sp>
      <p:sp>
        <p:nvSpPr>
          <p:cNvPr id="9" name="Shape 7"/>
          <p:cNvSpPr/>
          <p:nvPr/>
        </p:nvSpPr>
        <p:spPr>
          <a:xfrm>
            <a:off x="3871220" y="3399830"/>
            <a:ext cx="19050" cy="496094"/>
          </a:xfrm>
          <a:prstGeom prst="roundRect">
            <a:avLst>
              <a:gd name="adj" fmla="val 364642"/>
            </a:avLst>
          </a:prstGeom>
          <a:solidFill>
            <a:srgbClr val="DDD3BA"/>
          </a:solidFill>
          <a:ln/>
        </p:spPr>
      </p:sp>
      <p:sp>
        <p:nvSpPr>
          <p:cNvPr id="10" name="Shape 8"/>
          <p:cNvSpPr/>
          <p:nvPr/>
        </p:nvSpPr>
        <p:spPr>
          <a:xfrm>
            <a:off x="3694715" y="3213795"/>
            <a:ext cx="372061" cy="372070"/>
          </a:xfrm>
          <a:prstGeom prst="roundRect">
            <a:avLst>
              <a:gd name="adj" fmla="val 18670"/>
            </a:avLst>
          </a:prstGeom>
          <a:solidFill>
            <a:srgbClr val="F7EDD4"/>
          </a:solidFill>
          <a:ln w="6350">
            <a:solidFill>
              <a:srgbClr val="DDD3BA"/>
            </a:solidFill>
            <a:prstDash val="solid"/>
          </a:ln>
        </p:spPr>
      </p:sp>
      <p:sp>
        <p:nvSpPr>
          <p:cNvPr id="11" name="Text 9"/>
          <p:cNvSpPr/>
          <p:nvPr/>
        </p:nvSpPr>
        <p:spPr>
          <a:xfrm>
            <a:off x="3756725" y="3244800"/>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2</a:t>
            </a:r>
            <a:endParaRPr lang="en-US" sz="1950" dirty="0"/>
          </a:p>
        </p:txBody>
      </p:sp>
      <p:sp>
        <p:nvSpPr>
          <p:cNvPr id="12" name="Text 10"/>
          <p:cNvSpPr/>
          <p:nvPr/>
        </p:nvSpPr>
        <p:spPr>
          <a:xfrm>
            <a:off x="3041872" y="4061420"/>
            <a:ext cx="1677747" cy="516930"/>
          </a:xfrm>
          <a:prstGeom prst="rect">
            <a:avLst/>
          </a:prstGeom>
          <a:noFill/>
          <a:ln/>
        </p:spPr>
        <p:txBody>
          <a:bodyPr wrap="square" lIns="0" tIns="0" rIns="0" bIns="0" rtlCol="0" anchor="t">
            <a:normAutofit/>
          </a:bodyPr>
          <a:lstStyle/>
          <a:p>
            <a:pPr marL="0" indent="0" algn="ctr">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Add word 1 to context</a:t>
            </a:r>
            <a:endParaRPr lang="en-US" sz="1600" dirty="0"/>
          </a:p>
        </p:txBody>
      </p:sp>
      <p:sp>
        <p:nvSpPr>
          <p:cNvPr id="13" name="Text 11"/>
          <p:cNvSpPr/>
          <p:nvPr/>
        </p:nvSpPr>
        <p:spPr>
          <a:xfrm>
            <a:off x="3041872" y="4677569"/>
            <a:ext cx="1677747" cy="529233"/>
          </a:xfrm>
          <a:prstGeom prst="rect">
            <a:avLst/>
          </a:prstGeom>
          <a:noFill/>
          <a:ln/>
        </p:spPr>
        <p:txBody>
          <a:bodyPr wrap="square" lIns="0" tIns="0" rIns="0" bIns="0" rtlCol="0" anchor="t">
            <a:normAutofit/>
          </a:bodyPr>
          <a:lstStyle/>
          <a:p>
            <a:pPr marL="0" indent="0" algn="ctr">
              <a:lnSpc>
                <a:spcPct val="133000"/>
              </a:lnSpc>
              <a:buNone/>
            </a:pPr>
            <a:r>
              <a:rPr lang="en-US" sz="1300" dirty="0">
                <a:solidFill>
                  <a:srgbClr val="454240"/>
                </a:solidFill>
                <a:latin typeface="DM Sans" pitchFamily="34" charset="0"/>
                <a:ea typeface="DM Sans" pitchFamily="34" charset="-122"/>
                <a:cs typeface="DM Sans" pitchFamily="34" charset="-120"/>
              </a:rPr>
              <a:t>Re-read everything including word 1.</a:t>
            </a:r>
            <a:endParaRPr lang="en-US" sz="1300" dirty="0"/>
          </a:p>
        </p:txBody>
      </p:sp>
      <p:sp>
        <p:nvSpPr>
          <p:cNvPr id="14" name="Shape 12"/>
          <p:cNvSpPr/>
          <p:nvPr/>
        </p:nvSpPr>
        <p:spPr>
          <a:xfrm>
            <a:off x="6086224" y="3399830"/>
            <a:ext cx="19050" cy="496094"/>
          </a:xfrm>
          <a:prstGeom prst="roundRect">
            <a:avLst>
              <a:gd name="adj" fmla="val 364642"/>
            </a:avLst>
          </a:prstGeom>
          <a:solidFill>
            <a:srgbClr val="DDD3BA"/>
          </a:solidFill>
          <a:ln/>
        </p:spPr>
      </p:sp>
      <p:sp>
        <p:nvSpPr>
          <p:cNvPr id="15" name="Shape 13"/>
          <p:cNvSpPr/>
          <p:nvPr/>
        </p:nvSpPr>
        <p:spPr>
          <a:xfrm>
            <a:off x="5909718" y="3213795"/>
            <a:ext cx="372061" cy="372070"/>
          </a:xfrm>
          <a:prstGeom prst="roundRect">
            <a:avLst>
              <a:gd name="adj" fmla="val 18670"/>
            </a:avLst>
          </a:prstGeom>
          <a:solidFill>
            <a:srgbClr val="F7EDD4"/>
          </a:solidFill>
          <a:ln w="6350">
            <a:solidFill>
              <a:srgbClr val="DDD3BA"/>
            </a:solidFill>
            <a:prstDash val="solid"/>
          </a:ln>
        </p:spPr>
      </p:sp>
      <p:sp>
        <p:nvSpPr>
          <p:cNvPr id="16" name="Text 14"/>
          <p:cNvSpPr/>
          <p:nvPr/>
        </p:nvSpPr>
        <p:spPr>
          <a:xfrm>
            <a:off x="5971728" y="3244800"/>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3</a:t>
            </a:r>
            <a:endParaRPr lang="en-US" sz="1950" dirty="0"/>
          </a:p>
        </p:txBody>
      </p:sp>
      <p:sp>
        <p:nvSpPr>
          <p:cNvPr id="17" name="Text 15"/>
          <p:cNvSpPr/>
          <p:nvPr/>
        </p:nvSpPr>
        <p:spPr>
          <a:xfrm>
            <a:off x="5256875" y="4061420"/>
            <a:ext cx="1677846" cy="258465"/>
          </a:xfrm>
          <a:prstGeom prst="rect">
            <a:avLst/>
          </a:prstGeom>
          <a:noFill/>
          <a:ln/>
        </p:spPr>
        <p:txBody>
          <a:bodyPr wrap="none" lIns="0" tIns="0" rIns="0" bIns="0" rtlCol="0" anchor="t"/>
          <a:lstStyle/>
          <a:p>
            <a:pPr marL="0" indent="0" algn="ctr">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Predict word 2</a:t>
            </a:r>
            <a:endParaRPr lang="en-US" sz="1600" dirty="0"/>
          </a:p>
        </p:txBody>
      </p:sp>
      <p:sp>
        <p:nvSpPr>
          <p:cNvPr id="18" name="Shape 16"/>
          <p:cNvSpPr/>
          <p:nvPr/>
        </p:nvSpPr>
        <p:spPr>
          <a:xfrm>
            <a:off x="8301326" y="3399830"/>
            <a:ext cx="19050" cy="496094"/>
          </a:xfrm>
          <a:prstGeom prst="roundRect">
            <a:avLst>
              <a:gd name="adj" fmla="val 364642"/>
            </a:avLst>
          </a:prstGeom>
          <a:solidFill>
            <a:srgbClr val="DDD3BA"/>
          </a:solidFill>
          <a:ln/>
        </p:spPr>
      </p:sp>
      <p:sp>
        <p:nvSpPr>
          <p:cNvPr id="19" name="Shape 17"/>
          <p:cNvSpPr/>
          <p:nvPr/>
        </p:nvSpPr>
        <p:spPr>
          <a:xfrm>
            <a:off x="8124820" y="3213795"/>
            <a:ext cx="372061" cy="372070"/>
          </a:xfrm>
          <a:prstGeom prst="roundRect">
            <a:avLst>
              <a:gd name="adj" fmla="val 18670"/>
            </a:avLst>
          </a:prstGeom>
          <a:solidFill>
            <a:srgbClr val="F7EDD4"/>
          </a:solidFill>
          <a:ln w="6350">
            <a:solidFill>
              <a:srgbClr val="DDD3BA"/>
            </a:solidFill>
            <a:prstDash val="solid"/>
          </a:ln>
        </p:spPr>
      </p:sp>
      <p:sp>
        <p:nvSpPr>
          <p:cNvPr id="20" name="Text 18"/>
          <p:cNvSpPr/>
          <p:nvPr/>
        </p:nvSpPr>
        <p:spPr>
          <a:xfrm>
            <a:off x="8186830" y="3244800"/>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4</a:t>
            </a:r>
            <a:endParaRPr lang="en-US" sz="1950" dirty="0"/>
          </a:p>
        </p:txBody>
      </p:sp>
      <p:sp>
        <p:nvSpPr>
          <p:cNvPr id="21" name="Text 19"/>
          <p:cNvSpPr/>
          <p:nvPr/>
        </p:nvSpPr>
        <p:spPr>
          <a:xfrm>
            <a:off x="7471977" y="4061420"/>
            <a:ext cx="1677747" cy="775395"/>
          </a:xfrm>
          <a:prstGeom prst="rect">
            <a:avLst/>
          </a:prstGeom>
          <a:noFill/>
          <a:ln/>
        </p:spPr>
        <p:txBody>
          <a:bodyPr wrap="square" lIns="0" tIns="0" rIns="0" bIns="0" rtlCol="0" anchor="t">
            <a:normAutofit/>
          </a:bodyPr>
          <a:lstStyle/>
          <a:p>
            <a:pPr marL="0" indent="0" algn="ctr">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Add word 2, re-read, predict word 3</a:t>
            </a:r>
            <a:endParaRPr lang="en-US" sz="1600" dirty="0"/>
          </a:p>
        </p:txBody>
      </p:sp>
      <p:sp>
        <p:nvSpPr>
          <p:cNvPr id="22" name="Shape 20"/>
          <p:cNvSpPr/>
          <p:nvPr/>
        </p:nvSpPr>
        <p:spPr>
          <a:xfrm>
            <a:off x="10516329" y="3399830"/>
            <a:ext cx="19050" cy="496094"/>
          </a:xfrm>
          <a:prstGeom prst="roundRect">
            <a:avLst>
              <a:gd name="adj" fmla="val 364642"/>
            </a:avLst>
          </a:prstGeom>
          <a:solidFill>
            <a:srgbClr val="DDD3BA"/>
          </a:solidFill>
          <a:ln/>
        </p:spPr>
      </p:sp>
      <p:sp>
        <p:nvSpPr>
          <p:cNvPr id="23" name="Shape 21"/>
          <p:cNvSpPr/>
          <p:nvPr/>
        </p:nvSpPr>
        <p:spPr>
          <a:xfrm>
            <a:off x="10339823" y="3213795"/>
            <a:ext cx="372061" cy="372070"/>
          </a:xfrm>
          <a:prstGeom prst="roundRect">
            <a:avLst>
              <a:gd name="adj" fmla="val 18670"/>
            </a:avLst>
          </a:prstGeom>
          <a:solidFill>
            <a:srgbClr val="F7EDD4"/>
          </a:solidFill>
          <a:ln w="6350">
            <a:solidFill>
              <a:srgbClr val="DDD3BA"/>
            </a:solidFill>
            <a:prstDash val="solid"/>
          </a:ln>
        </p:spPr>
      </p:sp>
      <p:sp>
        <p:nvSpPr>
          <p:cNvPr id="24" name="Text 22"/>
          <p:cNvSpPr/>
          <p:nvPr/>
        </p:nvSpPr>
        <p:spPr>
          <a:xfrm>
            <a:off x="10401834" y="3244800"/>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5</a:t>
            </a:r>
            <a:endParaRPr lang="en-US" sz="1950" dirty="0"/>
          </a:p>
        </p:txBody>
      </p:sp>
      <p:sp>
        <p:nvSpPr>
          <p:cNvPr id="25" name="Text 23"/>
          <p:cNvSpPr/>
          <p:nvPr/>
        </p:nvSpPr>
        <p:spPr>
          <a:xfrm>
            <a:off x="9686980" y="4061420"/>
            <a:ext cx="1677846" cy="258465"/>
          </a:xfrm>
          <a:prstGeom prst="rect">
            <a:avLst/>
          </a:prstGeom>
          <a:noFill/>
          <a:ln/>
        </p:spPr>
        <p:txBody>
          <a:bodyPr wrap="none" lIns="0" tIns="0" rIns="0" bIns="0" rtlCol="0" anchor="t"/>
          <a:lstStyle/>
          <a:p>
            <a:pPr marL="0" indent="0" algn="ctr">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...and so on</a:t>
            </a:r>
            <a:endParaRPr lang="en-US" sz="1600" dirty="0"/>
          </a:p>
        </p:txBody>
      </p:sp>
      <p:sp>
        <p:nvSpPr>
          <p:cNvPr id="26" name="Text 24"/>
          <p:cNvSpPr/>
          <p:nvPr/>
        </p:nvSpPr>
        <p:spPr>
          <a:xfrm>
            <a:off x="661574" y="5392837"/>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It's like a writer who can only see what they've written so far and has to decide the next word based on everything before it.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574" y="842070"/>
            <a:ext cx="10917163" cy="413445"/>
          </a:xfrm>
          <a:prstGeom prst="rect">
            <a:avLst/>
          </a:prstGeom>
          <a:noFill/>
          <a:ln/>
        </p:spPr>
        <p:txBody>
          <a:bodyPr wrap="none" lIns="0" tIns="0" rIns="0" bIns="0" rtlCol="0" anchor="t"/>
          <a:lstStyle/>
          <a:p>
            <a:pPr marL="0" indent="0" algn="l">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Probability Distributions: Not One Answer, But a Ranked List</a:t>
            </a:r>
            <a:endParaRPr lang="en-US" sz="2600" dirty="0"/>
          </a:p>
        </p:txBody>
      </p:sp>
      <p:sp>
        <p:nvSpPr>
          <p:cNvPr id="3" name="Text 1"/>
          <p:cNvSpPr/>
          <p:nvPr/>
        </p:nvSpPr>
        <p:spPr>
          <a:xfrm>
            <a:off x="661574" y="1297781"/>
            <a:ext cx="5623677" cy="206673"/>
          </a:xfrm>
          <a:prstGeom prst="rect">
            <a:avLst/>
          </a:prstGeom>
          <a:noFill/>
          <a:ln/>
        </p:spPr>
        <p:txBody>
          <a:bodyPr wrap="none" lIns="0" tIns="0" rIns="0" bIns="0" rtlCol="0" anchor="t"/>
          <a:lstStyle/>
          <a:p>
            <a:pPr marL="0" indent="0" algn="l">
              <a:lnSpc>
                <a:spcPct val="104000"/>
              </a:lnSpc>
              <a:buNone/>
            </a:pPr>
            <a:r>
              <a:rPr lang="en-US" sz="1300" dirty="0">
                <a:solidFill>
                  <a:srgbClr val="5C4E3D"/>
                </a:solidFill>
                <a:latin typeface="Libre Baskerville" pitchFamily="34" charset="0"/>
                <a:ea typeface="Libre Baskerville" pitchFamily="34" charset="-122"/>
                <a:cs typeface="Libre Baskerville" pitchFamily="34" charset="-120"/>
              </a:rPr>
              <a:t>The Model Doesn't Pick One Word — It Scores All of Them</a:t>
            </a:r>
            <a:endParaRPr lang="en-US" sz="1300" dirty="0"/>
          </a:p>
        </p:txBody>
      </p:sp>
      <p:sp>
        <p:nvSpPr>
          <p:cNvPr id="4" name="Text 2"/>
          <p:cNvSpPr/>
          <p:nvPr/>
        </p:nvSpPr>
        <p:spPr>
          <a:xfrm>
            <a:off x="661574" y="1663204"/>
            <a:ext cx="10868547"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Here's the next surprise. When the model predicts the next word, it doesn't say </a:t>
            </a:r>
            <a:r>
              <a:rPr lang="en-US" sz="1000" i="1" dirty="0">
                <a:solidFill>
                  <a:srgbClr val="454240"/>
                </a:solidFill>
                <a:latin typeface="DM Sans" pitchFamily="34" charset="0"/>
                <a:ea typeface="DM Sans" pitchFamily="34" charset="-122"/>
                <a:cs typeface="DM Sans" pitchFamily="34" charset="-120"/>
              </a:rPr>
              <a:t>"the answer is 'your'."</a:t>
            </a:r>
            <a:r>
              <a:rPr lang="en-US" sz="1000" dirty="0">
                <a:solidFill>
                  <a:srgbClr val="454240"/>
                </a:solidFill>
                <a:latin typeface="DM Sans" pitchFamily="34" charset="0"/>
                <a:ea typeface="DM Sans" pitchFamily="34" charset="-122"/>
                <a:cs typeface="DM Sans" pitchFamily="34" charset="-120"/>
              </a:rPr>
              <a:t> It produces a </a:t>
            </a:r>
            <a:r>
              <a:rPr lang="en-US" sz="1000" b="1" dirty="0">
                <a:solidFill>
                  <a:srgbClr val="454240"/>
                </a:solidFill>
                <a:latin typeface="DM Sans" pitchFamily="34" charset="0"/>
                <a:ea typeface="DM Sans" pitchFamily="34" charset="-122"/>
                <a:cs typeface="DM Sans" pitchFamily="34" charset="-120"/>
              </a:rPr>
              <a:t>score for every single word in its vocabulary</a:t>
            </a:r>
            <a:r>
              <a:rPr lang="en-US" sz="1000" dirty="0">
                <a:solidFill>
                  <a:srgbClr val="454240"/>
                </a:solidFill>
                <a:latin typeface="DM Sans" pitchFamily="34" charset="0"/>
                <a:ea typeface="DM Sans" pitchFamily="34" charset="-122"/>
                <a:cs typeface="DM Sans" pitchFamily="34" charset="-120"/>
              </a:rPr>
              <a:t> — all 100,000 or so of them.</a:t>
            </a:r>
            <a:endParaRPr lang="en-US" sz="1000" dirty="0"/>
          </a:p>
        </p:txBody>
      </p:sp>
      <p:sp>
        <p:nvSpPr>
          <p:cNvPr id="5" name="Shape 3"/>
          <p:cNvSpPr/>
          <p:nvPr/>
        </p:nvSpPr>
        <p:spPr>
          <a:xfrm>
            <a:off x="566326" y="2163266"/>
            <a:ext cx="5463443" cy="3852565"/>
          </a:xfrm>
          <a:prstGeom prst="roundRect">
            <a:avLst>
              <a:gd name="adj" fmla="val 2473"/>
            </a:avLst>
          </a:prstGeom>
          <a:solidFill>
            <a:srgbClr val="B88E23"/>
          </a:solidFill>
          <a:ln/>
        </p:spPr>
      </p:sp>
      <p:sp>
        <p:nvSpPr>
          <p:cNvPr id="6" name="Text 4"/>
          <p:cNvSpPr/>
          <p:nvPr/>
        </p:nvSpPr>
        <p:spPr>
          <a:xfrm>
            <a:off x="698582" y="2269034"/>
            <a:ext cx="4084238" cy="206673"/>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Libre Baskerville" pitchFamily="34" charset="0"/>
                <a:ea typeface="Libre Baskerville" pitchFamily="34" charset="-122"/>
                <a:cs typeface="Libre Baskerville" pitchFamily="34" charset="-120"/>
              </a:rPr>
              <a:t>What a probability distribution looks like</a:t>
            </a:r>
            <a:endParaRPr lang="en-US" sz="1300" dirty="0"/>
          </a:p>
        </p:txBody>
      </p:sp>
      <p:sp>
        <p:nvSpPr>
          <p:cNvPr id="7" name="Text 5"/>
          <p:cNvSpPr/>
          <p:nvPr/>
        </p:nvSpPr>
        <p:spPr>
          <a:xfrm>
            <a:off x="830837" y="2664619"/>
            <a:ext cx="2944540" cy="190500"/>
          </a:xfrm>
          <a:prstGeom prst="rect">
            <a:avLst/>
          </a:prstGeom>
          <a:noFill/>
          <a:ln/>
        </p:spPr>
        <p:txBody>
          <a:bodyPr wrap="none" lIns="0" tIns="0" rIns="0" bIns="0" rtlCol="0" anchor="t"/>
          <a:lstStyle/>
          <a:p>
            <a:pPr marL="0" indent="0" algn="l">
              <a:lnSpc>
                <a:spcPct val="120000"/>
              </a:lnSpc>
              <a:buNone/>
            </a:pPr>
            <a:r>
              <a:rPr lang="en-US" sz="1000" b="1" dirty="0">
                <a:solidFill>
                  <a:srgbClr val="000000"/>
                </a:solidFill>
                <a:latin typeface="DM Sans" pitchFamily="34" charset="0"/>
                <a:ea typeface="DM Sans" pitchFamily="34" charset="-122"/>
                <a:cs typeface="DM Sans" pitchFamily="34" charset="-120"/>
              </a:rPr>
              <a:t>Possible next word</a:t>
            </a:r>
            <a:endParaRPr lang="en-US" sz="1000" dirty="0"/>
          </a:p>
        </p:txBody>
      </p:sp>
      <p:sp>
        <p:nvSpPr>
          <p:cNvPr id="8" name="Text 6"/>
          <p:cNvSpPr/>
          <p:nvPr/>
        </p:nvSpPr>
        <p:spPr>
          <a:xfrm>
            <a:off x="3430303" y="2664619"/>
            <a:ext cx="2944540" cy="190500"/>
          </a:xfrm>
          <a:prstGeom prst="rect">
            <a:avLst/>
          </a:prstGeom>
          <a:noFill/>
          <a:ln/>
        </p:spPr>
        <p:txBody>
          <a:bodyPr wrap="none" lIns="0" tIns="0" rIns="0" bIns="0" rtlCol="0" anchor="t"/>
          <a:lstStyle/>
          <a:p>
            <a:pPr marL="0" indent="0" algn="l">
              <a:lnSpc>
                <a:spcPct val="120000"/>
              </a:lnSpc>
              <a:buNone/>
            </a:pPr>
            <a:r>
              <a:rPr lang="en-US" sz="1000" b="1" dirty="0">
                <a:solidFill>
                  <a:srgbClr val="000000"/>
                </a:solidFill>
                <a:latin typeface="DM Sans" pitchFamily="34" charset="0"/>
                <a:ea typeface="DM Sans" pitchFamily="34" charset="-122"/>
                <a:cs typeface="DM Sans" pitchFamily="34" charset="-120"/>
              </a:rPr>
              <a:t>Probability</a:t>
            </a:r>
            <a:endParaRPr lang="en-US" sz="1000" dirty="0"/>
          </a:p>
        </p:txBody>
      </p:sp>
      <p:sp>
        <p:nvSpPr>
          <p:cNvPr id="9" name="Text 7"/>
          <p:cNvSpPr/>
          <p:nvPr/>
        </p:nvSpPr>
        <p:spPr>
          <a:xfrm>
            <a:off x="830837" y="29948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"Your"</a:t>
            </a:r>
            <a:endParaRPr lang="en-US" sz="1000" dirty="0"/>
          </a:p>
        </p:txBody>
      </p:sp>
      <p:sp>
        <p:nvSpPr>
          <p:cNvPr id="10" name="Text 8"/>
          <p:cNvSpPr/>
          <p:nvPr/>
        </p:nvSpPr>
        <p:spPr>
          <a:xfrm>
            <a:off x="3430303" y="29948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42%</a:t>
            </a:r>
            <a:endParaRPr lang="en-US" sz="1000" dirty="0"/>
          </a:p>
        </p:txBody>
      </p:sp>
      <p:sp>
        <p:nvSpPr>
          <p:cNvPr id="11" name="Text 9"/>
          <p:cNvSpPr/>
          <p:nvPr/>
        </p:nvSpPr>
        <p:spPr>
          <a:xfrm>
            <a:off x="830837" y="33250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"Based"</a:t>
            </a:r>
            <a:endParaRPr lang="en-US" sz="1000" dirty="0"/>
          </a:p>
        </p:txBody>
      </p:sp>
      <p:sp>
        <p:nvSpPr>
          <p:cNvPr id="12" name="Text 10"/>
          <p:cNvSpPr/>
          <p:nvPr/>
        </p:nvSpPr>
        <p:spPr>
          <a:xfrm>
            <a:off x="3430303" y="33250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18%</a:t>
            </a:r>
            <a:endParaRPr lang="en-US" sz="1000" dirty="0"/>
          </a:p>
        </p:txBody>
      </p:sp>
      <p:sp>
        <p:nvSpPr>
          <p:cNvPr id="13" name="Text 11"/>
          <p:cNvSpPr/>
          <p:nvPr/>
        </p:nvSpPr>
        <p:spPr>
          <a:xfrm>
            <a:off x="830837" y="36552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"Looking"</a:t>
            </a:r>
            <a:endParaRPr lang="en-US" sz="1000" dirty="0"/>
          </a:p>
        </p:txBody>
      </p:sp>
      <p:sp>
        <p:nvSpPr>
          <p:cNvPr id="14" name="Text 12"/>
          <p:cNvSpPr/>
          <p:nvPr/>
        </p:nvSpPr>
        <p:spPr>
          <a:xfrm>
            <a:off x="3430303" y="36552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12%</a:t>
            </a:r>
            <a:endParaRPr lang="en-US" sz="1000" dirty="0"/>
          </a:p>
        </p:txBody>
      </p:sp>
      <p:sp>
        <p:nvSpPr>
          <p:cNvPr id="15" name="Text 13"/>
          <p:cNvSpPr/>
          <p:nvPr/>
        </p:nvSpPr>
        <p:spPr>
          <a:xfrm>
            <a:off x="830837" y="39854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"I"</a:t>
            </a:r>
            <a:endParaRPr lang="en-US" sz="1000" dirty="0"/>
          </a:p>
        </p:txBody>
      </p:sp>
      <p:sp>
        <p:nvSpPr>
          <p:cNvPr id="16" name="Text 14"/>
          <p:cNvSpPr/>
          <p:nvPr/>
        </p:nvSpPr>
        <p:spPr>
          <a:xfrm>
            <a:off x="3430303" y="39854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8%</a:t>
            </a:r>
            <a:endParaRPr lang="en-US" sz="1000" dirty="0"/>
          </a:p>
        </p:txBody>
      </p:sp>
      <p:sp>
        <p:nvSpPr>
          <p:cNvPr id="17" name="Text 15"/>
          <p:cNvSpPr/>
          <p:nvPr/>
        </p:nvSpPr>
        <p:spPr>
          <a:xfrm>
            <a:off x="830837" y="43156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"Currently"</a:t>
            </a:r>
            <a:endParaRPr lang="en-US" sz="1000" dirty="0"/>
          </a:p>
        </p:txBody>
      </p:sp>
      <p:sp>
        <p:nvSpPr>
          <p:cNvPr id="18" name="Text 16"/>
          <p:cNvSpPr/>
          <p:nvPr/>
        </p:nvSpPr>
        <p:spPr>
          <a:xfrm>
            <a:off x="3430303" y="43156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5%</a:t>
            </a:r>
            <a:endParaRPr lang="en-US" sz="1000" dirty="0"/>
          </a:p>
        </p:txBody>
      </p:sp>
      <p:sp>
        <p:nvSpPr>
          <p:cNvPr id="19" name="Text 17"/>
          <p:cNvSpPr/>
          <p:nvPr/>
        </p:nvSpPr>
        <p:spPr>
          <a:xfrm>
            <a:off x="830837" y="46458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"The"</a:t>
            </a:r>
            <a:endParaRPr lang="en-US" sz="1000" dirty="0"/>
          </a:p>
        </p:txBody>
      </p:sp>
      <p:sp>
        <p:nvSpPr>
          <p:cNvPr id="20" name="Text 18"/>
          <p:cNvSpPr/>
          <p:nvPr/>
        </p:nvSpPr>
        <p:spPr>
          <a:xfrm>
            <a:off x="3430303" y="46458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4%</a:t>
            </a:r>
            <a:endParaRPr lang="en-US" sz="1000" dirty="0"/>
          </a:p>
        </p:txBody>
      </p:sp>
      <p:sp>
        <p:nvSpPr>
          <p:cNvPr id="21" name="Text 19"/>
          <p:cNvSpPr/>
          <p:nvPr/>
        </p:nvSpPr>
        <p:spPr>
          <a:xfrm>
            <a:off x="830837" y="49760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a:t>
            </a:r>
            <a:endParaRPr lang="en-US" sz="1000" dirty="0"/>
          </a:p>
        </p:txBody>
      </p:sp>
      <p:sp>
        <p:nvSpPr>
          <p:cNvPr id="22" name="Text 20"/>
          <p:cNvSpPr/>
          <p:nvPr/>
        </p:nvSpPr>
        <p:spPr>
          <a:xfrm>
            <a:off x="3430303" y="49760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a:t>
            </a:r>
            <a:endParaRPr lang="en-US" sz="1000" dirty="0"/>
          </a:p>
        </p:txBody>
      </p:sp>
      <p:sp>
        <p:nvSpPr>
          <p:cNvPr id="23" name="Text 21"/>
          <p:cNvSpPr/>
          <p:nvPr/>
        </p:nvSpPr>
        <p:spPr>
          <a:xfrm>
            <a:off x="830837" y="53062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"banana"</a:t>
            </a:r>
            <a:endParaRPr lang="en-US" sz="1000" dirty="0"/>
          </a:p>
        </p:txBody>
      </p:sp>
      <p:sp>
        <p:nvSpPr>
          <p:cNvPr id="24" name="Text 22"/>
          <p:cNvSpPr/>
          <p:nvPr/>
        </p:nvSpPr>
        <p:spPr>
          <a:xfrm>
            <a:off x="3430303" y="53062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0.0001%</a:t>
            </a:r>
            <a:endParaRPr lang="en-US" sz="1000" dirty="0"/>
          </a:p>
        </p:txBody>
      </p:sp>
      <p:sp>
        <p:nvSpPr>
          <p:cNvPr id="25" name="Text 23"/>
          <p:cNvSpPr/>
          <p:nvPr/>
        </p:nvSpPr>
        <p:spPr>
          <a:xfrm>
            <a:off x="830837" y="56364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"xylophone"</a:t>
            </a:r>
            <a:endParaRPr lang="en-US" sz="1000" dirty="0"/>
          </a:p>
        </p:txBody>
      </p:sp>
      <p:sp>
        <p:nvSpPr>
          <p:cNvPr id="26" name="Text 24"/>
          <p:cNvSpPr/>
          <p:nvPr/>
        </p:nvSpPr>
        <p:spPr>
          <a:xfrm>
            <a:off x="3430303" y="5636419"/>
            <a:ext cx="2944540"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0.00001%</a:t>
            </a:r>
            <a:endParaRPr lang="en-US" sz="1000" dirty="0"/>
          </a:p>
        </p:txBody>
      </p:sp>
      <p:sp>
        <p:nvSpPr>
          <p:cNvPr id="27" name="Text 25"/>
          <p:cNvSpPr/>
          <p:nvPr/>
        </p:nvSpPr>
        <p:spPr>
          <a:xfrm>
            <a:off x="6263523" y="2269034"/>
            <a:ext cx="2263421" cy="206673"/>
          </a:xfrm>
          <a:prstGeom prst="rect">
            <a:avLst/>
          </a:prstGeom>
          <a:noFill/>
          <a:ln/>
        </p:spPr>
        <p:txBody>
          <a:bodyPr wrap="none" lIns="0" tIns="0" rIns="0" bIns="0" rtlCol="0" anchor="t"/>
          <a:lstStyle/>
          <a:p>
            <a:pPr marL="0" indent="0" algn="l">
              <a:lnSpc>
                <a:spcPct val="104000"/>
              </a:lnSpc>
              <a:buNone/>
            </a:pPr>
            <a:r>
              <a:rPr lang="en-US" sz="1300" dirty="0">
                <a:solidFill>
                  <a:srgbClr val="5C4E3D"/>
                </a:solidFill>
                <a:latin typeface="Libre Baskerville" pitchFamily="34" charset="0"/>
                <a:ea typeface="Libre Baskerville" pitchFamily="34" charset="-122"/>
                <a:cs typeface="Libre Baskerville" pitchFamily="34" charset="-120"/>
              </a:rPr>
              <a:t>What this means</a:t>
            </a:r>
            <a:endParaRPr lang="en-US" sz="1300" dirty="0"/>
          </a:p>
        </p:txBody>
      </p:sp>
      <p:sp>
        <p:nvSpPr>
          <p:cNvPr id="28" name="Text 26"/>
          <p:cNvSpPr/>
          <p:nvPr/>
        </p:nvSpPr>
        <p:spPr>
          <a:xfrm>
            <a:off x="6263523" y="2581473"/>
            <a:ext cx="5272948" cy="85725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This ranked list is called a </a:t>
            </a:r>
            <a:r>
              <a:rPr lang="en-US" sz="1000" b="1" dirty="0">
                <a:solidFill>
                  <a:srgbClr val="454240"/>
                </a:solidFill>
                <a:latin typeface="DM Sans" pitchFamily="34" charset="0"/>
                <a:ea typeface="DM Sans" pitchFamily="34" charset="-122"/>
                <a:cs typeface="DM Sans" pitchFamily="34" charset="-120"/>
              </a:rPr>
              <a:t>probability distribution</a:t>
            </a:r>
            <a:r>
              <a:rPr lang="en-US" sz="1000" dirty="0">
                <a:solidFill>
                  <a:srgbClr val="454240"/>
                </a:solidFill>
                <a:latin typeface="DM Sans" pitchFamily="34" charset="0"/>
                <a:ea typeface="DM Sans" pitchFamily="34" charset="-122"/>
                <a:cs typeface="DM Sans" pitchFamily="34" charset="-120"/>
              </a:rPr>
              <a:t>. It says: </a:t>
            </a:r>
            <a:r>
              <a:rPr lang="en-US" sz="1000" i="1" dirty="0">
                <a:solidFill>
                  <a:srgbClr val="454240"/>
                </a:solidFill>
                <a:latin typeface="DM Sans" pitchFamily="34" charset="0"/>
                <a:ea typeface="DM Sans" pitchFamily="34" charset="-122"/>
                <a:cs typeface="DM Sans" pitchFamily="34" charset="-120"/>
              </a:rPr>
              <a:t>"Here is how likely I think each possible next word is."</a:t>
            </a:r>
            <a:endParaRPr lang="en-US" sz="1000" dirty="0"/>
          </a:p>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The model scores all 100,000+ words in its vocabulary every single time it needs to produce one token of output.</a:t>
            </a:r>
            <a:endParaRPr lang="en-US" sz="1000" dirty="0"/>
          </a:p>
        </p:txBody>
      </p:sp>
      <p:sp>
        <p:nvSpPr>
          <p:cNvPr id="29" name="Shape 27"/>
          <p:cNvSpPr/>
          <p:nvPr/>
        </p:nvSpPr>
        <p:spPr>
          <a:xfrm>
            <a:off x="6263523" y="3557786"/>
            <a:ext cx="5272948" cy="637580"/>
          </a:xfrm>
          <a:prstGeom prst="roundRect">
            <a:avLst>
              <a:gd name="adj" fmla="val 8716"/>
            </a:avLst>
          </a:prstGeom>
          <a:solidFill>
            <a:srgbClr val="B6D6FC"/>
          </a:solidFill>
          <a:ln/>
        </p:spPr>
      </p:sp>
      <p:pic>
        <p:nvPicPr>
          <p:cNvPr id="30"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95778" y="3746996"/>
            <a:ext cx="165294" cy="132259"/>
          </a:xfrm>
          <a:prstGeom prst="rect">
            <a:avLst/>
          </a:prstGeom>
        </p:spPr>
      </p:pic>
      <p:sp>
        <p:nvSpPr>
          <p:cNvPr id="31" name="Text 28"/>
          <p:cNvSpPr/>
          <p:nvPr/>
        </p:nvSpPr>
        <p:spPr>
          <a:xfrm>
            <a:off x="6693328" y="3686076"/>
            <a:ext cx="4710888"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The word it eventually picks is one choice from this big ranked list — never a certainty.</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4571886" cy="6858000"/>
          </a:xfrm>
          <a:prstGeom prst="rect">
            <a:avLst/>
          </a:prstGeom>
        </p:spPr>
      </p:pic>
      <p:sp>
        <p:nvSpPr>
          <p:cNvPr id="3" name="Text 0"/>
          <p:cNvSpPr/>
          <p:nvPr/>
        </p:nvSpPr>
        <p:spPr>
          <a:xfrm>
            <a:off x="5233360" y="842963"/>
            <a:ext cx="4744323"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Why This Matters</a:t>
            </a:r>
            <a:endParaRPr lang="en-US" sz="3250" dirty="0"/>
          </a:p>
        </p:txBody>
      </p:sp>
      <p:sp>
        <p:nvSpPr>
          <p:cNvPr id="4" name="Text 1"/>
          <p:cNvSpPr/>
          <p:nvPr/>
        </p:nvSpPr>
        <p:spPr>
          <a:xfrm>
            <a:off x="5233360" y="1607741"/>
            <a:ext cx="6296860" cy="1244501"/>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model is </a:t>
            </a:r>
            <a:r>
              <a:rPr lang="en-US" sz="1300" b="1" dirty="0">
                <a:solidFill>
                  <a:srgbClr val="454240"/>
                </a:solidFill>
                <a:latin typeface="DM Sans" pitchFamily="34" charset="0"/>
                <a:ea typeface="DM Sans" pitchFamily="34" charset="-122"/>
                <a:cs typeface="DM Sans" pitchFamily="34" charset="-120"/>
              </a:rPr>
              <a:t>never</a:t>
            </a:r>
            <a:r>
              <a:rPr lang="en-US" sz="1300" dirty="0">
                <a:solidFill>
                  <a:srgbClr val="454240"/>
                </a:solidFill>
                <a:latin typeface="DM Sans" pitchFamily="34" charset="0"/>
                <a:ea typeface="DM Sans" pitchFamily="34" charset="-122"/>
                <a:cs typeface="DM Sans" pitchFamily="34" charset="-120"/>
              </a:rPr>
              <a:t> certain. Even when it sounds confident, underneath it's always working with probabilities. The word it eventually picks is one choice from this big ranked list.</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This is the root of one of the questions from Part 1:</a:t>
            </a:r>
            <a:endParaRPr lang="en-US" sz="1300" dirty="0"/>
          </a:p>
        </p:txBody>
      </p:sp>
      <p:sp>
        <p:nvSpPr>
          <p:cNvPr id="5" name="Text 2"/>
          <p:cNvSpPr/>
          <p:nvPr/>
        </p:nvSpPr>
        <p:spPr>
          <a:xfrm>
            <a:off x="5481401" y="3224312"/>
            <a:ext cx="6658404" cy="264616"/>
          </a:xfrm>
          <a:prstGeom prst="rect">
            <a:avLst/>
          </a:prstGeom>
          <a:noFill/>
          <a:ln/>
        </p:spPr>
        <p:txBody>
          <a:bodyPr wrap="none" lIns="0" tIns="0" rIns="0" bIns="0" rtlCol="0" anchor="t"/>
          <a:lstStyle/>
          <a:p>
            <a:pPr marL="0" indent="0" algn="l">
              <a:lnSpc>
                <a:spcPct val="133000"/>
              </a:lnSpc>
              <a:buNone/>
            </a:pPr>
            <a:r>
              <a:rPr lang="en-US" sz="1300" i="1" dirty="0">
                <a:solidFill>
                  <a:srgbClr val="454240"/>
                </a:solidFill>
                <a:latin typeface="DM Sans" pitchFamily="34" charset="0"/>
                <a:ea typeface="DM Sans" pitchFamily="34" charset="-122"/>
                <a:cs typeface="DM Sans" pitchFamily="34" charset="-120"/>
              </a:rPr>
              <a:t>"Why does it sometimes give a wrong answer with complete confidence?"</a:t>
            </a:r>
            <a:endParaRPr lang="en-US" sz="1300" dirty="0"/>
          </a:p>
        </p:txBody>
      </p:sp>
      <p:sp>
        <p:nvSpPr>
          <p:cNvPr id="6" name="Shape 3"/>
          <p:cNvSpPr/>
          <p:nvPr/>
        </p:nvSpPr>
        <p:spPr>
          <a:xfrm>
            <a:off x="5233360" y="3860998"/>
            <a:ext cx="6296860" cy="1967905"/>
          </a:xfrm>
          <a:prstGeom prst="roundRect">
            <a:avLst>
              <a:gd name="adj" fmla="val 3530"/>
            </a:avLst>
          </a:prstGeom>
          <a:solidFill>
            <a:srgbClr val="FCF2B5"/>
          </a:solidFill>
          <a:ln/>
        </p:spPr>
      </p:sp>
      <p:pic>
        <p:nvPicPr>
          <p:cNvPr id="7"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98655" y="4100711"/>
            <a:ext cx="206667" cy="165298"/>
          </a:xfrm>
          <a:prstGeom prst="rect">
            <a:avLst/>
          </a:prstGeom>
        </p:spPr>
      </p:pic>
      <p:sp>
        <p:nvSpPr>
          <p:cNvPr id="8" name="Text 4"/>
          <p:cNvSpPr/>
          <p:nvPr/>
        </p:nvSpPr>
        <p:spPr>
          <a:xfrm>
            <a:off x="5770617" y="4051102"/>
            <a:ext cx="5594309" cy="1587698"/>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Confidence in the words ≠ Confidence in the facts.</a:t>
            </a:r>
            <a:r>
              <a:rPr lang="en-US" sz="1300" dirty="0">
                <a:solidFill>
                  <a:srgbClr val="000000"/>
                </a:solidFill>
                <a:latin typeface="DM Sans" pitchFamily="34" charset="0"/>
                <a:ea typeface="DM Sans" pitchFamily="34" charset="-122"/>
                <a:cs typeface="DM Sans" pitchFamily="34" charset="-120"/>
              </a:rPr>
              <a:t> The model picked the next word that </a:t>
            </a:r>
            <a:r>
              <a:rPr lang="en-US" sz="1300" i="1" dirty="0">
                <a:solidFill>
                  <a:srgbClr val="000000"/>
                </a:solidFill>
                <a:latin typeface="DM Sans" pitchFamily="34" charset="0"/>
                <a:ea typeface="DM Sans" pitchFamily="34" charset="-122"/>
                <a:cs typeface="DM Sans" pitchFamily="34" charset="-120"/>
              </a:rPr>
              <a:t>sounded right</a:t>
            </a:r>
            <a:r>
              <a:rPr lang="en-US" sz="1300" dirty="0">
                <a:solidFill>
                  <a:srgbClr val="000000"/>
                </a:solidFill>
                <a:latin typeface="DM Sans" pitchFamily="34" charset="0"/>
                <a:ea typeface="DM Sans" pitchFamily="34" charset="-122"/>
                <a:cs typeface="DM Sans" pitchFamily="34" charset="-120"/>
              </a:rPr>
              <a:t> based on patterns it learned. It has no built-in fact-checker telling it whether the resulting sentence is true. If millions of training documents used confident-sounding language for a particular topic, the model learned to sound confident — even when it's wrong.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574" y="836811"/>
            <a:ext cx="10868547"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STEP 11 — How the Model Picks One Word: Sampling</a:t>
            </a:r>
            <a:endParaRPr lang="en-US" sz="3250" dirty="0"/>
          </a:p>
        </p:txBody>
      </p:sp>
      <p:sp>
        <p:nvSpPr>
          <p:cNvPr id="3" name="Text 1"/>
          <p:cNvSpPr/>
          <p:nvPr/>
        </p:nvSpPr>
        <p:spPr>
          <a:xfrm>
            <a:off x="661574" y="2200970"/>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So we have a ranked list of 100,000 possible next words. Which one does the model actually use? This is called </a:t>
            </a:r>
            <a:r>
              <a:rPr lang="en-US" sz="1300" b="1" dirty="0">
                <a:solidFill>
                  <a:srgbClr val="454240"/>
                </a:solidFill>
                <a:latin typeface="DM Sans" pitchFamily="34" charset="0"/>
                <a:ea typeface="DM Sans" pitchFamily="34" charset="-122"/>
                <a:cs typeface="DM Sans" pitchFamily="34" charset="-120"/>
              </a:rPr>
              <a:t>sampling</a:t>
            </a:r>
            <a:r>
              <a:rPr lang="en-US" sz="1300" dirty="0">
                <a:solidFill>
                  <a:srgbClr val="454240"/>
                </a:solidFill>
                <a:latin typeface="DM Sans" pitchFamily="34" charset="0"/>
                <a:ea typeface="DM Sans" pitchFamily="34" charset="-122"/>
                <a:cs typeface="DM Sans" pitchFamily="34" charset="-120"/>
              </a:rPr>
              <a:t>, and it's where things get interesting — because there are several different strategies, and they each change the personality of the answer.</a:t>
            </a:r>
            <a:endParaRPr lang="en-US" sz="1300" dirty="0"/>
          </a:p>
        </p:txBody>
      </p:sp>
      <p:sp>
        <p:nvSpPr>
          <p:cNvPr id="4" name="Text 2"/>
          <p:cNvSpPr/>
          <p:nvPr/>
        </p:nvSpPr>
        <p:spPr>
          <a:xfrm>
            <a:off x="661574" y="2978249"/>
            <a:ext cx="5490430"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Strategy 1: Greedy — Always Pick the Top One</a:t>
            </a:r>
            <a:endParaRPr lang="en-US" sz="1600" dirty="0"/>
          </a:p>
        </p:txBody>
      </p:sp>
      <p:sp>
        <p:nvSpPr>
          <p:cNvPr id="5" name="Text 3"/>
          <p:cNvSpPr/>
          <p:nvPr/>
        </p:nvSpPr>
        <p:spPr>
          <a:xfrm>
            <a:off x="661574" y="3484761"/>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simplest strategy: just pick the highest-probability word every time.</a:t>
            </a:r>
            <a:endParaRPr lang="en-US" sz="1300" dirty="0"/>
          </a:p>
        </p:txBody>
      </p:sp>
      <p:sp>
        <p:nvSpPr>
          <p:cNvPr id="6" name="Shape 4"/>
          <p:cNvSpPr/>
          <p:nvPr/>
        </p:nvSpPr>
        <p:spPr>
          <a:xfrm>
            <a:off x="542515" y="3935413"/>
            <a:ext cx="5470686" cy="2085677"/>
          </a:xfrm>
          <a:prstGeom prst="roundRect">
            <a:avLst>
              <a:gd name="adj" fmla="val 5709"/>
            </a:avLst>
          </a:prstGeom>
          <a:solidFill>
            <a:srgbClr val="B88E23"/>
          </a:solidFill>
          <a:ln/>
        </p:spPr>
      </p:sp>
      <p:sp>
        <p:nvSpPr>
          <p:cNvPr id="7" name="Text 5"/>
          <p:cNvSpPr/>
          <p:nvPr/>
        </p:nvSpPr>
        <p:spPr>
          <a:xfrm>
            <a:off x="707809" y="4100711"/>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ibre Baskerville" pitchFamily="34" charset="0"/>
                <a:ea typeface="Libre Baskerville" pitchFamily="34" charset="-122"/>
                <a:cs typeface="Libre Baskerville" pitchFamily="34" charset="-120"/>
              </a:rPr>
              <a:t>Pros</a:t>
            </a:r>
            <a:endParaRPr lang="en-US" sz="1600" dirty="0"/>
          </a:p>
        </p:txBody>
      </p:sp>
      <p:sp>
        <p:nvSpPr>
          <p:cNvPr id="8" name="Text 6"/>
          <p:cNvSpPr/>
          <p:nvPr/>
        </p:nvSpPr>
        <p:spPr>
          <a:xfrm>
            <a:off x="707809" y="4524474"/>
            <a:ext cx="5140097" cy="58707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dirty="0">
                <a:solidFill>
                  <a:srgbClr val="000000"/>
                </a:solidFill>
                <a:latin typeface="DM Sans" pitchFamily="34" charset="0"/>
                <a:ea typeface="DM Sans" pitchFamily="34" charset="-122"/>
                <a:cs typeface="DM Sans" pitchFamily="34" charset="-120"/>
              </a:rPr>
              <a:t>Predictable and consistent</a:t>
            </a:r>
            <a:endParaRPr lang="en-US" sz="1300" dirty="0"/>
          </a:p>
          <a:p>
            <a:pPr marL="342900" indent="-342900" algn="l">
              <a:lnSpc>
                <a:spcPct val="133000"/>
              </a:lnSpc>
              <a:buSzPct val="100000"/>
              <a:buChar char="•"/>
            </a:pPr>
            <a:r>
              <a:rPr lang="en-US" sz="1300" dirty="0">
                <a:solidFill>
                  <a:srgbClr val="000000"/>
                </a:solidFill>
                <a:latin typeface="DM Sans" pitchFamily="34" charset="0"/>
                <a:ea typeface="DM Sans" pitchFamily="34" charset="-122"/>
                <a:cs typeface="DM Sans" pitchFamily="34" charset="-120"/>
              </a:rPr>
              <a:t>Same question → same answer</a:t>
            </a:r>
            <a:endParaRPr lang="en-US" sz="1300" dirty="0"/>
          </a:p>
        </p:txBody>
      </p:sp>
      <p:sp>
        <p:nvSpPr>
          <p:cNvPr id="9" name="Text 7"/>
          <p:cNvSpPr/>
          <p:nvPr/>
        </p:nvSpPr>
        <p:spPr>
          <a:xfrm>
            <a:off x="6303904" y="4100711"/>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Cons</a:t>
            </a:r>
            <a:endParaRPr lang="en-US" sz="1600" dirty="0"/>
          </a:p>
        </p:txBody>
      </p:sp>
      <p:sp>
        <p:nvSpPr>
          <p:cNvPr id="10" name="Text 8"/>
          <p:cNvSpPr/>
          <p:nvPr/>
        </p:nvSpPr>
        <p:spPr>
          <a:xfrm>
            <a:off x="6303904" y="4524474"/>
            <a:ext cx="5232567" cy="1438771"/>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Boring and repetitive</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If you ask the same question twice, you get the exact same reply word-for-word</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The "safest" word isn't always the best one — sometimes the 2nd or 3rd choice would have made a much better sentence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574" y="474464"/>
            <a:ext cx="10868547" cy="981869"/>
          </a:xfrm>
          <a:prstGeom prst="rect">
            <a:avLst/>
          </a:prstGeom>
          <a:noFill/>
          <a:ln/>
        </p:spPr>
        <p:txBody>
          <a:bodyPr wrap="square" lIns="0" tIns="0" rIns="0" bIns="0" rtlCol="0" anchor="t">
            <a:normAutofit/>
          </a:bodyPr>
          <a:lstStyle/>
          <a:p>
            <a:pPr marL="0" indent="0" algn="l">
              <a:lnSpc>
                <a:spcPct val="104000"/>
              </a:lnSpc>
              <a:buNone/>
            </a:pPr>
            <a:r>
              <a:rPr lang="en-US" sz="3050" dirty="0">
                <a:solidFill>
                  <a:srgbClr val="5C4E3D"/>
                </a:solidFill>
                <a:latin typeface="Libre Baskerville" pitchFamily="34" charset="0"/>
                <a:ea typeface="Libre Baskerville" pitchFamily="34" charset="-122"/>
                <a:cs typeface="Libre Baskerville" pitchFamily="34" charset="-120"/>
              </a:rPr>
              <a:t>Strategy 2: Temperature — Adjusting How Adventurous the Model Is</a:t>
            </a:r>
            <a:endParaRPr lang="en-US" sz="3050" dirty="0"/>
          </a:p>
        </p:txBody>
      </p:sp>
      <p:sp>
        <p:nvSpPr>
          <p:cNvPr id="3" name="Text 1"/>
          <p:cNvSpPr/>
          <p:nvPr/>
        </p:nvSpPr>
        <p:spPr>
          <a:xfrm>
            <a:off x="661574" y="1754783"/>
            <a:ext cx="11478132" cy="245170"/>
          </a:xfrm>
          <a:prstGeom prst="rect">
            <a:avLst/>
          </a:prstGeom>
          <a:noFill/>
          <a:ln/>
        </p:spPr>
        <p:txBody>
          <a:bodyPr wrap="none" lIns="0" tIns="0" rIns="0" bIns="0" rtlCol="0" anchor="t"/>
          <a:lstStyle/>
          <a:p>
            <a:pPr marL="0" indent="0" algn="l">
              <a:lnSpc>
                <a:spcPct val="130000"/>
              </a:lnSpc>
              <a:buNone/>
            </a:pPr>
            <a:r>
              <a:rPr lang="en-US" sz="1200" b="1" dirty="0">
                <a:solidFill>
                  <a:srgbClr val="454240"/>
                </a:solidFill>
                <a:latin typeface="DM Sans" pitchFamily="34" charset="0"/>
                <a:ea typeface="DM Sans" pitchFamily="34" charset="-122"/>
                <a:cs typeface="DM Sans" pitchFamily="34" charset="-120"/>
              </a:rPr>
              <a:t>Temperature</a:t>
            </a:r>
            <a:r>
              <a:rPr lang="en-US" sz="1200" dirty="0">
                <a:solidFill>
                  <a:srgbClr val="454240"/>
                </a:solidFill>
                <a:latin typeface="DM Sans" pitchFamily="34" charset="0"/>
                <a:ea typeface="DM Sans" pitchFamily="34" charset="-122"/>
                <a:cs typeface="DM Sans" pitchFamily="34" charset="-120"/>
              </a:rPr>
              <a:t> is a dial that controls how willing the model is to pick lower-ranked words. Think of it as a creativity setting.</a:t>
            </a:r>
            <a:endParaRPr lang="en-US" sz="1200" dirty="0"/>
          </a:p>
        </p:txBody>
      </p:sp>
      <p:sp>
        <p:nvSpPr>
          <p:cNvPr id="4" name="Shape 2"/>
          <p:cNvSpPr/>
          <p:nvPr/>
        </p:nvSpPr>
        <p:spPr>
          <a:xfrm>
            <a:off x="661574" y="2167830"/>
            <a:ext cx="10868547" cy="2633861"/>
          </a:xfrm>
          <a:prstGeom prst="roundRect">
            <a:avLst>
              <a:gd name="adj" fmla="val 2505"/>
            </a:avLst>
          </a:prstGeom>
          <a:noFill/>
          <a:ln w="6350">
            <a:solidFill>
              <a:srgbClr val="000000">
                <a:alpha val="8000"/>
              </a:srgbClr>
            </a:solidFill>
            <a:prstDash val="solid"/>
          </a:ln>
        </p:spPr>
      </p:sp>
      <p:sp>
        <p:nvSpPr>
          <p:cNvPr id="5" name="Shape 3"/>
          <p:cNvSpPr/>
          <p:nvPr/>
        </p:nvSpPr>
        <p:spPr>
          <a:xfrm>
            <a:off x="667924" y="2174180"/>
            <a:ext cx="10854756" cy="436860"/>
          </a:xfrm>
          <a:prstGeom prst="rect">
            <a:avLst/>
          </a:prstGeom>
          <a:solidFill>
            <a:srgbClr val="FFFFFF">
              <a:alpha val="4000"/>
            </a:srgbClr>
          </a:solidFill>
          <a:ln/>
        </p:spPr>
      </p:sp>
      <p:sp>
        <p:nvSpPr>
          <p:cNvPr id="6" name="Text 4"/>
          <p:cNvSpPr/>
          <p:nvPr/>
        </p:nvSpPr>
        <p:spPr>
          <a:xfrm>
            <a:off x="826273" y="2270026"/>
            <a:ext cx="3910113" cy="245170"/>
          </a:xfrm>
          <a:prstGeom prst="rect">
            <a:avLst/>
          </a:prstGeom>
          <a:noFill/>
          <a:ln/>
        </p:spPr>
        <p:txBody>
          <a:bodyPr wrap="none" lIns="0" tIns="0" rIns="0" bIns="0" rtlCol="0" anchor="t"/>
          <a:lstStyle/>
          <a:p>
            <a:pPr marL="0" indent="0" algn="l">
              <a:lnSpc>
                <a:spcPct val="130000"/>
              </a:lnSpc>
              <a:buNone/>
            </a:pPr>
            <a:r>
              <a:rPr lang="en-US" sz="1200" b="1" dirty="0">
                <a:solidFill>
                  <a:srgbClr val="454240"/>
                </a:solidFill>
                <a:latin typeface="DM Sans" pitchFamily="34" charset="0"/>
                <a:ea typeface="DM Sans" pitchFamily="34" charset="-122"/>
                <a:cs typeface="DM Sans" pitchFamily="34" charset="-120"/>
              </a:rPr>
              <a:t>Temperature</a:t>
            </a:r>
            <a:endParaRPr lang="en-US" sz="1200" dirty="0"/>
          </a:p>
        </p:txBody>
      </p:sp>
      <p:sp>
        <p:nvSpPr>
          <p:cNvPr id="7" name="Text 5"/>
          <p:cNvSpPr/>
          <p:nvPr/>
        </p:nvSpPr>
        <p:spPr>
          <a:xfrm>
            <a:off x="4447270" y="2270026"/>
            <a:ext cx="3906938" cy="245170"/>
          </a:xfrm>
          <a:prstGeom prst="rect">
            <a:avLst/>
          </a:prstGeom>
          <a:noFill/>
          <a:ln/>
        </p:spPr>
        <p:txBody>
          <a:bodyPr wrap="none" lIns="0" tIns="0" rIns="0" bIns="0" rtlCol="0" anchor="t"/>
          <a:lstStyle/>
          <a:p>
            <a:pPr marL="0" indent="0" algn="l">
              <a:lnSpc>
                <a:spcPct val="130000"/>
              </a:lnSpc>
              <a:buNone/>
            </a:pPr>
            <a:r>
              <a:rPr lang="en-US" sz="1200" b="1" dirty="0">
                <a:solidFill>
                  <a:srgbClr val="454240"/>
                </a:solidFill>
                <a:latin typeface="DM Sans" pitchFamily="34" charset="0"/>
                <a:ea typeface="DM Sans" pitchFamily="34" charset="-122"/>
                <a:cs typeface="DM Sans" pitchFamily="34" charset="-120"/>
              </a:rPr>
              <a:t>What it does</a:t>
            </a:r>
            <a:endParaRPr lang="en-US" sz="1200" dirty="0"/>
          </a:p>
        </p:txBody>
      </p:sp>
      <p:sp>
        <p:nvSpPr>
          <p:cNvPr id="8" name="Text 6"/>
          <p:cNvSpPr/>
          <p:nvPr/>
        </p:nvSpPr>
        <p:spPr>
          <a:xfrm>
            <a:off x="8065092" y="2270026"/>
            <a:ext cx="3910113" cy="245170"/>
          </a:xfrm>
          <a:prstGeom prst="rect">
            <a:avLst/>
          </a:prstGeom>
          <a:noFill/>
          <a:ln/>
        </p:spPr>
        <p:txBody>
          <a:bodyPr wrap="none" lIns="0" tIns="0" rIns="0" bIns="0" rtlCol="0" anchor="t"/>
          <a:lstStyle/>
          <a:p>
            <a:pPr marL="0" indent="0" algn="l">
              <a:lnSpc>
                <a:spcPct val="130000"/>
              </a:lnSpc>
              <a:buNone/>
            </a:pPr>
            <a:r>
              <a:rPr lang="en-US" sz="1200" b="1" dirty="0">
                <a:solidFill>
                  <a:srgbClr val="454240"/>
                </a:solidFill>
                <a:latin typeface="DM Sans" pitchFamily="34" charset="0"/>
                <a:ea typeface="DM Sans" pitchFamily="34" charset="-122"/>
                <a:cs typeface="DM Sans" pitchFamily="34" charset="-120"/>
              </a:rPr>
              <a:t>Feels like</a:t>
            </a:r>
            <a:endParaRPr lang="en-US" sz="1200" dirty="0"/>
          </a:p>
        </p:txBody>
      </p:sp>
      <p:sp>
        <p:nvSpPr>
          <p:cNvPr id="9" name="Shape 7"/>
          <p:cNvSpPr/>
          <p:nvPr/>
        </p:nvSpPr>
        <p:spPr>
          <a:xfrm>
            <a:off x="667924" y="2611041"/>
            <a:ext cx="10854756" cy="436860"/>
          </a:xfrm>
          <a:prstGeom prst="rect">
            <a:avLst/>
          </a:prstGeom>
          <a:solidFill>
            <a:srgbClr val="000000">
              <a:alpha val="4000"/>
            </a:srgbClr>
          </a:solidFill>
          <a:ln/>
        </p:spPr>
      </p:sp>
      <p:sp>
        <p:nvSpPr>
          <p:cNvPr id="10" name="Text 8"/>
          <p:cNvSpPr/>
          <p:nvPr/>
        </p:nvSpPr>
        <p:spPr>
          <a:xfrm>
            <a:off x="826273" y="2706886"/>
            <a:ext cx="3910113"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0.0</a:t>
            </a:r>
            <a:endParaRPr lang="en-US" sz="1200" dirty="0"/>
          </a:p>
        </p:txBody>
      </p:sp>
      <p:sp>
        <p:nvSpPr>
          <p:cNvPr id="11" name="Text 9"/>
          <p:cNvSpPr/>
          <p:nvPr/>
        </p:nvSpPr>
        <p:spPr>
          <a:xfrm>
            <a:off x="4447270" y="2706886"/>
            <a:ext cx="3906938"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Always pick the top word (greedy)</a:t>
            </a:r>
            <a:endParaRPr lang="en-US" sz="1200" dirty="0"/>
          </a:p>
        </p:txBody>
      </p:sp>
      <p:sp>
        <p:nvSpPr>
          <p:cNvPr id="12" name="Text 10"/>
          <p:cNvSpPr/>
          <p:nvPr/>
        </p:nvSpPr>
        <p:spPr>
          <a:xfrm>
            <a:off x="8065092" y="2706886"/>
            <a:ext cx="3910113"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Robotic, repetitive</a:t>
            </a:r>
            <a:endParaRPr lang="en-US" sz="1200" dirty="0"/>
          </a:p>
        </p:txBody>
      </p:sp>
      <p:sp>
        <p:nvSpPr>
          <p:cNvPr id="13" name="Shape 11"/>
          <p:cNvSpPr/>
          <p:nvPr/>
        </p:nvSpPr>
        <p:spPr>
          <a:xfrm>
            <a:off x="667924" y="3047901"/>
            <a:ext cx="10854756" cy="436860"/>
          </a:xfrm>
          <a:prstGeom prst="rect">
            <a:avLst/>
          </a:prstGeom>
          <a:solidFill>
            <a:srgbClr val="FFFFFF">
              <a:alpha val="4000"/>
            </a:srgbClr>
          </a:solidFill>
          <a:ln/>
        </p:spPr>
      </p:sp>
      <p:sp>
        <p:nvSpPr>
          <p:cNvPr id="14" name="Text 12"/>
          <p:cNvSpPr/>
          <p:nvPr/>
        </p:nvSpPr>
        <p:spPr>
          <a:xfrm>
            <a:off x="826273" y="3143746"/>
            <a:ext cx="3910113"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0.3</a:t>
            </a:r>
            <a:endParaRPr lang="en-US" sz="1200" dirty="0"/>
          </a:p>
        </p:txBody>
      </p:sp>
      <p:sp>
        <p:nvSpPr>
          <p:cNvPr id="15" name="Text 13"/>
          <p:cNvSpPr/>
          <p:nvPr/>
        </p:nvSpPr>
        <p:spPr>
          <a:xfrm>
            <a:off x="4447270" y="3143746"/>
            <a:ext cx="3906938"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Slight randomness, mostly safe choices</a:t>
            </a:r>
            <a:endParaRPr lang="en-US" sz="1200" dirty="0"/>
          </a:p>
        </p:txBody>
      </p:sp>
      <p:sp>
        <p:nvSpPr>
          <p:cNvPr id="16" name="Text 14"/>
          <p:cNvSpPr/>
          <p:nvPr/>
        </p:nvSpPr>
        <p:spPr>
          <a:xfrm>
            <a:off x="8065092" y="3143746"/>
            <a:ext cx="3910113"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Careful, factual</a:t>
            </a:r>
            <a:endParaRPr lang="en-US" sz="1200" dirty="0"/>
          </a:p>
        </p:txBody>
      </p:sp>
      <p:sp>
        <p:nvSpPr>
          <p:cNvPr id="17" name="Shape 15"/>
          <p:cNvSpPr/>
          <p:nvPr/>
        </p:nvSpPr>
        <p:spPr>
          <a:xfrm>
            <a:off x="667924" y="3484761"/>
            <a:ext cx="10854756" cy="436860"/>
          </a:xfrm>
          <a:prstGeom prst="rect">
            <a:avLst/>
          </a:prstGeom>
          <a:solidFill>
            <a:srgbClr val="000000">
              <a:alpha val="4000"/>
            </a:srgbClr>
          </a:solidFill>
          <a:ln/>
        </p:spPr>
      </p:sp>
      <p:sp>
        <p:nvSpPr>
          <p:cNvPr id="18" name="Text 16"/>
          <p:cNvSpPr/>
          <p:nvPr/>
        </p:nvSpPr>
        <p:spPr>
          <a:xfrm>
            <a:off x="826273" y="3580606"/>
            <a:ext cx="3910113"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0.7</a:t>
            </a:r>
            <a:endParaRPr lang="en-US" sz="1200" dirty="0"/>
          </a:p>
        </p:txBody>
      </p:sp>
      <p:sp>
        <p:nvSpPr>
          <p:cNvPr id="19" name="Text 17"/>
          <p:cNvSpPr/>
          <p:nvPr/>
        </p:nvSpPr>
        <p:spPr>
          <a:xfrm>
            <a:off x="4447270" y="3580606"/>
            <a:ext cx="3906938"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Balanced — the everyday default</a:t>
            </a:r>
            <a:endParaRPr lang="en-US" sz="1200" dirty="0"/>
          </a:p>
        </p:txBody>
      </p:sp>
      <p:sp>
        <p:nvSpPr>
          <p:cNvPr id="20" name="Text 18"/>
          <p:cNvSpPr/>
          <p:nvPr/>
        </p:nvSpPr>
        <p:spPr>
          <a:xfrm>
            <a:off x="8065092" y="3580606"/>
            <a:ext cx="3910113"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Natural, varied</a:t>
            </a:r>
            <a:endParaRPr lang="en-US" sz="1200" dirty="0"/>
          </a:p>
        </p:txBody>
      </p:sp>
      <p:sp>
        <p:nvSpPr>
          <p:cNvPr id="21" name="Shape 19"/>
          <p:cNvSpPr/>
          <p:nvPr/>
        </p:nvSpPr>
        <p:spPr>
          <a:xfrm>
            <a:off x="667924" y="3921621"/>
            <a:ext cx="10854756" cy="436860"/>
          </a:xfrm>
          <a:prstGeom prst="rect">
            <a:avLst/>
          </a:prstGeom>
          <a:solidFill>
            <a:srgbClr val="FFFFFF">
              <a:alpha val="4000"/>
            </a:srgbClr>
          </a:solidFill>
          <a:ln/>
        </p:spPr>
      </p:sp>
      <p:sp>
        <p:nvSpPr>
          <p:cNvPr id="22" name="Text 20"/>
          <p:cNvSpPr/>
          <p:nvPr/>
        </p:nvSpPr>
        <p:spPr>
          <a:xfrm>
            <a:off x="826273" y="4017466"/>
            <a:ext cx="3910113"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1.0</a:t>
            </a:r>
            <a:endParaRPr lang="en-US" sz="1200" dirty="0"/>
          </a:p>
        </p:txBody>
      </p:sp>
      <p:sp>
        <p:nvSpPr>
          <p:cNvPr id="23" name="Text 21"/>
          <p:cNvSpPr/>
          <p:nvPr/>
        </p:nvSpPr>
        <p:spPr>
          <a:xfrm>
            <a:off x="4447270" y="4017466"/>
            <a:ext cx="3906938"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More adventurous, considers more options</a:t>
            </a:r>
            <a:endParaRPr lang="en-US" sz="1200" dirty="0"/>
          </a:p>
        </p:txBody>
      </p:sp>
      <p:sp>
        <p:nvSpPr>
          <p:cNvPr id="24" name="Text 22"/>
          <p:cNvSpPr/>
          <p:nvPr/>
        </p:nvSpPr>
        <p:spPr>
          <a:xfrm>
            <a:off x="8065092" y="4017466"/>
            <a:ext cx="3910113"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Creative, sometimes off-base</a:t>
            </a:r>
            <a:endParaRPr lang="en-US" sz="1200" dirty="0"/>
          </a:p>
        </p:txBody>
      </p:sp>
      <p:sp>
        <p:nvSpPr>
          <p:cNvPr id="25" name="Shape 23"/>
          <p:cNvSpPr/>
          <p:nvPr/>
        </p:nvSpPr>
        <p:spPr>
          <a:xfrm>
            <a:off x="667924" y="4358481"/>
            <a:ext cx="10854756" cy="436860"/>
          </a:xfrm>
          <a:prstGeom prst="rect">
            <a:avLst/>
          </a:prstGeom>
          <a:solidFill>
            <a:srgbClr val="000000">
              <a:alpha val="4000"/>
            </a:srgbClr>
          </a:solidFill>
          <a:ln/>
        </p:spPr>
      </p:sp>
      <p:sp>
        <p:nvSpPr>
          <p:cNvPr id="26" name="Text 24"/>
          <p:cNvSpPr/>
          <p:nvPr/>
        </p:nvSpPr>
        <p:spPr>
          <a:xfrm>
            <a:off x="826273" y="4454327"/>
            <a:ext cx="3910113"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1.5+</a:t>
            </a:r>
            <a:endParaRPr lang="en-US" sz="1200" dirty="0"/>
          </a:p>
        </p:txBody>
      </p:sp>
      <p:sp>
        <p:nvSpPr>
          <p:cNvPr id="27" name="Text 25"/>
          <p:cNvSpPr/>
          <p:nvPr/>
        </p:nvSpPr>
        <p:spPr>
          <a:xfrm>
            <a:off x="4447270" y="4454327"/>
            <a:ext cx="3906938"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Wild — picks unusual words often</a:t>
            </a:r>
            <a:endParaRPr lang="en-US" sz="1200" dirty="0"/>
          </a:p>
        </p:txBody>
      </p:sp>
      <p:sp>
        <p:nvSpPr>
          <p:cNvPr id="28" name="Text 26"/>
          <p:cNvSpPr/>
          <p:nvPr/>
        </p:nvSpPr>
        <p:spPr>
          <a:xfrm>
            <a:off x="8065092" y="4454327"/>
            <a:ext cx="3910113"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Weird, unpredictable</a:t>
            </a:r>
            <a:endParaRPr lang="en-US" sz="1200" dirty="0"/>
          </a:p>
        </p:txBody>
      </p:sp>
      <p:sp>
        <p:nvSpPr>
          <p:cNvPr id="29" name="Shape 27"/>
          <p:cNvSpPr/>
          <p:nvPr/>
        </p:nvSpPr>
        <p:spPr>
          <a:xfrm>
            <a:off x="548368" y="4969570"/>
            <a:ext cx="5468999" cy="1413867"/>
          </a:xfrm>
          <a:prstGeom prst="roundRect">
            <a:avLst>
              <a:gd name="adj" fmla="val 8001"/>
            </a:avLst>
          </a:prstGeom>
          <a:solidFill>
            <a:srgbClr val="B88E23"/>
          </a:solidFill>
          <a:ln/>
        </p:spPr>
      </p:sp>
      <p:sp>
        <p:nvSpPr>
          <p:cNvPr id="30" name="Text 28"/>
          <p:cNvSpPr/>
          <p:nvPr/>
        </p:nvSpPr>
        <p:spPr>
          <a:xfrm>
            <a:off x="705428" y="5118795"/>
            <a:ext cx="2573571" cy="245566"/>
          </a:xfrm>
          <a:prstGeom prst="rect">
            <a:avLst/>
          </a:prstGeom>
          <a:noFill/>
          <a:ln/>
        </p:spPr>
        <p:txBody>
          <a:bodyPr wrap="none" lIns="0" tIns="0" rIns="0" bIns="0" rtlCol="0" anchor="t"/>
          <a:lstStyle/>
          <a:p>
            <a:pPr marL="0" indent="0" algn="l">
              <a:lnSpc>
                <a:spcPct val="104000"/>
              </a:lnSpc>
              <a:buNone/>
            </a:pPr>
            <a:r>
              <a:rPr lang="en-US" sz="1500" dirty="0">
                <a:solidFill>
                  <a:srgbClr val="000000"/>
                </a:solidFill>
                <a:latin typeface="Libre Baskerville" pitchFamily="34" charset="0"/>
                <a:ea typeface="Libre Baskerville" pitchFamily="34" charset="-122"/>
                <a:cs typeface="Libre Baskerville" pitchFamily="34" charset="-120"/>
              </a:rPr>
              <a:t>Low Temperature</a:t>
            </a:r>
            <a:endParaRPr lang="en-US" sz="1500" dirty="0"/>
          </a:p>
        </p:txBody>
      </p:sp>
      <p:sp>
        <p:nvSpPr>
          <p:cNvPr id="31" name="Text 29"/>
          <p:cNvSpPr/>
          <p:nvPr/>
        </p:nvSpPr>
        <p:spPr>
          <a:xfrm>
            <a:off x="705428" y="5513586"/>
            <a:ext cx="5154880" cy="73550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DM Sans" pitchFamily="34" charset="0"/>
                <a:ea typeface="DM Sans" pitchFamily="34" charset="-122"/>
                <a:cs typeface="DM Sans" pitchFamily="34" charset="-120"/>
              </a:rPr>
              <a:t>Like a cautious analyst who only says what they're sure of. Ideal for a </a:t>
            </a:r>
            <a:r>
              <a:rPr lang="en-US" sz="1200" b="1" dirty="0">
                <a:solidFill>
                  <a:srgbClr val="000000"/>
                </a:solidFill>
                <a:latin typeface="DM Sans" pitchFamily="34" charset="0"/>
                <a:ea typeface="DM Sans" pitchFamily="34" charset="-122"/>
                <a:cs typeface="DM Sans" pitchFamily="34" charset="-120"/>
              </a:rPr>
              <a:t>wealth-management assistant</a:t>
            </a:r>
            <a:r>
              <a:rPr lang="en-US" sz="1200" dirty="0">
                <a:solidFill>
                  <a:srgbClr val="000000"/>
                </a:solidFill>
                <a:latin typeface="DM Sans" pitchFamily="34" charset="0"/>
                <a:ea typeface="DM Sans" pitchFamily="34" charset="-122"/>
                <a:cs typeface="DM Sans" pitchFamily="34" charset="-120"/>
              </a:rPr>
              <a:t> — use 0.2–0.4 for consistency and accuracy.</a:t>
            </a:r>
            <a:endParaRPr lang="en-US" sz="1200" dirty="0"/>
          </a:p>
        </p:txBody>
      </p:sp>
      <p:sp>
        <p:nvSpPr>
          <p:cNvPr id="32" name="Text 30"/>
          <p:cNvSpPr/>
          <p:nvPr/>
        </p:nvSpPr>
        <p:spPr>
          <a:xfrm>
            <a:off x="6293883" y="5118795"/>
            <a:ext cx="2573571" cy="245566"/>
          </a:xfrm>
          <a:prstGeom prst="rect">
            <a:avLst/>
          </a:prstGeom>
          <a:noFill/>
          <a:ln/>
        </p:spPr>
        <p:txBody>
          <a:bodyPr wrap="none" lIns="0" tIns="0" rIns="0" bIns="0" rtlCol="0" anchor="t"/>
          <a:lstStyle/>
          <a:p>
            <a:pPr marL="0" indent="0" algn="l">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High Temperature</a:t>
            </a:r>
            <a:endParaRPr lang="en-US" sz="1500" dirty="0"/>
          </a:p>
        </p:txBody>
      </p:sp>
      <p:sp>
        <p:nvSpPr>
          <p:cNvPr id="33" name="Text 31"/>
          <p:cNvSpPr/>
          <p:nvPr/>
        </p:nvSpPr>
        <p:spPr>
          <a:xfrm>
            <a:off x="6293883" y="5513586"/>
            <a:ext cx="5242588" cy="73550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Like a brainstorming partner who throws out unusual ideas — sometimes brilliant, sometimes nonsense. Use 0.9+ for </a:t>
            </a:r>
            <a:r>
              <a:rPr lang="en-US" sz="1200" b="1" dirty="0">
                <a:solidFill>
                  <a:srgbClr val="454240"/>
                </a:solidFill>
                <a:latin typeface="DM Sans" pitchFamily="34" charset="0"/>
                <a:ea typeface="DM Sans" pitchFamily="34" charset="-122"/>
                <a:cs typeface="DM Sans" pitchFamily="34" charset="-120"/>
              </a:rPr>
              <a:t>writing poems</a:t>
            </a:r>
            <a:r>
              <a:rPr lang="en-US" sz="1200" dirty="0">
                <a:solidFill>
                  <a:srgbClr val="454240"/>
                </a:solidFill>
                <a:latin typeface="DM Sans" pitchFamily="34" charset="0"/>
                <a:ea typeface="DM Sans" pitchFamily="34" charset="-122"/>
                <a:cs typeface="DM Sans" pitchFamily="34" charset="-120"/>
              </a:rPr>
              <a:t> or </a:t>
            </a:r>
            <a:r>
              <a:rPr lang="en-US" sz="1200" b="1" dirty="0">
                <a:solidFill>
                  <a:srgbClr val="454240"/>
                </a:solidFill>
                <a:latin typeface="DM Sans" pitchFamily="34" charset="0"/>
                <a:ea typeface="DM Sans" pitchFamily="34" charset="-122"/>
                <a:cs typeface="DM Sans" pitchFamily="34" charset="-120"/>
              </a:rPr>
              <a:t>brainstorming product names</a:t>
            </a:r>
            <a:r>
              <a:rPr lang="en-US" sz="1200" dirty="0">
                <a:solidFill>
                  <a:srgbClr val="454240"/>
                </a:solidFill>
                <a:latin typeface="DM Sans" pitchFamily="34" charset="0"/>
                <a:ea typeface="DM Sans" pitchFamily="34" charset="-122"/>
                <a:cs typeface="DM Sans" pitchFamily="34" charset="-120"/>
              </a:rPr>
              <a: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4571886" cy="6858000"/>
          </a:xfrm>
          <a:prstGeom prst="rect">
            <a:avLst/>
          </a:prstGeom>
        </p:spPr>
      </p:pic>
      <p:sp>
        <p:nvSpPr>
          <p:cNvPr id="3" name="Text 0"/>
          <p:cNvSpPr/>
          <p:nvPr/>
        </p:nvSpPr>
        <p:spPr>
          <a:xfrm>
            <a:off x="5233360" y="1260574"/>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Strategy 3: Top-K — Only Consider the Top K Options</a:t>
            </a:r>
            <a:endParaRPr lang="en-US" sz="3250" dirty="0"/>
          </a:p>
        </p:txBody>
      </p:sp>
      <p:sp>
        <p:nvSpPr>
          <p:cNvPr id="4" name="Text 1"/>
          <p:cNvSpPr/>
          <p:nvPr/>
        </p:nvSpPr>
        <p:spPr>
          <a:xfrm>
            <a:off x="5233360" y="2542084"/>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Even with temperature, the model could occasionally pick an absurd word from far down the list. </a:t>
            </a:r>
            <a:r>
              <a:rPr lang="en-US" sz="1300" b="1" dirty="0">
                <a:solidFill>
                  <a:srgbClr val="454240"/>
                </a:solidFill>
                <a:latin typeface="DM Sans" pitchFamily="34" charset="0"/>
                <a:ea typeface="DM Sans" pitchFamily="34" charset="-122"/>
                <a:cs typeface="DM Sans" pitchFamily="34" charset="-120"/>
              </a:rPr>
              <a:t>Top-K</a:t>
            </a:r>
            <a:r>
              <a:rPr lang="en-US" sz="1300" dirty="0">
                <a:solidFill>
                  <a:srgbClr val="454240"/>
                </a:solidFill>
                <a:latin typeface="DM Sans" pitchFamily="34" charset="0"/>
                <a:ea typeface="DM Sans" pitchFamily="34" charset="-122"/>
                <a:cs typeface="DM Sans" pitchFamily="34" charset="-120"/>
              </a:rPr>
              <a:t> prevents that.</a:t>
            </a:r>
            <a:endParaRPr lang="en-US" sz="1300" dirty="0"/>
          </a:p>
        </p:txBody>
      </p:sp>
      <p:sp>
        <p:nvSpPr>
          <p:cNvPr id="5" name="Shape 2"/>
          <p:cNvSpPr/>
          <p:nvPr/>
        </p:nvSpPr>
        <p:spPr>
          <a:xfrm>
            <a:off x="5233360" y="3257352"/>
            <a:ext cx="6296860" cy="909439"/>
          </a:xfrm>
          <a:prstGeom prst="roundRect">
            <a:avLst>
              <a:gd name="adj" fmla="val 7638"/>
            </a:avLst>
          </a:prstGeom>
          <a:solidFill>
            <a:srgbClr val="B6D6FC"/>
          </a:solidFill>
          <a:ln/>
        </p:spPr>
      </p:sp>
      <p:pic>
        <p:nvPicPr>
          <p:cNvPr id="6"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98655" y="3497064"/>
            <a:ext cx="206667" cy="165298"/>
          </a:xfrm>
          <a:prstGeom prst="rect">
            <a:avLst/>
          </a:prstGeom>
        </p:spPr>
      </p:pic>
      <p:sp>
        <p:nvSpPr>
          <p:cNvPr id="7" name="Text 3"/>
          <p:cNvSpPr/>
          <p:nvPr/>
        </p:nvSpPr>
        <p:spPr>
          <a:xfrm>
            <a:off x="5770617" y="3447455"/>
            <a:ext cx="5594309"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Top-K = 5</a:t>
            </a:r>
            <a:r>
              <a:rPr lang="en-US" sz="1300" dirty="0">
                <a:solidFill>
                  <a:srgbClr val="000000"/>
                </a:solidFill>
                <a:latin typeface="DM Sans" pitchFamily="34" charset="0"/>
                <a:ea typeface="DM Sans" pitchFamily="34" charset="-122"/>
                <a:cs typeface="DM Sans" pitchFamily="34" charset="-120"/>
              </a:rPr>
              <a:t> means: </a:t>
            </a:r>
            <a:r>
              <a:rPr lang="en-US" sz="1300" i="1" dirty="0">
                <a:solidFill>
                  <a:srgbClr val="000000"/>
                </a:solidFill>
                <a:latin typeface="DM Sans" pitchFamily="34" charset="0"/>
                <a:ea typeface="DM Sans" pitchFamily="34" charset="-122"/>
                <a:cs typeface="DM Sans" pitchFamily="34" charset="-120"/>
              </a:rPr>
              <a:t>"Only look at the top 5 most likely words. Ignore everything else. Pick from those 5."</a:t>
            </a:r>
            <a:endParaRPr lang="en-US" sz="1300" dirty="0"/>
          </a:p>
        </p:txBody>
      </p:sp>
      <p:sp>
        <p:nvSpPr>
          <p:cNvPr id="8" name="Text 4"/>
          <p:cNvSpPr/>
          <p:nvPr/>
        </p:nvSpPr>
        <p:spPr>
          <a:xfrm>
            <a:off x="5233360" y="4352826"/>
            <a:ext cx="6296860" cy="1244501"/>
          </a:xfrm>
          <a:prstGeom prst="rect">
            <a:avLst/>
          </a:prstGeom>
          <a:noFill/>
          <a:ln/>
        </p:spPr>
        <p:txBody>
          <a:bodyPr wrap="square" lIns="0" tIns="0" rIns="0" bIns="0" rtlCol="0" anchor="t">
            <a:normAutofit/>
          </a:bodyPr>
          <a:lstStyle/>
          <a:p>
            <a:pPr marL="0" indent="0" algn="l">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So instead of choosing from 100,000 candidates, the model chooses from a tiny shortlist. The exact word picked depends on temperature, but it's guaranteed to come from a sensible top group.</a:t>
            </a:r>
            <a:endParaRPr lang="en-US" sz="1300" dirty="0"/>
          </a:p>
          <a:p>
            <a:pPr marL="0" indent="0" algn="l">
              <a:lnSpc>
                <a:spcPct val="133000"/>
              </a:lnSpc>
              <a:buNone/>
            </a:pPr>
            <a:r>
              <a:rPr lang="en-US" sz="1300" b="1" dirty="0">
                <a:solidFill>
                  <a:srgbClr val="454240"/>
                </a:solidFill>
                <a:latin typeface="DM Sans" pitchFamily="34" charset="0"/>
                <a:ea typeface="DM Sans" pitchFamily="34" charset="-122"/>
                <a:cs typeface="DM Sans" pitchFamily="34" charset="-120"/>
              </a:rPr>
              <a:t>Common values:</a:t>
            </a:r>
            <a:r>
              <a:rPr lang="en-US" sz="1300" dirty="0">
                <a:solidFill>
                  <a:srgbClr val="454240"/>
                </a:solidFill>
                <a:latin typeface="DM Sans" pitchFamily="34" charset="0"/>
                <a:ea typeface="DM Sans" pitchFamily="34" charset="-122"/>
                <a:cs typeface="DM Sans" pitchFamily="34" charset="-120"/>
              </a:rPr>
              <a:t> Top-K of 40 or 50 is typical.</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574" y="1040408"/>
            <a:ext cx="10868547"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Strategy 4: Top-P (Nucleus Sampling) — Adaptive Shortlist</a:t>
            </a:r>
            <a:endParaRPr lang="en-US" sz="3250" dirty="0"/>
          </a:p>
        </p:txBody>
      </p:sp>
      <p:sp>
        <p:nvSpPr>
          <p:cNvPr id="3" name="Text 1"/>
          <p:cNvSpPr/>
          <p:nvPr/>
        </p:nvSpPr>
        <p:spPr>
          <a:xfrm>
            <a:off x="661574" y="2404566"/>
            <a:ext cx="10868547" cy="979884"/>
          </a:xfrm>
          <a:prstGeom prst="rect">
            <a:avLst/>
          </a:prstGeom>
          <a:noFill/>
          <a:ln/>
        </p:spPr>
        <p:txBody>
          <a:bodyPr wrap="squar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Top-K has one weakness: sometimes only </a:t>
            </a:r>
            <a:r>
              <a:rPr lang="en-US" sz="1300" b="1" dirty="0">
                <a:solidFill>
                  <a:srgbClr val="454240"/>
                </a:solidFill>
                <a:latin typeface="DM Sans" pitchFamily="34" charset="0"/>
                <a:ea typeface="DM Sans" pitchFamily="34" charset="-122"/>
                <a:cs typeface="DM Sans" pitchFamily="34" charset="-120"/>
              </a:rPr>
              <a:t>2 words</a:t>
            </a:r>
            <a:r>
              <a:rPr lang="en-US" sz="1300" dirty="0">
                <a:solidFill>
                  <a:srgbClr val="454240"/>
                </a:solidFill>
                <a:latin typeface="DM Sans" pitchFamily="34" charset="0"/>
                <a:ea typeface="DM Sans" pitchFamily="34" charset="-122"/>
                <a:cs typeface="DM Sans" pitchFamily="34" charset="-120"/>
              </a:rPr>
              <a:t> are sensible, and sometimes </a:t>
            </a:r>
            <a:r>
              <a:rPr lang="en-US" sz="1300" b="1" dirty="0">
                <a:solidFill>
                  <a:srgbClr val="454240"/>
                </a:solidFill>
                <a:latin typeface="DM Sans" pitchFamily="34" charset="0"/>
                <a:ea typeface="DM Sans" pitchFamily="34" charset="-122"/>
                <a:cs typeface="DM Sans" pitchFamily="34" charset="-120"/>
              </a:rPr>
              <a:t>50 words</a:t>
            </a:r>
            <a:r>
              <a:rPr lang="en-US" sz="1300" dirty="0">
                <a:solidFill>
                  <a:srgbClr val="454240"/>
                </a:solidFill>
                <a:latin typeface="DM Sans" pitchFamily="34" charset="0"/>
                <a:ea typeface="DM Sans" pitchFamily="34" charset="-122"/>
                <a:cs typeface="DM Sans" pitchFamily="34" charset="-120"/>
              </a:rPr>
              <a:t> are all reasonable. A fixed K doesn't adapt.</a:t>
            </a:r>
            <a:endParaRPr lang="en-US" sz="1300" dirty="0"/>
          </a:p>
          <a:p>
            <a:pPr marL="0" indent="0" algn="l">
              <a:lnSpc>
                <a:spcPct val="133000"/>
              </a:lnSpc>
              <a:buNone/>
            </a:pPr>
            <a:r>
              <a:rPr lang="en-US" sz="1300" b="1" dirty="0">
                <a:solidFill>
                  <a:srgbClr val="454240"/>
                </a:solidFill>
                <a:latin typeface="DM Sans" pitchFamily="34" charset="0"/>
                <a:ea typeface="DM Sans" pitchFamily="34" charset="-122"/>
                <a:cs typeface="DM Sans" pitchFamily="34" charset="-120"/>
              </a:rPr>
              <a:t>Top-P</a:t>
            </a:r>
            <a:r>
              <a:rPr lang="en-US" sz="1300" dirty="0">
                <a:solidFill>
                  <a:srgbClr val="454240"/>
                </a:solidFill>
                <a:latin typeface="DM Sans" pitchFamily="34" charset="0"/>
                <a:ea typeface="DM Sans" pitchFamily="34" charset="-122"/>
                <a:cs typeface="DM Sans" pitchFamily="34" charset="-120"/>
              </a:rPr>
              <a:t> fixes this. Instead of "pick from the top 5," it says: </a:t>
            </a:r>
            <a:r>
              <a:rPr lang="en-US" sz="1300" i="1" dirty="0">
                <a:solidFill>
                  <a:srgbClr val="454240"/>
                </a:solidFill>
                <a:latin typeface="DM Sans" pitchFamily="34" charset="0"/>
                <a:ea typeface="DM Sans" pitchFamily="34" charset="-122"/>
                <a:cs typeface="DM Sans" pitchFamily="34" charset="-120"/>
              </a:rPr>
              <a:t>"Add up the top words until their combined probability reaches P. Pick from that group."</a:t>
            </a:r>
            <a:endParaRPr lang="en-US" sz="1300" dirty="0"/>
          </a:p>
        </p:txBody>
      </p:sp>
      <p:sp>
        <p:nvSpPr>
          <p:cNvPr id="4" name="Shape 2"/>
          <p:cNvSpPr/>
          <p:nvPr/>
        </p:nvSpPr>
        <p:spPr>
          <a:xfrm>
            <a:off x="661574" y="3570486"/>
            <a:ext cx="3512653" cy="1230213"/>
          </a:xfrm>
          <a:prstGeom prst="roundRect">
            <a:avLst>
              <a:gd name="adj" fmla="val 5647"/>
            </a:avLst>
          </a:prstGeom>
          <a:solidFill>
            <a:srgbClr val="F7EDD4"/>
          </a:solidFill>
          <a:ln w="6350">
            <a:solidFill>
              <a:srgbClr val="DDD3BA"/>
            </a:solidFill>
            <a:prstDash val="solid"/>
          </a:ln>
        </p:spPr>
      </p:sp>
      <p:sp>
        <p:nvSpPr>
          <p:cNvPr id="5" name="Text 3"/>
          <p:cNvSpPr/>
          <p:nvPr/>
        </p:nvSpPr>
        <p:spPr>
          <a:xfrm>
            <a:off x="833218" y="3742134"/>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Top-P = 0.9</a:t>
            </a:r>
            <a:endParaRPr lang="en-US" sz="1600" dirty="0"/>
          </a:p>
        </p:txBody>
      </p:sp>
      <p:sp>
        <p:nvSpPr>
          <p:cNvPr id="6" name="Text 4"/>
          <p:cNvSpPr/>
          <p:nvPr/>
        </p:nvSpPr>
        <p:spPr>
          <a:xfrm>
            <a:off x="833218" y="4099818"/>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Take the smallest set of top words whose probabilities sum to 90%.</a:t>
            </a:r>
            <a:endParaRPr lang="en-US" sz="1300" dirty="0"/>
          </a:p>
        </p:txBody>
      </p:sp>
      <p:sp>
        <p:nvSpPr>
          <p:cNvPr id="7" name="Shape 5"/>
          <p:cNvSpPr/>
          <p:nvPr/>
        </p:nvSpPr>
        <p:spPr>
          <a:xfrm>
            <a:off x="4339521" y="3570486"/>
            <a:ext cx="3512653" cy="1230213"/>
          </a:xfrm>
          <a:prstGeom prst="roundRect">
            <a:avLst>
              <a:gd name="adj" fmla="val 5647"/>
            </a:avLst>
          </a:prstGeom>
          <a:solidFill>
            <a:srgbClr val="F7EDD4"/>
          </a:solidFill>
          <a:ln w="6350">
            <a:solidFill>
              <a:srgbClr val="DDD3BA"/>
            </a:solidFill>
            <a:prstDash val="solid"/>
          </a:ln>
        </p:spPr>
      </p:sp>
      <p:sp>
        <p:nvSpPr>
          <p:cNvPr id="8" name="Text 6"/>
          <p:cNvSpPr/>
          <p:nvPr/>
        </p:nvSpPr>
        <p:spPr>
          <a:xfrm>
            <a:off x="4511165" y="3742134"/>
            <a:ext cx="2706322"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High confidence scenario</a:t>
            </a:r>
            <a:endParaRPr lang="en-US" sz="1600" dirty="0"/>
          </a:p>
        </p:txBody>
      </p:sp>
      <p:sp>
        <p:nvSpPr>
          <p:cNvPr id="9" name="Text 7"/>
          <p:cNvSpPr/>
          <p:nvPr/>
        </p:nvSpPr>
        <p:spPr>
          <a:xfrm>
            <a:off x="4511165" y="4099818"/>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If one word has 92% probability, the shortlist is just that one word.</a:t>
            </a:r>
            <a:endParaRPr lang="en-US" sz="1300" dirty="0"/>
          </a:p>
        </p:txBody>
      </p:sp>
      <p:sp>
        <p:nvSpPr>
          <p:cNvPr id="10" name="Shape 8"/>
          <p:cNvSpPr/>
          <p:nvPr/>
        </p:nvSpPr>
        <p:spPr>
          <a:xfrm>
            <a:off x="8017468" y="3570486"/>
            <a:ext cx="3512653" cy="1230213"/>
          </a:xfrm>
          <a:prstGeom prst="roundRect">
            <a:avLst>
              <a:gd name="adj" fmla="val 5647"/>
            </a:avLst>
          </a:prstGeom>
          <a:solidFill>
            <a:srgbClr val="F7EDD4"/>
          </a:solidFill>
          <a:ln w="6350">
            <a:solidFill>
              <a:srgbClr val="DDD3BA"/>
            </a:solidFill>
            <a:prstDash val="solid"/>
          </a:ln>
        </p:spPr>
      </p:sp>
      <p:sp>
        <p:nvSpPr>
          <p:cNvPr id="11" name="Text 9"/>
          <p:cNvSpPr/>
          <p:nvPr/>
        </p:nvSpPr>
        <p:spPr>
          <a:xfrm>
            <a:off x="8189112" y="3742134"/>
            <a:ext cx="2132257"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Spread-out scenario</a:t>
            </a:r>
            <a:endParaRPr lang="en-US" sz="1600" dirty="0"/>
          </a:p>
        </p:txBody>
      </p:sp>
      <p:sp>
        <p:nvSpPr>
          <p:cNvPr id="12" name="Text 10"/>
          <p:cNvSpPr/>
          <p:nvPr/>
        </p:nvSpPr>
        <p:spPr>
          <a:xfrm>
            <a:off x="8189112" y="4099818"/>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If probabilities are spread out, the shortlist might include 30 words.</a:t>
            </a:r>
            <a:endParaRPr lang="en-US" sz="1300" dirty="0"/>
          </a:p>
        </p:txBody>
      </p:sp>
      <p:sp>
        <p:nvSpPr>
          <p:cNvPr id="13" name="Shape 11"/>
          <p:cNvSpPr/>
          <p:nvPr/>
        </p:nvSpPr>
        <p:spPr>
          <a:xfrm>
            <a:off x="661574" y="4986734"/>
            <a:ext cx="10868547" cy="644823"/>
          </a:xfrm>
          <a:prstGeom prst="roundRect">
            <a:avLst>
              <a:gd name="adj" fmla="val 10773"/>
            </a:avLst>
          </a:prstGeom>
          <a:solidFill>
            <a:srgbClr val="B6FCB8"/>
          </a:solidFill>
          <a:ln/>
        </p:spPr>
      </p:sp>
      <p:pic>
        <p:nvPicPr>
          <p:cNvPr id="14"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5226447"/>
            <a:ext cx="206667" cy="165298"/>
          </a:xfrm>
          <a:prstGeom prst="rect">
            <a:avLst/>
          </a:prstGeom>
        </p:spPr>
      </p:pic>
      <p:sp>
        <p:nvSpPr>
          <p:cNvPr id="15" name="Text 12"/>
          <p:cNvSpPr/>
          <p:nvPr/>
        </p:nvSpPr>
        <p:spPr>
          <a:xfrm>
            <a:off x="1198830" y="5176838"/>
            <a:ext cx="10775581"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This is the </a:t>
            </a:r>
            <a:r>
              <a:rPr lang="en-US" sz="1300" b="1" dirty="0">
                <a:solidFill>
                  <a:srgbClr val="000000"/>
                </a:solidFill>
                <a:latin typeface="DM Sans" pitchFamily="34" charset="0"/>
                <a:ea typeface="DM Sans" pitchFamily="34" charset="-122"/>
                <a:cs typeface="DM Sans" pitchFamily="34" charset="-120"/>
              </a:rPr>
              <a:t>most popular strategy in modern LLMs</a:t>
            </a:r>
            <a:r>
              <a:rPr lang="en-US" sz="1300" dirty="0">
                <a:solidFill>
                  <a:srgbClr val="000000"/>
                </a:solidFill>
                <a:latin typeface="DM Sans" pitchFamily="34" charset="0"/>
                <a:ea typeface="DM Sans" pitchFamily="34" charset="-122"/>
                <a:cs typeface="DM Sans" pitchFamily="34" charset="-120"/>
              </a:rPr>
              <a:t> because it adapts to how confident the model is.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61574" y="1351657"/>
            <a:ext cx="7237430"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How They Combine in Practice</a:t>
            </a:r>
            <a:endParaRPr lang="en-US" sz="3250" dirty="0"/>
          </a:p>
        </p:txBody>
      </p:sp>
      <p:sp>
        <p:nvSpPr>
          <p:cNvPr id="3" name="Text 1"/>
          <p:cNvSpPr/>
          <p:nvPr/>
        </p:nvSpPr>
        <p:spPr>
          <a:xfrm>
            <a:off x="661574" y="2199084"/>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Real systems usually combine these strategies together:</a:t>
            </a:r>
            <a:endParaRPr lang="en-US" sz="1300" dirty="0"/>
          </a:p>
        </p:txBody>
      </p:sp>
      <p:sp>
        <p:nvSpPr>
          <p:cNvPr id="4" name="Shape 2"/>
          <p:cNvSpPr/>
          <p:nvPr/>
        </p:nvSpPr>
        <p:spPr>
          <a:xfrm>
            <a:off x="661574" y="2649736"/>
            <a:ext cx="10868547" cy="1124446"/>
          </a:xfrm>
          <a:prstGeom prst="roundRect">
            <a:avLst>
              <a:gd name="adj" fmla="val 6178"/>
            </a:avLst>
          </a:prstGeom>
          <a:solidFill>
            <a:srgbClr val="F2F0ED"/>
          </a:solidFill>
          <a:ln/>
        </p:spPr>
      </p:sp>
      <p:sp>
        <p:nvSpPr>
          <p:cNvPr id="5" name="Shape 3"/>
          <p:cNvSpPr/>
          <p:nvPr/>
        </p:nvSpPr>
        <p:spPr>
          <a:xfrm>
            <a:off x="653339" y="2649736"/>
            <a:ext cx="10885017" cy="1124446"/>
          </a:xfrm>
          <a:prstGeom prst="roundRect">
            <a:avLst>
              <a:gd name="adj" fmla="val 2206"/>
            </a:avLst>
          </a:prstGeom>
          <a:solidFill>
            <a:srgbClr val="F2F0ED"/>
          </a:solidFill>
          <a:ln/>
        </p:spPr>
      </p:sp>
      <p:sp>
        <p:nvSpPr>
          <p:cNvPr id="6" name="Text 4"/>
          <p:cNvSpPr/>
          <p:nvPr/>
        </p:nvSpPr>
        <p:spPr>
          <a:xfrm>
            <a:off x="860007" y="2815034"/>
            <a:ext cx="10471682"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highlight>
                  <a:srgbClr val="F2F0ED"/>
                </a:highlight>
                <a:latin typeface="Consolas" pitchFamily="34" charset="0"/>
                <a:ea typeface="Consolas" pitchFamily="34" charset="-122"/>
                <a:cs typeface="Consolas" pitchFamily="34" charset="-120"/>
              </a:rPr>
              <a:t>temperature = 0.7</a:t>
            </a:r>
            <a:endParaRPr lang="en-US" sz="1300" dirty="0"/>
          </a:p>
          <a:p>
            <a:pPr marL="0" indent="0" algn="l">
              <a:lnSpc>
                <a:spcPct val="133000"/>
              </a:lnSpc>
              <a:buNone/>
            </a:pPr>
            <a:r>
              <a:rPr lang="en-US" sz="1300" dirty="0">
                <a:solidFill>
                  <a:srgbClr val="454240"/>
                </a:solidFill>
                <a:highlight>
                  <a:srgbClr val="F2F0ED"/>
                </a:highlight>
                <a:latin typeface="Consolas" pitchFamily="34" charset="0"/>
                <a:ea typeface="Consolas" pitchFamily="34" charset="-122"/>
                <a:cs typeface="Consolas" pitchFamily="34" charset="-120"/>
              </a:rPr>
              <a:t>top_p = 0.9</a:t>
            </a:r>
            <a:endParaRPr lang="en-US" sz="1300" dirty="0"/>
          </a:p>
          <a:p>
            <a:pPr marL="0" indent="0" algn="l">
              <a:lnSpc>
                <a:spcPct val="133000"/>
              </a:lnSpc>
              <a:buNone/>
            </a:pPr>
            <a:r>
              <a:rPr lang="en-US" sz="1300" dirty="0">
                <a:solidFill>
                  <a:srgbClr val="454240"/>
                </a:solidFill>
                <a:highlight>
                  <a:srgbClr val="F2F0ED"/>
                </a:highlight>
                <a:latin typeface="Consolas" pitchFamily="34" charset="0"/>
                <a:ea typeface="Consolas" pitchFamily="34" charset="-122"/>
                <a:cs typeface="Consolas" pitchFamily="34" charset="-120"/>
              </a:rPr>
              <a:t>top_k = 40</a:t>
            </a:r>
            <a:endParaRPr lang="en-US" sz="1300" dirty="0"/>
          </a:p>
        </p:txBody>
      </p:sp>
      <p:sp>
        <p:nvSpPr>
          <p:cNvPr id="7" name="Text 5"/>
          <p:cNvSpPr/>
          <p:nvPr/>
        </p:nvSpPr>
        <p:spPr>
          <a:xfrm>
            <a:off x="661574" y="3960217"/>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Read it as: </a:t>
            </a:r>
            <a:r>
              <a:rPr lang="en-US" sz="1300" i="1" dirty="0">
                <a:solidFill>
                  <a:srgbClr val="454240"/>
                </a:solidFill>
                <a:latin typeface="DM Sans" pitchFamily="34" charset="0"/>
                <a:ea typeface="DM Sans" pitchFamily="34" charset="-122"/>
                <a:cs typeface="DM Sans" pitchFamily="34" charset="-120"/>
              </a:rPr>
              <a:t>"From the top 40 words whose combined probability covers 90% of the model's confidence, pick one — with a moderate level of randomness."</a:t>
            </a:r>
            <a:endParaRPr lang="en-US" sz="1300" dirty="0"/>
          </a:p>
        </p:txBody>
      </p:sp>
      <p:sp>
        <p:nvSpPr>
          <p:cNvPr id="8" name="Shape 6"/>
          <p:cNvSpPr/>
          <p:nvPr/>
        </p:nvSpPr>
        <p:spPr>
          <a:xfrm>
            <a:off x="661574" y="4675485"/>
            <a:ext cx="10868547" cy="644823"/>
          </a:xfrm>
          <a:prstGeom prst="roundRect">
            <a:avLst>
              <a:gd name="adj" fmla="val 10773"/>
            </a:avLst>
          </a:prstGeom>
          <a:solidFill>
            <a:srgbClr val="F3E4BF"/>
          </a:solidFill>
          <a:ln/>
        </p:spPr>
      </p:sp>
      <p:pic>
        <p:nvPicPr>
          <p:cNvPr id="9"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4915198"/>
            <a:ext cx="206667" cy="165298"/>
          </a:xfrm>
          <a:prstGeom prst="rect">
            <a:avLst/>
          </a:prstGeom>
        </p:spPr>
      </p:pic>
      <p:sp>
        <p:nvSpPr>
          <p:cNvPr id="10" name="Text 7"/>
          <p:cNvSpPr/>
          <p:nvPr/>
        </p:nvSpPr>
        <p:spPr>
          <a:xfrm>
            <a:off x="1198830" y="4865588"/>
            <a:ext cx="10775581" cy="264616"/>
          </a:xfrm>
          <a:prstGeom prst="rect">
            <a:avLst/>
          </a:prstGeom>
          <a:noFill/>
          <a:ln/>
        </p:spPr>
        <p:txBody>
          <a:bodyPr wrap="none" lIns="0" tIns="0" rIns="0" bIns="0" rtlCol="0" anchor="t"/>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The trade-off in one line:</a:t>
            </a:r>
            <a:r>
              <a:rPr lang="en-US" sz="1300" dirty="0">
                <a:solidFill>
                  <a:srgbClr val="000000"/>
                </a:solidFill>
                <a:latin typeface="DM Sans" pitchFamily="34" charset="0"/>
                <a:ea typeface="DM Sans" pitchFamily="34" charset="-122"/>
                <a:cs typeface="DM Sans" pitchFamily="34" charset="-120"/>
              </a:rPr>
              <a:t> lower temperature and tighter top-K/top-P = more accurate but boring; higher = more creative but riskier.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1574" y="500459"/>
            <a:ext cx="9965877" cy="465138"/>
          </a:xfrm>
          <a:prstGeom prst="rect">
            <a:avLst/>
          </a:prstGeom>
          <a:noFill/>
          <a:ln/>
        </p:spPr>
        <p:txBody>
          <a:bodyPr wrap="none" lIns="0" tIns="0" rIns="0" bIns="0" rtlCol="0" anchor="t"/>
          <a:lstStyle/>
          <a:p>
            <a:pPr marL="0" indent="0" algn="l">
              <a:lnSpc>
                <a:spcPct val="104000"/>
              </a:lnSpc>
              <a:buNone/>
            </a:pPr>
            <a:r>
              <a:rPr lang="en-US" sz="2900" dirty="0">
                <a:solidFill>
                  <a:srgbClr val="5C4E3D"/>
                </a:solidFill>
                <a:latin typeface="Libre Baskerville" pitchFamily="34" charset="0"/>
                <a:ea typeface="Libre Baskerville" pitchFamily="34" charset="-122"/>
                <a:cs typeface="Libre Baskerville" pitchFamily="34" charset="-120"/>
              </a:rPr>
              <a:t>Detokenisation: Turning Numbers Back into Text</a:t>
            </a:r>
            <a:endParaRPr lang="en-US" sz="2900" dirty="0"/>
          </a:p>
        </p:txBody>
      </p:sp>
      <p:sp>
        <p:nvSpPr>
          <p:cNvPr id="3" name="Text 1"/>
          <p:cNvSpPr/>
          <p:nvPr/>
        </p:nvSpPr>
        <p:spPr>
          <a:xfrm>
            <a:off x="661574" y="1233488"/>
            <a:ext cx="11478132"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Remember Part 1, Step 4 — the moment text became numbers and the model never saw text again? Now we have to reverse that.</a:t>
            </a:r>
            <a:endParaRPr lang="en-US" sz="1150" dirty="0"/>
          </a:p>
        </p:txBody>
      </p:sp>
      <p:sp>
        <p:nvSpPr>
          <p:cNvPr id="4" name="Text 2"/>
          <p:cNvSpPr/>
          <p:nvPr/>
        </p:nvSpPr>
        <p:spPr>
          <a:xfrm>
            <a:off x="661574" y="1660624"/>
            <a:ext cx="4771310" cy="232470"/>
          </a:xfrm>
          <a:prstGeom prst="rect">
            <a:avLst/>
          </a:prstGeom>
          <a:noFill/>
          <a:ln/>
        </p:spPr>
        <p:txBody>
          <a:bodyPr wrap="none" lIns="0" tIns="0" rIns="0" bIns="0" rtlCol="0" anchor="t"/>
          <a:lstStyle/>
          <a:p>
            <a:pPr marL="0" indent="0" algn="l">
              <a:lnSpc>
                <a:spcPct val="104000"/>
              </a:lnSpc>
              <a:buNone/>
            </a:pPr>
            <a:r>
              <a:rPr lang="en-US" sz="1450" dirty="0">
                <a:solidFill>
                  <a:srgbClr val="5C4E3D"/>
                </a:solidFill>
                <a:latin typeface="Libre Baskerville" pitchFamily="34" charset="0"/>
                <a:ea typeface="Libre Baskerville" pitchFamily="34" charset="-122"/>
                <a:cs typeface="Libre Baskerville" pitchFamily="34" charset="-120"/>
              </a:rPr>
              <a:t>The Model Outputs a Token ID, Not a Word</a:t>
            </a:r>
            <a:endParaRPr lang="en-US" sz="1450" dirty="0"/>
          </a:p>
        </p:txBody>
      </p:sp>
      <p:sp>
        <p:nvSpPr>
          <p:cNvPr id="5" name="Text 3"/>
          <p:cNvSpPr/>
          <p:nvPr/>
        </p:nvSpPr>
        <p:spPr>
          <a:xfrm>
            <a:off x="661574" y="2094012"/>
            <a:ext cx="10868547"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When the model picks its next word, it doesn't output the word "Your." It outputs a </a:t>
            </a:r>
            <a:r>
              <a:rPr lang="en-US" sz="1150" b="1" dirty="0">
                <a:solidFill>
                  <a:srgbClr val="454240"/>
                </a:solidFill>
                <a:latin typeface="DM Sans" pitchFamily="34" charset="0"/>
                <a:ea typeface="DM Sans" pitchFamily="34" charset="-122"/>
                <a:cs typeface="DM Sans" pitchFamily="34" charset="-120"/>
              </a:rPr>
              <a:t>token ID</a:t>
            </a:r>
            <a:r>
              <a:rPr lang="en-US" sz="1150" dirty="0">
                <a:solidFill>
                  <a:srgbClr val="454240"/>
                </a:solidFill>
                <a:latin typeface="DM Sans" pitchFamily="34" charset="0"/>
                <a:ea typeface="DM Sans" pitchFamily="34" charset="-122"/>
                <a:cs typeface="DM Sans" pitchFamily="34" charset="-120"/>
              </a:rPr>
              <a:t> — a number, like 7927. That number has to be looked up in the same fixed vocabulary dictionary from Part 1, and converted back to the text fragment it represents.</a:t>
            </a:r>
            <a:endParaRPr lang="en-US" sz="1150" dirty="0"/>
          </a:p>
        </p:txBody>
      </p:sp>
      <p:sp>
        <p:nvSpPr>
          <p:cNvPr id="6" name="Shape 4"/>
          <p:cNvSpPr/>
          <p:nvPr/>
        </p:nvSpPr>
        <p:spPr>
          <a:xfrm>
            <a:off x="661574" y="2697163"/>
            <a:ext cx="10868547" cy="3660378"/>
          </a:xfrm>
          <a:prstGeom prst="roundRect">
            <a:avLst>
              <a:gd name="adj" fmla="val 1708"/>
            </a:avLst>
          </a:prstGeom>
          <a:noFill/>
          <a:ln w="6350">
            <a:solidFill>
              <a:srgbClr val="000000">
                <a:alpha val="8000"/>
              </a:srgbClr>
            </a:solidFill>
            <a:prstDash val="solid"/>
          </a:ln>
        </p:spPr>
      </p:sp>
      <p:sp>
        <p:nvSpPr>
          <p:cNvPr id="7" name="Text 5"/>
          <p:cNvSpPr/>
          <p:nvPr/>
        </p:nvSpPr>
        <p:spPr>
          <a:xfrm>
            <a:off x="816748" y="2790230"/>
            <a:ext cx="5736685" cy="226219"/>
          </a:xfrm>
          <a:prstGeom prst="rect">
            <a:avLst/>
          </a:prstGeom>
          <a:noFill/>
          <a:ln/>
        </p:spPr>
        <p:txBody>
          <a:bodyPr wrap="none" lIns="0" tIns="0" rIns="0" bIns="0" rtlCol="0" anchor="t"/>
          <a:lstStyle/>
          <a:p>
            <a:pPr marL="0" indent="0" algn="l">
              <a:lnSpc>
                <a:spcPct val="127000"/>
              </a:lnSpc>
              <a:buNone/>
            </a:pPr>
            <a:r>
              <a:rPr lang="en-US" sz="1150" b="1" dirty="0">
                <a:solidFill>
                  <a:srgbClr val="454240"/>
                </a:solidFill>
                <a:latin typeface="DM Sans" pitchFamily="34" charset="0"/>
                <a:ea typeface="DM Sans" pitchFamily="34" charset="-122"/>
                <a:cs typeface="DM Sans" pitchFamily="34" charset="-120"/>
              </a:rPr>
              <a:t>Token ID</a:t>
            </a:r>
            <a:endParaRPr lang="en-US" sz="1150" dirty="0"/>
          </a:p>
        </p:txBody>
      </p:sp>
      <p:sp>
        <p:nvSpPr>
          <p:cNvPr id="8" name="Text 6"/>
          <p:cNvSpPr/>
          <p:nvPr/>
        </p:nvSpPr>
        <p:spPr>
          <a:xfrm>
            <a:off x="6247847" y="2790230"/>
            <a:ext cx="5736685" cy="226219"/>
          </a:xfrm>
          <a:prstGeom prst="rect">
            <a:avLst/>
          </a:prstGeom>
          <a:noFill/>
          <a:ln/>
        </p:spPr>
        <p:txBody>
          <a:bodyPr wrap="none" lIns="0" tIns="0" rIns="0" bIns="0" rtlCol="0" anchor="t"/>
          <a:lstStyle/>
          <a:p>
            <a:pPr marL="0" indent="0" algn="l">
              <a:lnSpc>
                <a:spcPct val="127000"/>
              </a:lnSpc>
              <a:buNone/>
            </a:pPr>
            <a:r>
              <a:rPr lang="en-US" sz="1150" b="1" dirty="0">
                <a:solidFill>
                  <a:srgbClr val="454240"/>
                </a:solidFill>
                <a:latin typeface="DM Sans" pitchFamily="34" charset="0"/>
                <a:ea typeface="DM Sans" pitchFamily="34" charset="-122"/>
                <a:cs typeface="DM Sans" pitchFamily="34" charset="-120"/>
              </a:rPr>
              <a:t>Text piece</a:t>
            </a:r>
            <a:endParaRPr lang="en-US" sz="1150" dirty="0"/>
          </a:p>
        </p:txBody>
      </p:sp>
      <p:sp>
        <p:nvSpPr>
          <p:cNvPr id="9" name="Text 7"/>
          <p:cNvSpPr/>
          <p:nvPr/>
        </p:nvSpPr>
        <p:spPr>
          <a:xfrm>
            <a:off x="816748" y="3196233"/>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7927</a:t>
            </a:r>
            <a:endParaRPr lang="en-US" sz="1150" dirty="0"/>
          </a:p>
        </p:txBody>
      </p:sp>
      <p:sp>
        <p:nvSpPr>
          <p:cNvPr id="10" name="Text 8"/>
          <p:cNvSpPr/>
          <p:nvPr/>
        </p:nvSpPr>
        <p:spPr>
          <a:xfrm>
            <a:off x="6247847" y="3196233"/>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"Your"</a:t>
            </a:r>
            <a:endParaRPr lang="en-US" sz="1150" dirty="0"/>
          </a:p>
        </p:txBody>
      </p:sp>
      <p:sp>
        <p:nvSpPr>
          <p:cNvPr id="11" name="Text 9"/>
          <p:cNvSpPr/>
          <p:nvPr/>
        </p:nvSpPr>
        <p:spPr>
          <a:xfrm>
            <a:off x="816748" y="3602236"/>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19212</a:t>
            </a:r>
            <a:endParaRPr lang="en-US" sz="1150" dirty="0"/>
          </a:p>
        </p:txBody>
      </p:sp>
      <p:sp>
        <p:nvSpPr>
          <p:cNvPr id="12" name="Text 10"/>
          <p:cNvSpPr/>
          <p:nvPr/>
        </p:nvSpPr>
        <p:spPr>
          <a:xfrm>
            <a:off x="6247847" y="3602236"/>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 portfolio"</a:t>
            </a:r>
            <a:endParaRPr lang="en-US" sz="1150" dirty="0"/>
          </a:p>
        </p:txBody>
      </p:sp>
      <p:sp>
        <p:nvSpPr>
          <p:cNvPr id="13" name="Text 11"/>
          <p:cNvSpPr/>
          <p:nvPr/>
        </p:nvSpPr>
        <p:spPr>
          <a:xfrm>
            <a:off x="816748" y="4008239"/>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706</a:t>
            </a:r>
            <a:endParaRPr lang="en-US" sz="1150" dirty="0"/>
          </a:p>
        </p:txBody>
      </p:sp>
      <p:sp>
        <p:nvSpPr>
          <p:cNvPr id="14" name="Text 12"/>
          <p:cNvSpPr/>
          <p:nvPr/>
        </p:nvSpPr>
        <p:spPr>
          <a:xfrm>
            <a:off x="6247847" y="4008239"/>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 has"</a:t>
            </a:r>
            <a:endParaRPr lang="en-US" sz="1150" dirty="0"/>
          </a:p>
        </p:txBody>
      </p:sp>
      <p:sp>
        <p:nvSpPr>
          <p:cNvPr id="15" name="Text 13"/>
          <p:cNvSpPr/>
          <p:nvPr/>
        </p:nvSpPr>
        <p:spPr>
          <a:xfrm>
            <a:off x="816748" y="4414242"/>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220</a:t>
            </a:r>
            <a:endParaRPr lang="en-US" sz="1150" dirty="0"/>
          </a:p>
        </p:txBody>
      </p:sp>
      <p:sp>
        <p:nvSpPr>
          <p:cNvPr id="16" name="Text 14"/>
          <p:cNvSpPr/>
          <p:nvPr/>
        </p:nvSpPr>
        <p:spPr>
          <a:xfrm>
            <a:off x="6247847" y="4414242"/>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 "</a:t>
            </a:r>
            <a:endParaRPr lang="en-US" sz="1150" dirty="0"/>
          </a:p>
        </p:txBody>
      </p:sp>
      <p:sp>
        <p:nvSpPr>
          <p:cNvPr id="17" name="Text 15"/>
          <p:cNvSpPr/>
          <p:nvPr/>
        </p:nvSpPr>
        <p:spPr>
          <a:xfrm>
            <a:off x="816748" y="4820245"/>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868</a:t>
            </a:r>
            <a:endParaRPr lang="en-US" sz="1150" dirty="0"/>
          </a:p>
        </p:txBody>
      </p:sp>
      <p:sp>
        <p:nvSpPr>
          <p:cNvPr id="18" name="Text 16"/>
          <p:cNvSpPr/>
          <p:nvPr/>
        </p:nvSpPr>
        <p:spPr>
          <a:xfrm>
            <a:off x="6247847" y="4820245"/>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"12"</a:t>
            </a:r>
            <a:endParaRPr lang="en-US" sz="1150" dirty="0"/>
          </a:p>
        </p:txBody>
      </p:sp>
      <p:sp>
        <p:nvSpPr>
          <p:cNvPr id="19" name="Text 17"/>
          <p:cNvSpPr/>
          <p:nvPr/>
        </p:nvSpPr>
        <p:spPr>
          <a:xfrm>
            <a:off x="816748" y="5226248"/>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13</a:t>
            </a:r>
            <a:endParaRPr lang="en-US" sz="1150" dirty="0"/>
          </a:p>
        </p:txBody>
      </p:sp>
      <p:sp>
        <p:nvSpPr>
          <p:cNvPr id="20" name="Text 18"/>
          <p:cNvSpPr/>
          <p:nvPr/>
        </p:nvSpPr>
        <p:spPr>
          <a:xfrm>
            <a:off x="6247847" y="5226248"/>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a:t>
            </a:r>
            <a:endParaRPr lang="en-US" sz="1150" dirty="0"/>
          </a:p>
        </p:txBody>
      </p:sp>
      <p:sp>
        <p:nvSpPr>
          <p:cNvPr id="21" name="Text 19"/>
          <p:cNvSpPr/>
          <p:nvPr/>
        </p:nvSpPr>
        <p:spPr>
          <a:xfrm>
            <a:off x="816748" y="5632252"/>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20</a:t>
            </a:r>
            <a:endParaRPr lang="en-US" sz="1150" dirty="0"/>
          </a:p>
        </p:txBody>
      </p:sp>
      <p:sp>
        <p:nvSpPr>
          <p:cNvPr id="22" name="Text 20"/>
          <p:cNvSpPr/>
          <p:nvPr/>
        </p:nvSpPr>
        <p:spPr>
          <a:xfrm>
            <a:off x="6247847" y="5632252"/>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"4"</a:t>
            </a:r>
            <a:endParaRPr lang="en-US" sz="1150" dirty="0"/>
          </a:p>
        </p:txBody>
      </p:sp>
      <p:sp>
        <p:nvSpPr>
          <p:cNvPr id="23" name="Text 21"/>
          <p:cNvSpPr/>
          <p:nvPr/>
        </p:nvSpPr>
        <p:spPr>
          <a:xfrm>
            <a:off x="816748" y="6038255"/>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4</a:t>
            </a:r>
            <a:endParaRPr lang="en-US" sz="1150" dirty="0"/>
          </a:p>
        </p:txBody>
      </p:sp>
      <p:sp>
        <p:nvSpPr>
          <p:cNvPr id="24" name="Text 22"/>
          <p:cNvSpPr/>
          <p:nvPr/>
        </p:nvSpPr>
        <p:spPr>
          <a:xfrm>
            <a:off x="6247847" y="6038255"/>
            <a:ext cx="5736685"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61574" y="714970"/>
            <a:ext cx="7993160"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Why This Looks Weird Sometimes</a:t>
            </a:r>
            <a:endParaRPr lang="en-US" sz="3250" dirty="0"/>
          </a:p>
        </p:txBody>
      </p:sp>
      <p:sp>
        <p:nvSpPr>
          <p:cNvPr id="3" name="Text 1"/>
          <p:cNvSpPr/>
          <p:nvPr/>
        </p:nvSpPr>
        <p:spPr>
          <a:xfrm>
            <a:off x="661574" y="1562398"/>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Recall: tokens aren't always whole words. So when the model is producing an answer, it might output tokens like:</a:t>
            </a:r>
            <a:endParaRPr lang="en-US" sz="1300" dirty="0"/>
          </a:p>
        </p:txBody>
      </p:sp>
      <p:sp>
        <p:nvSpPr>
          <p:cNvPr id="4" name="Shape 2"/>
          <p:cNvSpPr/>
          <p:nvPr/>
        </p:nvSpPr>
        <p:spPr>
          <a:xfrm>
            <a:off x="661574" y="2013049"/>
            <a:ext cx="10868547" cy="595213"/>
          </a:xfrm>
          <a:prstGeom prst="roundRect">
            <a:avLst>
              <a:gd name="adj" fmla="val 11670"/>
            </a:avLst>
          </a:prstGeom>
          <a:solidFill>
            <a:srgbClr val="F2F0ED"/>
          </a:solidFill>
          <a:ln/>
        </p:spPr>
      </p:sp>
      <p:sp>
        <p:nvSpPr>
          <p:cNvPr id="5" name="Shape 3"/>
          <p:cNvSpPr/>
          <p:nvPr/>
        </p:nvSpPr>
        <p:spPr>
          <a:xfrm>
            <a:off x="653339" y="2013049"/>
            <a:ext cx="10885017" cy="595213"/>
          </a:xfrm>
          <a:prstGeom prst="roundRect">
            <a:avLst>
              <a:gd name="adj" fmla="val 4168"/>
            </a:avLst>
          </a:prstGeom>
          <a:solidFill>
            <a:srgbClr val="F2F0ED"/>
          </a:solidFill>
          <a:ln/>
        </p:spPr>
      </p:sp>
      <p:sp>
        <p:nvSpPr>
          <p:cNvPr id="6" name="Text 4"/>
          <p:cNvSpPr/>
          <p:nvPr/>
        </p:nvSpPr>
        <p:spPr>
          <a:xfrm>
            <a:off x="860007" y="2178348"/>
            <a:ext cx="11081267" cy="264616"/>
          </a:xfrm>
          <a:prstGeom prst="rect">
            <a:avLst/>
          </a:prstGeom>
          <a:noFill/>
          <a:ln/>
        </p:spPr>
        <p:txBody>
          <a:bodyPr wrap="none" lIns="0" tIns="0" rIns="0" bIns="0" rtlCol="0" anchor="t"/>
          <a:lstStyle/>
          <a:p>
            <a:pPr marL="0" indent="0" algn="l">
              <a:lnSpc>
                <a:spcPct val="133000"/>
              </a:lnSpc>
              <a:buNone/>
            </a:pPr>
            <a:r>
              <a:rPr lang="en-US" sz="1300" dirty="0">
                <a:solidFill>
                  <a:srgbClr val="032F62"/>
                </a:solidFill>
                <a:highlight>
                  <a:srgbClr val="F2F0ED"/>
                </a:highlight>
                <a:latin typeface="Consolas" pitchFamily="34" charset="0"/>
                <a:ea typeface="Consolas" pitchFamily="34" charset="-122"/>
                <a:cs typeface="Consolas" pitchFamily="34" charset="-120"/>
              </a:rPr>
              <a:t>"Your" · " portfolio" · " has" · " 12" · "." · "4" · "%" · " exposure" · " to" · " emerging" · "-" · "market" · " equities" · "."</a:t>
            </a:r>
            <a:endParaRPr lang="en-US" sz="1300" dirty="0"/>
          </a:p>
        </p:txBody>
      </p:sp>
      <p:sp>
        <p:nvSpPr>
          <p:cNvPr id="7" name="Text 5"/>
          <p:cNvSpPr/>
          <p:nvPr/>
        </p:nvSpPr>
        <p:spPr>
          <a:xfrm>
            <a:off x="661574" y="2794298"/>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Strung together, that becomes:</a:t>
            </a:r>
            <a:endParaRPr lang="en-US" sz="1300" dirty="0"/>
          </a:p>
        </p:txBody>
      </p:sp>
      <p:sp>
        <p:nvSpPr>
          <p:cNvPr id="8" name="Text 6"/>
          <p:cNvSpPr/>
          <p:nvPr/>
        </p:nvSpPr>
        <p:spPr>
          <a:xfrm>
            <a:off x="909615" y="3430984"/>
            <a:ext cx="11230091"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"Your portfolio has 12.4% exposure to emerging-market equities."</a:t>
            </a:r>
            <a:endParaRPr lang="en-US" sz="1300" dirty="0"/>
          </a:p>
        </p:txBody>
      </p:sp>
      <p:sp>
        <p:nvSpPr>
          <p:cNvPr id="9" name="Text 7"/>
          <p:cNvSpPr/>
          <p:nvPr/>
        </p:nvSpPr>
        <p:spPr>
          <a:xfrm>
            <a:off x="661574" y="4067671"/>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Notice the percentage 12.4% came out as </a:t>
            </a:r>
            <a:r>
              <a:rPr lang="en-US" sz="1300" b="1" dirty="0">
                <a:solidFill>
                  <a:srgbClr val="454240"/>
                </a:solidFill>
                <a:latin typeface="DM Sans" pitchFamily="34" charset="0"/>
                <a:ea typeface="DM Sans" pitchFamily="34" charset="-122"/>
                <a:cs typeface="DM Sans" pitchFamily="34" charset="-120"/>
              </a:rPr>
              <a:t>four separate tokens</a:t>
            </a:r>
            <a:r>
              <a:rPr lang="en-US" sz="1300" dirty="0">
                <a:solidFill>
                  <a:srgbClr val="454240"/>
                </a:solidFill>
                <a:latin typeface="DM Sans" pitchFamily="34" charset="0"/>
                <a:ea typeface="DM Sans" pitchFamily="34" charset="-122"/>
                <a:cs typeface="DM Sans" pitchFamily="34" charset="-120"/>
              </a:rPr>
              <a:t> (" 12", ".", "4", "%"). The model assembled the number piece by piece — it doesn't "know" numbers as numbers, it just predicts each piece in sequence.</a:t>
            </a:r>
            <a:endParaRPr lang="en-US" sz="1300" dirty="0"/>
          </a:p>
        </p:txBody>
      </p:sp>
      <p:sp>
        <p:nvSpPr>
          <p:cNvPr id="10" name="Shape 8"/>
          <p:cNvSpPr/>
          <p:nvPr/>
        </p:nvSpPr>
        <p:spPr>
          <a:xfrm>
            <a:off x="661574" y="4782939"/>
            <a:ext cx="10868547" cy="1174055"/>
          </a:xfrm>
          <a:prstGeom prst="roundRect">
            <a:avLst>
              <a:gd name="adj" fmla="val 5917"/>
            </a:avLst>
          </a:prstGeom>
          <a:solidFill>
            <a:srgbClr val="FCF2B5"/>
          </a:solidFill>
          <a:ln/>
        </p:spPr>
      </p:sp>
      <p:pic>
        <p:nvPicPr>
          <p:cNvPr id="11"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5022652"/>
            <a:ext cx="206667" cy="165298"/>
          </a:xfrm>
          <a:prstGeom prst="rect">
            <a:avLst/>
          </a:prstGeom>
        </p:spPr>
      </p:pic>
      <p:sp>
        <p:nvSpPr>
          <p:cNvPr id="12" name="Text 9"/>
          <p:cNvSpPr/>
          <p:nvPr/>
        </p:nvSpPr>
        <p:spPr>
          <a:xfrm>
            <a:off x="1198830" y="4973042"/>
            <a:ext cx="10165996" cy="793849"/>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This is also why LLMs sometimes make arithmetic mistakes.</a:t>
            </a:r>
            <a:r>
              <a:rPr lang="en-US" sz="1300" dirty="0">
                <a:solidFill>
                  <a:srgbClr val="000000"/>
                </a:solidFill>
                <a:latin typeface="DM Sans" pitchFamily="34" charset="0"/>
                <a:ea typeface="DM Sans" pitchFamily="34" charset="-122"/>
                <a:cs typeface="DM Sans" pitchFamily="34" charset="-120"/>
              </a:rPr>
              <a:t> They're not calculating — they're predicting the next digit-token based on patterns. Ask one to multiply two large numbers and it might confidently produce a wrong answer because it's pattern-matching, not computing.</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61574" y="622796"/>
            <a:ext cx="6045843"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Streaming vs. All-at-Once</a:t>
            </a:r>
            <a:endParaRPr lang="en-US" sz="3250" dirty="0"/>
          </a:p>
        </p:txBody>
      </p:sp>
      <p:sp>
        <p:nvSpPr>
          <p:cNvPr id="3" name="Text 1"/>
          <p:cNvSpPr/>
          <p:nvPr/>
        </p:nvSpPr>
        <p:spPr>
          <a:xfrm>
            <a:off x="661574" y="1205607"/>
            <a:ext cx="5065983"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Two Ways to Send the Answer Back to You</a:t>
            </a:r>
            <a:endParaRPr lang="en-US" sz="1600" dirty="0"/>
          </a:p>
        </p:txBody>
      </p:sp>
      <p:sp>
        <p:nvSpPr>
          <p:cNvPr id="4" name="Text 2"/>
          <p:cNvSpPr/>
          <p:nvPr/>
        </p:nvSpPr>
        <p:spPr>
          <a:xfrm>
            <a:off x="661574" y="1712119"/>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Once the model starts producing tokens, the system has a choice about how to deliver them to your screen.</a:t>
            </a:r>
            <a:endParaRPr lang="en-US" sz="1300" dirty="0"/>
          </a:p>
        </p:txBody>
      </p:sp>
      <p:sp>
        <p:nvSpPr>
          <p:cNvPr id="5" name="Text 3"/>
          <p:cNvSpPr/>
          <p:nvPr/>
        </p:nvSpPr>
        <p:spPr>
          <a:xfrm>
            <a:off x="661574" y="2224782"/>
            <a:ext cx="6122636"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Streaming (the default in ChatGPT, Claude, Gemini)</a:t>
            </a:r>
            <a:endParaRPr lang="en-US" sz="1600" dirty="0"/>
          </a:p>
        </p:txBody>
      </p:sp>
      <p:sp>
        <p:nvSpPr>
          <p:cNvPr id="6" name="Text 4"/>
          <p:cNvSpPr/>
          <p:nvPr/>
        </p:nvSpPr>
        <p:spPr>
          <a:xfrm>
            <a:off x="661574" y="2731294"/>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Each token is sent to you </a:t>
            </a:r>
            <a:r>
              <a:rPr lang="en-US" sz="1300" b="1" dirty="0">
                <a:solidFill>
                  <a:srgbClr val="454240"/>
                </a:solidFill>
                <a:latin typeface="DM Sans" pitchFamily="34" charset="0"/>
                <a:ea typeface="DM Sans" pitchFamily="34" charset="-122"/>
                <a:cs typeface="DM Sans" pitchFamily="34" charset="-120"/>
              </a:rPr>
              <a:t>the moment it's produced</a:t>
            </a:r>
            <a:r>
              <a:rPr lang="en-US" sz="1300" dirty="0">
                <a:solidFill>
                  <a:srgbClr val="454240"/>
                </a:solidFill>
                <a:latin typeface="DM Sans" pitchFamily="34" charset="0"/>
                <a:ea typeface="DM Sans" pitchFamily="34" charset="-122"/>
                <a:cs typeface="DM Sans" pitchFamily="34" charset="-120"/>
              </a:rPr>
              <a:t>. You see the answer appear word-by-word, almost like watching someone type in real time.</a:t>
            </a:r>
            <a:endParaRPr lang="en-US" sz="13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574" y="3446562"/>
            <a:ext cx="413434" cy="413445"/>
          </a:xfrm>
          <a:prstGeom prst="rect">
            <a:avLst/>
          </a:prstGeom>
        </p:spPr>
      </p:pic>
      <p:sp>
        <p:nvSpPr>
          <p:cNvPr id="8" name="Text 5"/>
          <p:cNvSpPr/>
          <p:nvPr/>
        </p:nvSpPr>
        <p:spPr>
          <a:xfrm>
            <a:off x="661574" y="4066679"/>
            <a:ext cx="2774781"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Start reading immediately</a:t>
            </a:r>
            <a:endParaRPr lang="en-US" sz="1600" dirty="0"/>
          </a:p>
        </p:txBody>
      </p:sp>
      <p:sp>
        <p:nvSpPr>
          <p:cNvPr id="9" name="Text 6"/>
          <p:cNvSpPr/>
          <p:nvPr/>
        </p:nvSpPr>
        <p:spPr>
          <a:xfrm>
            <a:off x="661574" y="4424362"/>
            <a:ext cx="348507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No waiting — you begin reading as soon as the first word appears.</a:t>
            </a:r>
            <a:endParaRPr lang="en-US" sz="130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53312" y="3446562"/>
            <a:ext cx="413434" cy="413445"/>
          </a:xfrm>
          <a:prstGeom prst="rect">
            <a:avLst/>
          </a:prstGeom>
        </p:spPr>
      </p:pic>
      <p:sp>
        <p:nvSpPr>
          <p:cNvPr id="11" name="Text 7"/>
          <p:cNvSpPr/>
          <p:nvPr/>
        </p:nvSpPr>
        <p:spPr>
          <a:xfrm>
            <a:off x="4353312" y="4066679"/>
            <a:ext cx="2722891"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Feels alive and responsive</a:t>
            </a:r>
            <a:endParaRPr lang="en-US" sz="1600" dirty="0"/>
          </a:p>
        </p:txBody>
      </p:sp>
      <p:sp>
        <p:nvSpPr>
          <p:cNvPr id="12" name="Text 8"/>
          <p:cNvSpPr/>
          <p:nvPr/>
        </p:nvSpPr>
        <p:spPr>
          <a:xfrm>
            <a:off x="4353312" y="4424362"/>
            <a:ext cx="348507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experience feels dynamic and engaging, like a real conversation.</a:t>
            </a:r>
            <a:endParaRPr lang="en-US" sz="13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5050" y="3446562"/>
            <a:ext cx="413434" cy="413445"/>
          </a:xfrm>
          <a:prstGeom prst="rect">
            <a:avLst/>
          </a:prstGeom>
        </p:spPr>
      </p:pic>
      <p:sp>
        <p:nvSpPr>
          <p:cNvPr id="14" name="Text 9"/>
          <p:cNvSpPr/>
          <p:nvPr/>
        </p:nvSpPr>
        <p:spPr>
          <a:xfrm>
            <a:off x="8045050" y="4066679"/>
            <a:ext cx="2119458"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Stop early if needed</a:t>
            </a:r>
            <a:endParaRPr lang="en-US" sz="1600" dirty="0"/>
          </a:p>
        </p:txBody>
      </p:sp>
      <p:sp>
        <p:nvSpPr>
          <p:cNvPr id="15" name="Text 10"/>
          <p:cNvSpPr/>
          <p:nvPr/>
        </p:nvSpPr>
        <p:spPr>
          <a:xfrm>
            <a:off x="8045050" y="4424362"/>
            <a:ext cx="348507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If the answer is going wrong, you can stop it early and save time.</a:t>
            </a:r>
            <a:endParaRPr lang="en-US" sz="1300" dirty="0"/>
          </a:p>
        </p:txBody>
      </p:sp>
      <p:sp>
        <p:nvSpPr>
          <p:cNvPr id="16" name="Shape 11"/>
          <p:cNvSpPr/>
          <p:nvPr/>
        </p:nvSpPr>
        <p:spPr>
          <a:xfrm>
            <a:off x="661574" y="5139630"/>
            <a:ext cx="10868547" cy="909439"/>
          </a:xfrm>
          <a:prstGeom prst="roundRect">
            <a:avLst>
              <a:gd name="adj" fmla="val 7638"/>
            </a:avLst>
          </a:prstGeom>
          <a:solidFill>
            <a:srgbClr val="B6D6FC"/>
          </a:solidFill>
          <a:ln/>
        </p:spPr>
      </p:sp>
      <p:pic>
        <p:nvPicPr>
          <p:cNvPr id="17" name="Image 3" descr="preencode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26868" y="5379343"/>
            <a:ext cx="206667" cy="165298"/>
          </a:xfrm>
          <a:prstGeom prst="rect">
            <a:avLst/>
          </a:prstGeom>
        </p:spPr>
      </p:pic>
      <p:sp>
        <p:nvSpPr>
          <p:cNvPr id="18" name="Text 12"/>
          <p:cNvSpPr/>
          <p:nvPr/>
        </p:nvSpPr>
        <p:spPr>
          <a:xfrm>
            <a:off x="1198830" y="5329734"/>
            <a:ext cx="10165996"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Under the hood:</a:t>
            </a:r>
            <a:r>
              <a:rPr lang="en-US" sz="1300" dirty="0">
                <a:solidFill>
                  <a:srgbClr val="000000"/>
                </a:solidFill>
                <a:latin typeface="DM Sans" pitchFamily="34" charset="0"/>
                <a:ea typeface="DM Sans" pitchFamily="34" charset="-122"/>
                <a:cs typeface="DM Sans" pitchFamily="34" charset="-120"/>
              </a:rPr>
              <a:t> Each token is sent over the internet as soon as the GPU produces it. The connection stays open the whole time, like a phone call rather than a letter.</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4571886" cy="6858000"/>
          </a:xfrm>
          <a:prstGeom prst="rect">
            <a:avLst/>
          </a:prstGeom>
        </p:spPr>
      </p:pic>
      <p:sp>
        <p:nvSpPr>
          <p:cNvPr id="3" name="Text 0"/>
          <p:cNvSpPr/>
          <p:nvPr/>
        </p:nvSpPr>
        <p:spPr>
          <a:xfrm>
            <a:off x="5233360" y="1176834"/>
            <a:ext cx="6035921"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All-at-Once (Batch Mode)</a:t>
            </a:r>
            <a:endParaRPr lang="en-US" sz="3250" dirty="0"/>
          </a:p>
        </p:txBody>
      </p:sp>
      <p:sp>
        <p:nvSpPr>
          <p:cNvPr id="4" name="Text 1"/>
          <p:cNvSpPr/>
          <p:nvPr/>
        </p:nvSpPr>
        <p:spPr>
          <a:xfrm>
            <a:off x="5233360" y="1941612"/>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system waits until the </a:t>
            </a:r>
            <a:r>
              <a:rPr lang="en-US" sz="1300" b="1" dirty="0">
                <a:solidFill>
                  <a:srgbClr val="454240"/>
                </a:solidFill>
                <a:latin typeface="DM Sans" pitchFamily="34" charset="0"/>
                <a:ea typeface="DM Sans" pitchFamily="34" charset="-122"/>
                <a:cs typeface="DM Sans" pitchFamily="34" charset="-120"/>
              </a:rPr>
              <a:t>entire answer is finished</a:t>
            </a:r>
            <a:r>
              <a:rPr lang="en-US" sz="1300" dirty="0">
                <a:solidFill>
                  <a:srgbClr val="454240"/>
                </a:solidFill>
                <a:latin typeface="DM Sans" pitchFamily="34" charset="0"/>
                <a:ea typeface="DM Sans" pitchFamily="34" charset="-122"/>
                <a:cs typeface="DM Sans" pitchFamily="34" charset="-120"/>
              </a:rPr>
              <a:t>, then sends it as one big chunk.</a:t>
            </a:r>
            <a:endParaRPr lang="en-US" sz="1300" dirty="0"/>
          </a:p>
        </p:txBody>
      </p:sp>
      <p:sp>
        <p:nvSpPr>
          <p:cNvPr id="5" name="Text 2"/>
          <p:cNvSpPr/>
          <p:nvPr/>
        </p:nvSpPr>
        <p:spPr>
          <a:xfrm>
            <a:off x="5233360" y="2718891"/>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When it's used:</a:t>
            </a:r>
            <a:endParaRPr lang="en-US" sz="1600" dirty="0"/>
          </a:p>
        </p:txBody>
      </p:sp>
      <p:sp>
        <p:nvSpPr>
          <p:cNvPr id="6" name="Text 3"/>
          <p:cNvSpPr/>
          <p:nvPr/>
        </p:nvSpPr>
        <p:spPr>
          <a:xfrm>
            <a:off x="5233360" y="3225403"/>
            <a:ext cx="6296860" cy="117415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API calls where the receiving programme just wants the final text</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Automated workflows that don't have a human waiting</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When you need to do post-processing on the full answer before showing anything</a:t>
            </a:r>
            <a:endParaRPr lang="en-US" sz="1300" dirty="0"/>
          </a:p>
        </p:txBody>
      </p:sp>
      <p:sp>
        <p:nvSpPr>
          <p:cNvPr id="7" name="Shape 4"/>
          <p:cNvSpPr/>
          <p:nvPr/>
        </p:nvSpPr>
        <p:spPr>
          <a:xfrm>
            <a:off x="5233360" y="4585593"/>
            <a:ext cx="6296860" cy="909439"/>
          </a:xfrm>
          <a:prstGeom prst="roundRect">
            <a:avLst>
              <a:gd name="adj" fmla="val 7638"/>
            </a:avLst>
          </a:prstGeom>
          <a:solidFill>
            <a:srgbClr val="F3E4BF"/>
          </a:solidFill>
          <a:ln/>
        </p:spPr>
      </p:sp>
      <p:pic>
        <p:nvPicPr>
          <p:cNvPr id="8"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98655" y="4825305"/>
            <a:ext cx="206667" cy="165298"/>
          </a:xfrm>
          <a:prstGeom prst="rect">
            <a:avLst/>
          </a:prstGeom>
        </p:spPr>
      </p:pic>
      <p:sp>
        <p:nvSpPr>
          <p:cNvPr id="9" name="Text 5"/>
          <p:cNvSpPr/>
          <p:nvPr/>
        </p:nvSpPr>
        <p:spPr>
          <a:xfrm>
            <a:off x="5770617" y="4775696"/>
            <a:ext cx="5594309"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Trade-off:</a:t>
            </a:r>
            <a:r>
              <a:rPr lang="en-US" sz="1300" dirty="0">
                <a:solidFill>
                  <a:srgbClr val="000000"/>
                </a:solidFill>
                <a:latin typeface="DM Sans" pitchFamily="34" charset="0"/>
                <a:ea typeface="DM Sans" pitchFamily="34" charset="-122"/>
                <a:cs typeface="DM Sans" pitchFamily="34" charset="-120"/>
              </a:rPr>
              <a:t> You wait longer for the first thing to appear, but it can be slightly simpler to handle on the receiving end.</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4571886" cy="6858000"/>
          </a:xfrm>
          <a:prstGeom prst="rect">
            <a:avLst/>
          </a:prstGeom>
        </p:spPr>
      </p:pic>
      <p:sp>
        <p:nvSpPr>
          <p:cNvPr id="3" name="Text 0"/>
          <p:cNvSpPr/>
          <p:nvPr/>
        </p:nvSpPr>
        <p:spPr>
          <a:xfrm>
            <a:off x="5233360" y="1489968"/>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Why Streaming Doesn't Make It Faster</a:t>
            </a:r>
            <a:endParaRPr lang="en-US" sz="3250" dirty="0"/>
          </a:p>
        </p:txBody>
      </p:sp>
      <p:sp>
        <p:nvSpPr>
          <p:cNvPr id="4" name="Text 1"/>
          <p:cNvSpPr/>
          <p:nvPr/>
        </p:nvSpPr>
        <p:spPr>
          <a:xfrm>
            <a:off x="5233360" y="2771477"/>
            <a:ext cx="629686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 common misconception: streaming feels faster, but the </a:t>
            </a:r>
            <a:r>
              <a:rPr lang="en-US" sz="1300" b="1" dirty="0">
                <a:solidFill>
                  <a:srgbClr val="454240"/>
                </a:solidFill>
                <a:latin typeface="DM Sans" pitchFamily="34" charset="0"/>
                <a:ea typeface="DM Sans" pitchFamily="34" charset="-122"/>
                <a:cs typeface="DM Sans" pitchFamily="34" charset="-120"/>
              </a:rPr>
              <a:t>total time is roughly the same</a:t>
            </a:r>
            <a:r>
              <a:rPr lang="en-US" sz="1300" dirty="0">
                <a:solidFill>
                  <a:srgbClr val="454240"/>
                </a:solidFill>
                <a:latin typeface="DM Sans" pitchFamily="34" charset="0"/>
                <a:ea typeface="DM Sans" pitchFamily="34" charset="-122"/>
                <a:cs typeface="DM Sans" pitchFamily="34" charset="-120"/>
              </a:rPr>
              <a:t>. The model is producing tokens at the same speed either way. Streaming just shows you each token as it's made, instead of holding them all back until the end.</a:t>
            </a:r>
            <a:endParaRPr lang="en-US" sz="1300" dirty="0"/>
          </a:p>
        </p:txBody>
      </p:sp>
      <p:sp>
        <p:nvSpPr>
          <p:cNvPr id="5" name="Text 2"/>
          <p:cNvSpPr/>
          <p:nvPr/>
        </p:nvSpPr>
        <p:spPr>
          <a:xfrm>
            <a:off x="5481401" y="4202013"/>
            <a:ext cx="6048819"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It's the difference between a chef bringing each dish to your table as it's cooked, versus waiting until the whole meal is ready and bringing it all out together. Same total cooking time — very different experience.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61574" y="498971"/>
            <a:ext cx="10684699" cy="413445"/>
          </a:xfrm>
          <a:prstGeom prst="rect">
            <a:avLst/>
          </a:prstGeom>
          <a:noFill/>
          <a:ln/>
        </p:spPr>
        <p:txBody>
          <a:bodyPr wrap="none" lIns="0" tIns="0" rIns="0" bIns="0" rtlCol="0" anchor="t"/>
          <a:lstStyle/>
          <a:p>
            <a:pPr marL="0" indent="0" algn="l">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Bringing It All Together — The Full Journey of Our Request</a:t>
            </a:r>
            <a:endParaRPr lang="en-US" sz="2600" dirty="0"/>
          </a:p>
        </p:txBody>
      </p:sp>
      <p:sp>
        <p:nvSpPr>
          <p:cNvPr id="3" name="Text 1"/>
          <p:cNvSpPr/>
          <p:nvPr/>
        </p:nvSpPr>
        <p:spPr>
          <a:xfrm>
            <a:off x="661574" y="1124049"/>
            <a:ext cx="11478132"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Here's the complete pipeline from Part 1 + Part 2:</a:t>
            </a:r>
            <a:endParaRPr lang="en-US" sz="1000" dirty="0"/>
          </a:p>
        </p:txBody>
      </p:sp>
      <p:sp>
        <p:nvSpPr>
          <p:cNvPr id="4" name="Shape 2"/>
          <p:cNvSpPr/>
          <p:nvPr/>
        </p:nvSpPr>
        <p:spPr>
          <a:xfrm>
            <a:off x="661574" y="3640832"/>
            <a:ext cx="10868547" cy="19050"/>
          </a:xfrm>
          <a:prstGeom prst="roundRect">
            <a:avLst>
              <a:gd name="adj" fmla="val 291714"/>
            </a:avLst>
          </a:prstGeom>
          <a:solidFill>
            <a:srgbClr val="DDD3BA"/>
          </a:solidFill>
          <a:ln/>
        </p:spPr>
      </p:sp>
      <p:sp>
        <p:nvSpPr>
          <p:cNvPr id="5" name="Shape 3"/>
          <p:cNvSpPr/>
          <p:nvPr/>
        </p:nvSpPr>
        <p:spPr>
          <a:xfrm>
            <a:off x="1273441" y="3376216"/>
            <a:ext cx="19050" cy="264616"/>
          </a:xfrm>
          <a:prstGeom prst="roundRect">
            <a:avLst>
              <a:gd name="adj" fmla="val 291714"/>
            </a:avLst>
          </a:prstGeom>
          <a:solidFill>
            <a:srgbClr val="DDD3BA"/>
          </a:solidFill>
          <a:ln/>
        </p:spPr>
      </p:sp>
      <p:sp>
        <p:nvSpPr>
          <p:cNvPr id="6" name="Shape 4"/>
          <p:cNvSpPr/>
          <p:nvPr/>
        </p:nvSpPr>
        <p:spPr>
          <a:xfrm>
            <a:off x="1233357" y="3591223"/>
            <a:ext cx="99216" cy="99219"/>
          </a:xfrm>
          <a:prstGeom prst="roundRect">
            <a:avLst>
              <a:gd name="adj" fmla="val 384001"/>
            </a:avLst>
          </a:prstGeom>
          <a:solidFill>
            <a:srgbClr val="B88E23"/>
          </a:solidFill>
          <a:ln/>
        </p:spPr>
      </p:sp>
      <p:sp>
        <p:nvSpPr>
          <p:cNvPr id="7" name="Text 5"/>
          <p:cNvSpPr/>
          <p:nvPr/>
        </p:nvSpPr>
        <p:spPr>
          <a:xfrm>
            <a:off x="793829" y="1433612"/>
            <a:ext cx="978272" cy="413345"/>
          </a:xfrm>
          <a:prstGeom prst="rect">
            <a:avLst/>
          </a:prstGeom>
          <a:noFill/>
          <a:ln/>
        </p:spPr>
        <p:txBody>
          <a:bodyPr wrap="square" lIns="0" tIns="0" rIns="0" bIns="0" rtlCol="0" anchor="t">
            <a:normAutofit/>
          </a:bodyPr>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You press Enter</a:t>
            </a:r>
            <a:endParaRPr lang="en-US" sz="1300" dirty="0"/>
          </a:p>
        </p:txBody>
      </p:sp>
      <p:sp>
        <p:nvSpPr>
          <p:cNvPr id="8" name="Text 6"/>
          <p:cNvSpPr/>
          <p:nvPr/>
        </p:nvSpPr>
        <p:spPr>
          <a:xfrm>
            <a:off x="793829" y="1910457"/>
            <a:ext cx="978272" cy="5715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Your text leaves your device, encrypted.</a:t>
            </a:r>
            <a:endParaRPr lang="en-US" sz="1000" dirty="0"/>
          </a:p>
        </p:txBody>
      </p:sp>
      <p:sp>
        <p:nvSpPr>
          <p:cNvPr id="9" name="Shape 7"/>
          <p:cNvSpPr/>
          <p:nvPr/>
        </p:nvSpPr>
        <p:spPr>
          <a:xfrm>
            <a:off x="1960910" y="3640832"/>
            <a:ext cx="19050" cy="264616"/>
          </a:xfrm>
          <a:prstGeom prst="roundRect">
            <a:avLst>
              <a:gd name="adj" fmla="val 291714"/>
            </a:avLst>
          </a:prstGeom>
          <a:solidFill>
            <a:srgbClr val="DDD3BA"/>
          </a:solidFill>
          <a:ln/>
        </p:spPr>
      </p:sp>
      <p:sp>
        <p:nvSpPr>
          <p:cNvPr id="10" name="Shape 8"/>
          <p:cNvSpPr/>
          <p:nvPr/>
        </p:nvSpPr>
        <p:spPr>
          <a:xfrm>
            <a:off x="1920827" y="3591223"/>
            <a:ext cx="99216" cy="99219"/>
          </a:xfrm>
          <a:prstGeom prst="roundRect">
            <a:avLst>
              <a:gd name="adj" fmla="val 384001"/>
            </a:avLst>
          </a:prstGeom>
          <a:solidFill>
            <a:srgbClr val="B88E23"/>
          </a:solidFill>
          <a:ln/>
        </p:spPr>
      </p:sp>
      <p:sp>
        <p:nvSpPr>
          <p:cNvPr id="11" name="Text 9"/>
          <p:cNvSpPr/>
          <p:nvPr/>
        </p:nvSpPr>
        <p:spPr>
          <a:xfrm>
            <a:off x="1481299" y="4037707"/>
            <a:ext cx="978372" cy="620018"/>
          </a:xfrm>
          <a:prstGeom prst="rect">
            <a:avLst/>
          </a:prstGeom>
          <a:noFill/>
          <a:ln/>
        </p:spPr>
        <p:txBody>
          <a:bodyPr wrap="square" lIns="0" tIns="0" rIns="0" bIns="0" rtlCol="0" anchor="t">
            <a:normAutofit/>
          </a:bodyPr>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It arrives at a data centre</a:t>
            </a:r>
            <a:endParaRPr lang="en-US" sz="1300" dirty="0"/>
          </a:p>
        </p:txBody>
      </p:sp>
      <p:sp>
        <p:nvSpPr>
          <p:cNvPr id="12" name="Text 10"/>
          <p:cNvSpPr/>
          <p:nvPr/>
        </p:nvSpPr>
        <p:spPr>
          <a:xfrm>
            <a:off x="1481299" y="4721225"/>
            <a:ext cx="978372" cy="5715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A load balancer routes it to an available GPU.</a:t>
            </a:r>
            <a:endParaRPr lang="en-US" sz="1000" dirty="0"/>
          </a:p>
        </p:txBody>
      </p:sp>
      <p:sp>
        <p:nvSpPr>
          <p:cNvPr id="13" name="Shape 11"/>
          <p:cNvSpPr/>
          <p:nvPr/>
        </p:nvSpPr>
        <p:spPr>
          <a:xfrm>
            <a:off x="2648479" y="3376216"/>
            <a:ext cx="19050" cy="264616"/>
          </a:xfrm>
          <a:prstGeom prst="roundRect">
            <a:avLst>
              <a:gd name="adj" fmla="val 291714"/>
            </a:avLst>
          </a:prstGeom>
          <a:solidFill>
            <a:srgbClr val="DDD3BA"/>
          </a:solidFill>
          <a:ln/>
        </p:spPr>
      </p:sp>
      <p:sp>
        <p:nvSpPr>
          <p:cNvPr id="14" name="Shape 12"/>
          <p:cNvSpPr/>
          <p:nvPr/>
        </p:nvSpPr>
        <p:spPr>
          <a:xfrm>
            <a:off x="2608396" y="3591223"/>
            <a:ext cx="99216" cy="99219"/>
          </a:xfrm>
          <a:prstGeom prst="roundRect">
            <a:avLst>
              <a:gd name="adj" fmla="val 384001"/>
            </a:avLst>
          </a:prstGeom>
          <a:solidFill>
            <a:srgbClr val="B88E23"/>
          </a:solidFill>
          <a:ln/>
        </p:spPr>
      </p:sp>
      <p:sp>
        <p:nvSpPr>
          <p:cNvPr id="15" name="Text 13"/>
          <p:cNvSpPr/>
          <p:nvPr/>
        </p:nvSpPr>
        <p:spPr>
          <a:xfrm>
            <a:off x="2168868" y="1433612"/>
            <a:ext cx="978372" cy="413345"/>
          </a:xfrm>
          <a:prstGeom prst="rect">
            <a:avLst/>
          </a:prstGeom>
          <a:noFill/>
          <a:ln/>
        </p:spPr>
        <p:txBody>
          <a:bodyPr wrap="square" lIns="0" tIns="0" rIns="0" bIns="0" rtlCol="0" anchor="t">
            <a:normAutofit/>
          </a:bodyPr>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Text is cleaned</a:t>
            </a:r>
            <a:endParaRPr lang="en-US" sz="1300" dirty="0"/>
          </a:p>
        </p:txBody>
      </p:sp>
      <p:sp>
        <p:nvSpPr>
          <p:cNvPr id="16" name="Text 14"/>
          <p:cNvSpPr/>
          <p:nvPr/>
        </p:nvSpPr>
        <p:spPr>
          <a:xfrm>
            <a:off x="2168868" y="1910457"/>
            <a:ext cx="978372" cy="7620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Normalisation removes hidden messiness.</a:t>
            </a:r>
            <a:endParaRPr lang="en-US" sz="1000" dirty="0"/>
          </a:p>
        </p:txBody>
      </p:sp>
      <p:sp>
        <p:nvSpPr>
          <p:cNvPr id="17" name="Shape 15"/>
          <p:cNvSpPr/>
          <p:nvPr/>
        </p:nvSpPr>
        <p:spPr>
          <a:xfrm>
            <a:off x="3336048" y="3640832"/>
            <a:ext cx="19050" cy="264616"/>
          </a:xfrm>
          <a:prstGeom prst="roundRect">
            <a:avLst>
              <a:gd name="adj" fmla="val 291714"/>
            </a:avLst>
          </a:prstGeom>
          <a:solidFill>
            <a:srgbClr val="DDD3BA"/>
          </a:solidFill>
          <a:ln/>
        </p:spPr>
      </p:sp>
      <p:sp>
        <p:nvSpPr>
          <p:cNvPr id="18" name="Shape 16"/>
          <p:cNvSpPr/>
          <p:nvPr/>
        </p:nvSpPr>
        <p:spPr>
          <a:xfrm>
            <a:off x="3295964" y="3591223"/>
            <a:ext cx="99216" cy="99219"/>
          </a:xfrm>
          <a:prstGeom prst="roundRect">
            <a:avLst>
              <a:gd name="adj" fmla="val 384001"/>
            </a:avLst>
          </a:prstGeom>
          <a:solidFill>
            <a:srgbClr val="B88E23"/>
          </a:solidFill>
          <a:ln/>
        </p:spPr>
      </p:sp>
      <p:sp>
        <p:nvSpPr>
          <p:cNvPr id="19" name="Text 17"/>
          <p:cNvSpPr/>
          <p:nvPr/>
        </p:nvSpPr>
        <p:spPr>
          <a:xfrm>
            <a:off x="2856436" y="4037707"/>
            <a:ext cx="978372" cy="620018"/>
          </a:xfrm>
          <a:prstGeom prst="rect">
            <a:avLst/>
          </a:prstGeom>
          <a:noFill/>
          <a:ln/>
        </p:spPr>
        <p:txBody>
          <a:bodyPr wrap="square" lIns="0" tIns="0" rIns="0" bIns="0" rtlCol="0" anchor="t">
            <a:normAutofit/>
          </a:bodyPr>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Context window is assembled</a:t>
            </a:r>
            <a:endParaRPr lang="en-US" sz="1300" dirty="0"/>
          </a:p>
        </p:txBody>
      </p:sp>
      <p:sp>
        <p:nvSpPr>
          <p:cNvPr id="20" name="Text 18"/>
          <p:cNvSpPr/>
          <p:nvPr/>
        </p:nvSpPr>
        <p:spPr>
          <a:xfrm>
            <a:off x="2856436" y="4721225"/>
            <a:ext cx="978372" cy="9525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System prompt + history + your message, bundled together.</a:t>
            </a:r>
            <a:endParaRPr lang="en-US" sz="1000" dirty="0"/>
          </a:p>
        </p:txBody>
      </p:sp>
      <p:sp>
        <p:nvSpPr>
          <p:cNvPr id="21" name="Shape 19"/>
          <p:cNvSpPr/>
          <p:nvPr/>
        </p:nvSpPr>
        <p:spPr>
          <a:xfrm>
            <a:off x="4023617" y="3376216"/>
            <a:ext cx="19050" cy="264616"/>
          </a:xfrm>
          <a:prstGeom prst="roundRect">
            <a:avLst>
              <a:gd name="adj" fmla="val 291714"/>
            </a:avLst>
          </a:prstGeom>
          <a:solidFill>
            <a:srgbClr val="DDD3BA"/>
          </a:solidFill>
          <a:ln/>
        </p:spPr>
      </p:sp>
      <p:sp>
        <p:nvSpPr>
          <p:cNvPr id="22" name="Shape 20"/>
          <p:cNvSpPr/>
          <p:nvPr/>
        </p:nvSpPr>
        <p:spPr>
          <a:xfrm>
            <a:off x="3983533" y="3591223"/>
            <a:ext cx="99216" cy="99219"/>
          </a:xfrm>
          <a:prstGeom prst="roundRect">
            <a:avLst>
              <a:gd name="adj" fmla="val 384001"/>
            </a:avLst>
          </a:prstGeom>
          <a:solidFill>
            <a:srgbClr val="B88E23"/>
          </a:solidFill>
          <a:ln/>
        </p:spPr>
      </p:sp>
      <p:sp>
        <p:nvSpPr>
          <p:cNvPr id="23" name="Text 21"/>
          <p:cNvSpPr/>
          <p:nvPr/>
        </p:nvSpPr>
        <p:spPr>
          <a:xfrm>
            <a:off x="3544005" y="1433612"/>
            <a:ext cx="978272" cy="413345"/>
          </a:xfrm>
          <a:prstGeom prst="rect">
            <a:avLst/>
          </a:prstGeom>
          <a:noFill/>
          <a:ln/>
        </p:spPr>
        <p:txBody>
          <a:bodyPr wrap="square" lIns="0" tIns="0" rIns="0" bIns="0" rtlCol="0" anchor="t">
            <a:normAutofit/>
          </a:bodyPr>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Tokenisation</a:t>
            </a:r>
            <a:endParaRPr lang="en-US" sz="1300" dirty="0"/>
          </a:p>
        </p:txBody>
      </p:sp>
      <p:sp>
        <p:nvSpPr>
          <p:cNvPr id="24" name="Text 22"/>
          <p:cNvSpPr/>
          <p:nvPr/>
        </p:nvSpPr>
        <p:spPr>
          <a:xfrm>
            <a:off x="3544005" y="1910457"/>
            <a:ext cx="978272" cy="7620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Text is chopped into chunks from the frozen vocabulary.</a:t>
            </a:r>
            <a:endParaRPr lang="en-US" sz="1000" dirty="0"/>
          </a:p>
        </p:txBody>
      </p:sp>
      <p:sp>
        <p:nvSpPr>
          <p:cNvPr id="25" name="Shape 23"/>
          <p:cNvSpPr/>
          <p:nvPr/>
        </p:nvSpPr>
        <p:spPr>
          <a:xfrm>
            <a:off x="4711185" y="3640832"/>
            <a:ext cx="19050" cy="264616"/>
          </a:xfrm>
          <a:prstGeom prst="roundRect">
            <a:avLst>
              <a:gd name="adj" fmla="val 291714"/>
            </a:avLst>
          </a:prstGeom>
          <a:solidFill>
            <a:srgbClr val="DDD3BA"/>
          </a:solidFill>
          <a:ln/>
        </p:spPr>
      </p:sp>
      <p:sp>
        <p:nvSpPr>
          <p:cNvPr id="26" name="Shape 24"/>
          <p:cNvSpPr/>
          <p:nvPr/>
        </p:nvSpPr>
        <p:spPr>
          <a:xfrm>
            <a:off x="4671102" y="3591223"/>
            <a:ext cx="99216" cy="99219"/>
          </a:xfrm>
          <a:prstGeom prst="roundRect">
            <a:avLst>
              <a:gd name="adj" fmla="val 384001"/>
            </a:avLst>
          </a:prstGeom>
          <a:solidFill>
            <a:srgbClr val="B88E23"/>
          </a:solidFill>
          <a:ln/>
        </p:spPr>
      </p:sp>
      <p:sp>
        <p:nvSpPr>
          <p:cNvPr id="27" name="Text 25"/>
          <p:cNvSpPr/>
          <p:nvPr/>
        </p:nvSpPr>
        <p:spPr>
          <a:xfrm>
            <a:off x="4231574" y="4037707"/>
            <a:ext cx="978272" cy="206673"/>
          </a:xfrm>
          <a:prstGeom prst="rect">
            <a:avLst/>
          </a:prstGeom>
          <a:noFill/>
          <a:ln/>
        </p:spPr>
        <p:txBody>
          <a:bodyPr wrap="none" lIns="0" tIns="0" rIns="0" bIns="0" rtlCol="0" anchor="t"/>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Token IDs</a:t>
            </a:r>
            <a:endParaRPr lang="en-US" sz="1300" dirty="0"/>
          </a:p>
        </p:txBody>
      </p:sp>
      <p:sp>
        <p:nvSpPr>
          <p:cNvPr id="28" name="Text 26"/>
          <p:cNvSpPr/>
          <p:nvPr/>
        </p:nvSpPr>
        <p:spPr>
          <a:xfrm>
            <a:off x="4231574" y="4307880"/>
            <a:ext cx="978272" cy="5715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Each chunk becomes a number.</a:t>
            </a:r>
            <a:endParaRPr lang="en-US" sz="1000" dirty="0"/>
          </a:p>
        </p:txBody>
      </p:sp>
      <p:sp>
        <p:nvSpPr>
          <p:cNvPr id="29" name="Shape 27"/>
          <p:cNvSpPr/>
          <p:nvPr/>
        </p:nvSpPr>
        <p:spPr>
          <a:xfrm>
            <a:off x="5398655" y="3376216"/>
            <a:ext cx="19050" cy="264616"/>
          </a:xfrm>
          <a:prstGeom prst="roundRect">
            <a:avLst>
              <a:gd name="adj" fmla="val 291714"/>
            </a:avLst>
          </a:prstGeom>
          <a:solidFill>
            <a:srgbClr val="DDD3BA"/>
          </a:solidFill>
          <a:ln/>
        </p:spPr>
      </p:sp>
      <p:sp>
        <p:nvSpPr>
          <p:cNvPr id="30" name="Shape 28"/>
          <p:cNvSpPr/>
          <p:nvPr/>
        </p:nvSpPr>
        <p:spPr>
          <a:xfrm>
            <a:off x="5358571" y="3591223"/>
            <a:ext cx="99216" cy="99219"/>
          </a:xfrm>
          <a:prstGeom prst="roundRect">
            <a:avLst>
              <a:gd name="adj" fmla="val 384001"/>
            </a:avLst>
          </a:prstGeom>
          <a:solidFill>
            <a:srgbClr val="B88E23"/>
          </a:solidFill>
          <a:ln/>
        </p:spPr>
      </p:sp>
      <p:sp>
        <p:nvSpPr>
          <p:cNvPr id="31" name="Text 29"/>
          <p:cNvSpPr/>
          <p:nvPr/>
        </p:nvSpPr>
        <p:spPr>
          <a:xfrm>
            <a:off x="4919043" y="1433612"/>
            <a:ext cx="978372" cy="413345"/>
          </a:xfrm>
          <a:prstGeom prst="rect">
            <a:avLst/>
          </a:prstGeom>
          <a:noFill/>
          <a:ln/>
        </p:spPr>
        <p:txBody>
          <a:bodyPr wrap="square" lIns="0" tIns="0" rIns="0" bIns="0" rtlCol="0" anchor="t">
            <a:normAutofit/>
          </a:bodyPr>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Embeddings</a:t>
            </a:r>
            <a:endParaRPr lang="en-US" sz="1300" dirty="0"/>
          </a:p>
        </p:txBody>
      </p:sp>
      <p:sp>
        <p:nvSpPr>
          <p:cNvPr id="32" name="Text 30"/>
          <p:cNvSpPr/>
          <p:nvPr/>
        </p:nvSpPr>
        <p:spPr>
          <a:xfrm>
            <a:off x="4919043" y="1910457"/>
            <a:ext cx="978372" cy="13335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Each number is looked up in a giant table, becoming a rich row of meaning-numbers.</a:t>
            </a:r>
            <a:endParaRPr lang="en-US" sz="1000" dirty="0"/>
          </a:p>
        </p:txBody>
      </p:sp>
      <p:sp>
        <p:nvSpPr>
          <p:cNvPr id="33" name="Shape 31"/>
          <p:cNvSpPr/>
          <p:nvPr/>
        </p:nvSpPr>
        <p:spPr>
          <a:xfrm>
            <a:off x="6086224" y="3640832"/>
            <a:ext cx="19050" cy="264616"/>
          </a:xfrm>
          <a:prstGeom prst="roundRect">
            <a:avLst>
              <a:gd name="adj" fmla="val 291714"/>
            </a:avLst>
          </a:prstGeom>
          <a:solidFill>
            <a:srgbClr val="DDD3BA"/>
          </a:solidFill>
          <a:ln/>
        </p:spPr>
      </p:sp>
      <p:sp>
        <p:nvSpPr>
          <p:cNvPr id="34" name="Shape 32"/>
          <p:cNvSpPr/>
          <p:nvPr/>
        </p:nvSpPr>
        <p:spPr>
          <a:xfrm>
            <a:off x="6046140" y="3591223"/>
            <a:ext cx="99216" cy="99219"/>
          </a:xfrm>
          <a:prstGeom prst="roundRect">
            <a:avLst>
              <a:gd name="adj" fmla="val 384001"/>
            </a:avLst>
          </a:prstGeom>
          <a:solidFill>
            <a:srgbClr val="B88E23"/>
          </a:solidFill>
          <a:ln/>
        </p:spPr>
      </p:sp>
      <p:sp>
        <p:nvSpPr>
          <p:cNvPr id="35" name="Text 33"/>
          <p:cNvSpPr/>
          <p:nvPr/>
        </p:nvSpPr>
        <p:spPr>
          <a:xfrm>
            <a:off x="5606612" y="4037707"/>
            <a:ext cx="978372" cy="413345"/>
          </a:xfrm>
          <a:prstGeom prst="rect">
            <a:avLst/>
          </a:prstGeom>
          <a:noFill/>
          <a:ln/>
        </p:spPr>
        <p:txBody>
          <a:bodyPr wrap="square" lIns="0" tIns="0" rIns="0" bIns="0" rtlCol="0" anchor="t">
            <a:normAutofit/>
          </a:bodyPr>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Position markers</a:t>
            </a:r>
            <a:endParaRPr lang="en-US" sz="1300" dirty="0"/>
          </a:p>
        </p:txBody>
      </p:sp>
      <p:sp>
        <p:nvSpPr>
          <p:cNvPr id="36" name="Text 34"/>
          <p:cNvSpPr/>
          <p:nvPr/>
        </p:nvSpPr>
        <p:spPr>
          <a:xfrm>
            <a:off x="5606612" y="4514552"/>
            <a:ext cx="978372" cy="3810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Added so order isn't lost.</a:t>
            </a:r>
            <a:endParaRPr lang="en-US" sz="1000" dirty="0"/>
          </a:p>
        </p:txBody>
      </p:sp>
      <p:sp>
        <p:nvSpPr>
          <p:cNvPr id="37" name="Shape 35"/>
          <p:cNvSpPr/>
          <p:nvPr/>
        </p:nvSpPr>
        <p:spPr>
          <a:xfrm>
            <a:off x="6773792" y="3376216"/>
            <a:ext cx="19050" cy="264616"/>
          </a:xfrm>
          <a:prstGeom prst="roundRect">
            <a:avLst>
              <a:gd name="adj" fmla="val 291714"/>
            </a:avLst>
          </a:prstGeom>
          <a:solidFill>
            <a:srgbClr val="DDD3BA"/>
          </a:solidFill>
          <a:ln/>
        </p:spPr>
      </p:sp>
      <p:sp>
        <p:nvSpPr>
          <p:cNvPr id="38" name="Shape 36"/>
          <p:cNvSpPr/>
          <p:nvPr/>
        </p:nvSpPr>
        <p:spPr>
          <a:xfrm>
            <a:off x="6733709" y="3591223"/>
            <a:ext cx="99216" cy="99219"/>
          </a:xfrm>
          <a:prstGeom prst="roundRect">
            <a:avLst>
              <a:gd name="adj" fmla="val 384001"/>
            </a:avLst>
          </a:prstGeom>
          <a:solidFill>
            <a:srgbClr val="B88E23"/>
          </a:solidFill>
          <a:ln/>
        </p:spPr>
      </p:sp>
      <p:sp>
        <p:nvSpPr>
          <p:cNvPr id="39" name="Text 37"/>
          <p:cNvSpPr/>
          <p:nvPr/>
        </p:nvSpPr>
        <p:spPr>
          <a:xfrm>
            <a:off x="6294181" y="1433612"/>
            <a:ext cx="978372" cy="206673"/>
          </a:xfrm>
          <a:prstGeom prst="rect">
            <a:avLst/>
          </a:prstGeom>
          <a:noFill/>
          <a:ln/>
        </p:spPr>
        <p:txBody>
          <a:bodyPr wrap="none" lIns="0" tIns="0" rIns="0" bIns="0" rtlCol="0" anchor="t"/>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Attention</a:t>
            </a:r>
            <a:endParaRPr lang="en-US" sz="1300" dirty="0"/>
          </a:p>
        </p:txBody>
      </p:sp>
      <p:sp>
        <p:nvSpPr>
          <p:cNvPr id="40" name="Text 38"/>
          <p:cNvSpPr/>
          <p:nvPr/>
        </p:nvSpPr>
        <p:spPr>
          <a:xfrm>
            <a:off x="6294181" y="1703784"/>
            <a:ext cx="978372" cy="13335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Every word looks at every other word, dozens of times, building up contextual understanding.</a:t>
            </a:r>
            <a:endParaRPr lang="en-US" sz="1000" dirty="0"/>
          </a:p>
        </p:txBody>
      </p:sp>
      <p:sp>
        <p:nvSpPr>
          <p:cNvPr id="41" name="Shape 39"/>
          <p:cNvSpPr/>
          <p:nvPr/>
        </p:nvSpPr>
        <p:spPr>
          <a:xfrm>
            <a:off x="7461361" y="3640832"/>
            <a:ext cx="19050" cy="264616"/>
          </a:xfrm>
          <a:prstGeom prst="roundRect">
            <a:avLst>
              <a:gd name="adj" fmla="val 291714"/>
            </a:avLst>
          </a:prstGeom>
          <a:solidFill>
            <a:srgbClr val="DDD3BA"/>
          </a:solidFill>
          <a:ln/>
        </p:spPr>
      </p:sp>
      <p:sp>
        <p:nvSpPr>
          <p:cNvPr id="42" name="Shape 40"/>
          <p:cNvSpPr/>
          <p:nvPr/>
        </p:nvSpPr>
        <p:spPr>
          <a:xfrm>
            <a:off x="7421278" y="3591223"/>
            <a:ext cx="99216" cy="99219"/>
          </a:xfrm>
          <a:prstGeom prst="roundRect">
            <a:avLst>
              <a:gd name="adj" fmla="val 384001"/>
            </a:avLst>
          </a:prstGeom>
          <a:solidFill>
            <a:srgbClr val="B88E23"/>
          </a:solidFill>
          <a:ln/>
        </p:spPr>
      </p:sp>
      <p:sp>
        <p:nvSpPr>
          <p:cNvPr id="43" name="Text 41"/>
          <p:cNvSpPr/>
          <p:nvPr/>
        </p:nvSpPr>
        <p:spPr>
          <a:xfrm>
            <a:off x="6981750" y="4037707"/>
            <a:ext cx="978272" cy="413345"/>
          </a:xfrm>
          <a:prstGeom prst="rect">
            <a:avLst/>
          </a:prstGeom>
          <a:noFill/>
          <a:ln/>
        </p:spPr>
        <p:txBody>
          <a:bodyPr wrap="square" lIns="0" tIns="0" rIns="0" bIns="0" rtlCol="0" anchor="t">
            <a:normAutofit/>
          </a:bodyPr>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Next-word prediction</a:t>
            </a:r>
            <a:endParaRPr lang="en-US" sz="1300" dirty="0"/>
          </a:p>
        </p:txBody>
      </p:sp>
      <p:sp>
        <p:nvSpPr>
          <p:cNvPr id="44" name="Text 42"/>
          <p:cNvSpPr/>
          <p:nvPr/>
        </p:nvSpPr>
        <p:spPr>
          <a:xfrm>
            <a:off x="6981750" y="4514552"/>
            <a:ext cx="978272" cy="11430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The model produces a probability distribution over the entire vocabulary.</a:t>
            </a:r>
            <a:endParaRPr lang="en-US" sz="1000" dirty="0"/>
          </a:p>
        </p:txBody>
      </p:sp>
      <p:sp>
        <p:nvSpPr>
          <p:cNvPr id="45" name="Shape 43"/>
          <p:cNvSpPr/>
          <p:nvPr/>
        </p:nvSpPr>
        <p:spPr>
          <a:xfrm>
            <a:off x="8148930" y="3376216"/>
            <a:ext cx="19050" cy="264616"/>
          </a:xfrm>
          <a:prstGeom prst="roundRect">
            <a:avLst>
              <a:gd name="adj" fmla="val 291714"/>
            </a:avLst>
          </a:prstGeom>
          <a:solidFill>
            <a:srgbClr val="DDD3BA"/>
          </a:solidFill>
          <a:ln/>
        </p:spPr>
      </p:sp>
      <p:sp>
        <p:nvSpPr>
          <p:cNvPr id="46" name="Shape 44"/>
          <p:cNvSpPr/>
          <p:nvPr/>
        </p:nvSpPr>
        <p:spPr>
          <a:xfrm>
            <a:off x="8108846" y="3591223"/>
            <a:ext cx="99216" cy="99219"/>
          </a:xfrm>
          <a:prstGeom prst="roundRect">
            <a:avLst>
              <a:gd name="adj" fmla="val 384001"/>
            </a:avLst>
          </a:prstGeom>
          <a:solidFill>
            <a:srgbClr val="B88E23"/>
          </a:solidFill>
          <a:ln/>
        </p:spPr>
      </p:sp>
      <p:sp>
        <p:nvSpPr>
          <p:cNvPr id="47" name="Text 45"/>
          <p:cNvSpPr/>
          <p:nvPr/>
        </p:nvSpPr>
        <p:spPr>
          <a:xfrm>
            <a:off x="7669318" y="1433612"/>
            <a:ext cx="978272" cy="206673"/>
          </a:xfrm>
          <a:prstGeom prst="rect">
            <a:avLst/>
          </a:prstGeom>
          <a:noFill/>
          <a:ln/>
        </p:spPr>
        <p:txBody>
          <a:bodyPr wrap="none" lIns="0" tIns="0" rIns="0" bIns="0" rtlCol="0" anchor="t"/>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Sampling</a:t>
            </a:r>
            <a:endParaRPr lang="en-US" sz="1300" dirty="0"/>
          </a:p>
        </p:txBody>
      </p:sp>
      <p:sp>
        <p:nvSpPr>
          <p:cNvPr id="48" name="Text 46"/>
          <p:cNvSpPr/>
          <p:nvPr/>
        </p:nvSpPr>
        <p:spPr>
          <a:xfrm>
            <a:off x="7669318" y="1703784"/>
            <a:ext cx="978272" cy="9525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Temperature, top-K, and top-P decide which word to actually pick.</a:t>
            </a:r>
            <a:endParaRPr lang="en-US" sz="1000" dirty="0"/>
          </a:p>
        </p:txBody>
      </p:sp>
      <p:sp>
        <p:nvSpPr>
          <p:cNvPr id="49" name="Shape 47"/>
          <p:cNvSpPr/>
          <p:nvPr/>
        </p:nvSpPr>
        <p:spPr>
          <a:xfrm>
            <a:off x="8836399" y="3640832"/>
            <a:ext cx="19050" cy="264616"/>
          </a:xfrm>
          <a:prstGeom prst="roundRect">
            <a:avLst>
              <a:gd name="adj" fmla="val 291714"/>
            </a:avLst>
          </a:prstGeom>
          <a:solidFill>
            <a:srgbClr val="DDD3BA"/>
          </a:solidFill>
          <a:ln/>
        </p:spPr>
      </p:sp>
      <p:sp>
        <p:nvSpPr>
          <p:cNvPr id="50" name="Shape 48"/>
          <p:cNvSpPr/>
          <p:nvPr/>
        </p:nvSpPr>
        <p:spPr>
          <a:xfrm>
            <a:off x="8796316" y="3591223"/>
            <a:ext cx="99216" cy="99219"/>
          </a:xfrm>
          <a:prstGeom prst="roundRect">
            <a:avLst>
              <a:gd name="adj" fmla="val 384001"/>
            </a:avLst>
          </a:prstGeom>
          <a:solidFill>
            <a:srgbClr val="B88E23"/>
          </a:solidFill>
          <a:ln/>
        </p:spPr>
      </p:sp>
      <p:sp>
        <p:nvSpPr>
          <p:cNvPr id="51" name="Text 49"/>
          <p:cNvSpPr/>
          <p:nvPr/>
        </p:nvSpPr>
        <p:spPr>
          <a:xfrm>
            <a:off x="8356788" y="4037707"/>
            <a:ext cx="978372" cy="413345"/>
          </a:xfrm>
          <a:prstGeom prst="rect">
            <a:avLst/>
          </a:prstGeom>
          <a:noFill/>
          <a:ln/>
        </p:spPr>
        <p:txBody>
          <a:bodyPr wrap="square" lIns="0" tIns="0" rIns="0" bIns="0" rtlCol="0" anchor="t">
            <a:normAutofit/>
          </a:bodyPr>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Detokenisation</a:t>
            </a:r>
            <a:endParaRPr lang="en-US" sz="1300" dirty="0"/>
          </a:p>
        </p:txBody>
      </p:sp>
      <p:sp>
        <p:nvSpPr>
          <p:cNvPr id="52" name="Text 50"/>
          <p:cNvSpPr/>
          <p:nvPr/>
        </p:nvSpPr>
        <p:spPr>
          <a:xfrm>
            <a:off x="8356788" y="4514552"/>
            <a:ext cx="978372" cy="9525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The chosen token ID is looked up and turned back into text.</a:t>
            </a:r>
            <a:endParaRPr lang="en-US" sz="1000" dirty="0"/>
          </a:p>
        </p:txBody>
      </p:sp>
      <p:sp>
        <p:nvSpPr>
          <p:cNvPr id="53" name="Shape 51"/>
          <p:cNvSpPr/>
          <p:nvPr/>
        </p:nvSpPr>
        <p:spPr>
          <a:xfrm>
            <a:off x="9523968" y="3376216"/>
            <a:ext cx="19050" cy="264616"/>
          </a:xfrm>
          <a:prstGeom prst="roundRect">
            <a:avLst>
              <a:gd name="adj" fmla="val 291714"/>
            </a:avLst>
          </a:prstGeom>
          <a:solidFill>
            <a:srgbClr val="DDD3BA"/>
          </a:solidFill>
          <a:ln/>
        </p:spPr>
      </p:sp>
      <p:sp>
        <p:nvSpPr>
          <p:cNvPr id="54" name="Shape 52"/>
          <p:cNvSpPr/>
          <p:nvPr/>
        </p:nvSpPr>
        <p:spPr>
          <a:xfrm>
            <a:off x="9483885" y="3591223"/>
            <a:ext cx="99216" cy="99219"/>
          </a:xfrm>
          <a:prstGeom prst="roundRect">
            <a:avLst>
              <a:gd name="adj" fmla="val 384001"/>
            </a:avLst>
          </a:prstGeom>
          <a:solidFill>
            <a:srgbClr val="B88E23"/>
          </a:solidFill>
          <a:ln/>
        </p:spPr>
      </p:sp>
      <p:sp>
        <p:nvSpPr>
          <p:cNvPr id="55" name="Text 53"/>
          <p:cNvSpPr/>
          <p:nvPr/>
        </p:nvSpPr>
        <p:spPr>
          <a:xfrm>
            <a:off x="9044357" y="1433612"/>
            <a:ext cx="978372" cy="206673"/>
          </a:xfrm>
          <a:prstGeom prst="rect">
            <a:avLst/>
          </a:prstGeom>
          <a:noFill/>
          <a:ln/>
        </p:spPr>
        <p:txBody>
          <a:bodyPr wrap="none" lIns="0" tIns="0" rIns="0" bIns="0" rtlCol="0" anchor="t"/>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Streaming</a:t>
            </a:r>
            <a:endParaRPr lang="en-US" sz="1300" dirty="0"/>
          </a:p>
        </p:txBody>
      </p:sp>
      <p:sp>
        <p:nvSpPr>
          <p:cNvPr id="56" name="Text 54"/>
          <p:cNvSpPr/>
          <p:nvPr/>
        </p:nvSpPr>
        <p:spPr>
          <a:xfrm>
            <a:off x="9044357" y="1703784"/>
            <a:ext cx="978372" cy="5715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That piece of text appears on your screen.</a:t>
            </a:r>
            <a:endParaRPr lang="en-US" sz="1000" dirty="0"/>
          </a:p>
        </p:txBody>
      </p:sp>
      <p:sp>
        <p:nvSpPr>
          <p:cNvPr id="57" name="Shape 55"/>
          <p:cNvSpPr/>
          <p:nvPr/>
        </p:nvSpPr>
        <p:spPr>
          <a:xfrm>
            <a:off x="10211537" y="3640832"/>
            <a:ext cx="19050" cy="264616"/>
          </a:xfrm>
          <a:prstGeom prst="roundRect">
            <a:avLst>
              <a:gd name="adj" fmla="val 291714"/>
            </a:avLst>
          </a:prstGeom>
          <a:solidFill>
            <a:srgbClr val="DDD3BA"/>
          </a:solidFill>
          <a:ln/>
        </p:spPr>
      </p:sp>
      <p:sp>
        <p:nvSpPr>
          <p:cNvPr id="58" name="Shape 56"/>
          <p:cNvSpPr/>
          <p:nvPr/>
        </p:nvSpPr>
        <p:spPr>
          <a:xfrm>
            <a:off x="10171453" y="3591223"/>
            <a:ext cx="99216" cy="99219"/>
          </a:xfrm>
          <a:prstGeom prst="roundRect">
            <a:avLst>
              <a:gd name="adj" fmla="val 384001"/>
            </a:avLst>
          </a:prstGeom>
          <a:solidFill>
            <a:srgbClr val="B88E23"/>
          </a:solidFill>
          <a:ln/>
        </p:spPr>
      </p:sp>
      <p:sp>
        <p:nvSpPr>
          <p:cNvPr id="59" name="Text 57"/>
          <p:cNvSpPr/>
          <p:nvPr/>
        </p:nvSpPr>
        <p:spPr>
          <a:xfrm>
            <a:off x="9731925" y="4037707"/>
            <a:ext cx="978372" cy="413345"/>
          </a:xfrm>
          <a:prstGeom prst="rect">
            <a:avLst/>
          </a:prstGeom>
          <a:noFill/>
          <a:ln/>
        </p:spPr>
        <p:txBody>
          <a:bodyPr wrap="square" lIns="0" tIns="0" rIns="0" bIns="0" rtlCol="0" anchor="t">
            <a:normAutofit fontScale="92500"/>
          </a:bodyPr>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Repeat from step 9</a:t>
            </a:r>
            <a:endParaRPr lang="en-US" sz="1300" dirty="0"/>
          </a:p>
        </p:txBody>
      </p:sp>
      <p:sp>
        <p:nvSpPr>
          <p:cNvPr id="60" name="Text 58"/>
          <p:cNvSpPr/>
          <p:nvPr/>
        </p:nvSpPr>
        <p:spPr>
          <a:xfrm>
            <a:off x="9731925" y="4514552"/>
            <a:ext cx="978372" cy="11430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The new word becomes part of the input, and the model predicts the next one.</a:t>
            </a:r>
            <a:endParaRPr lang="en-US" sz="1000" dirty="0"/>
          </a:p>
        </p:txBody>
      </p:sp>
      <p:sp>
        <p:nvSpPr>
          <p:cNvPr id="61" name="Shape 59"/>
          <p:cNvSpPr/>
          <p:nvPr/>
        </p:nvSpPr>
        <p:spPr>
          <a:xfrm>
            <a:off x="10899105" y="3376216"/>
            <a:ext cx="19050" cy="264616"/>
          </a:xfrm>
          <a:prstGeom prst="roundRect">
            <a:avLst>
              <a:gd name="adj" fmla="val 291714"/>
            </a:avLst>
          </a:prstGeom>
          <a:solidFill>
            <a:srgbClr val="DDD3BA"/>
          </a:solidFill>
          <a:ln/>
        </p:spPr>
      </p:sp>
      <p:sp>
        <p:nvSpPr>
          <p:cNvPr id="62" name="Shape 60"/>
          <p:cNvSpPr/>
          <p:nvPr/>
        </p:nvSpPr>
        <p:spPr>
          <a:xfrm>
            <a:off x="10859022" y="3591223"/>
            <a:ext cx="99216" cy="99219"/>
          </a:xfrm>
          <a:prstGeom prst="roundRect">
            <a:avLst>
              <a:gd name="adj" fmla="val 384001"/>
            </a:avLst>
          </a:prstGeom>
          <a:solidFill>
            <a:srgbClr val="B88E23"/>
          </a:solidFill>
          <a:ln/>
        </p:spPr>
      </p:sp>
      <p:sp>
        <p:nvSpPr>
          <p:cNvPr id="63" name="Text 61"/>
          <p:cNvSpPr/>
          <p:nvPr/>
        </p:nvSpPr>
        <p:spPr>
          <a:xfrm>
            <a:off x="10419494" y="1433612"/>
            <a:ext cx="978372" cy="206673"/>
          </a:xfrm>
          <a:prstGeom prst="rect">
            <a:avLst/>
          </a:prstGeom>
          <a:noFill/>
          <a:ln/>
        </p:spPr>
        <p:txBody>
          <a:bodyPr wrap="none" lIns="0" tIns="0" rIns="0" bIns="0" rtlCol="0" anchor="t"/>
          <a:lstStyle/>
          <a:p>
            <a:pPr marL="0" indent="0" algn="ctr">
              <a:lnSpc>
                <a:spcPct val="104000"/>
              </a:lnSpc>
              <a:buNone/>
            </a:pPr>
            <a:r>
              <a:rPr lang="en-US" sz="1300" dirty="0">
                <a:solidFill>
                  <a:srgbClr val="454240"/>
                </a:solidFill>
                <a:latin typeface="Libre Baskerville" pitchFamily="34" charset="0"/>
                <a:ea typeface="Libre Baskerville" pitchFamily="34" charset="-122"/>
                <a:cs typeface="Libre Baskerville" pitchFamily="34" charset="-120"/>
              </a:rPr>
              <a:t>Stop</a:t>
            </a:r>
            <a:endParaRPr lang="en-US" sz="1300" dirty="0"/>
          </a:p>
        </p:txBody>
      </p:sp>
      <p:sp>
        <p:nvSpPr>
          <p:cNvPr id="64" name="Text 62"/>
          <p:cNvSpPr/>
          <p:nvPr/>
        </p:nvSpPr>
        <p:spPr>
          <a:xfrm>
            <a:off x="10419494" y="1703784"/>
            <a:ext cx="978372" cy="1143000"/>
          </a:xfrm>
          <a:prstGeom prst="rect">
            <a:avLst/>
          </a:prstGeom>
          <a:noFill/>
          <a:ln/>
        </p:spPr>
        <p:txBody>
          <a:bodyPr wrap="square" lIns="0" tIns="0" rIns="0" bIns="0" rtlCol="0" anchor="t">
            <a:normAutofit/>
          </a:bodyPr>
          <a:lstStyle/>
          <a:p>
            <a:pPr marL="0" indent="0" algn="ctr">
              <a:lnSpc>
                <a:spcPct val="120000"/>
              </a:lnSpc>
              <a:buNone/>
            </a:pPr>
            <a:r>
              <a:rPr lang="en-US" sz="1000" dirty="0">
                <a:solidFill>
                  <a:srgbClr val="454240"/>
                </a:solidFill>
                <a:latin typeface="DM Sans" pitchFamily="34" charset="0"/>
                <a:ea typeface="DM Sans" pitchFamily="34" charset="-122"/>
                <a:cs typeface="DM Sans" pitchFamily="34" charset="-120"/>
              </a:rPr>
              <a:t>When the model produces a special "end" token, or hits a length limit.</a:t>
            </a:r>
            <a:endParaRPr lang="en-US" sz="1000" dirty="0"/>
          </a:p>
        </p:txBody>
      </p:sp>
      <p:sp>
        <p:nvSpPr>
          <p:cNvPr id="65" name="Shape 63"/>
          <p:cNvSpPr/>
          <p:nvPr/>
        </p:nvSpPr>
        <p:spPr>
          <a:xfrm>
            <a:off x="661574" y="5792788"/>
            <a:ext cx="10868547" cy="447080"/>
          </a:xfrm>
          <a:prstGeom prst="roundRect">
            <a:avLst>
              <a:gd name="adj" fmla="val 12430"/>
            </a:avLst>
          </a:prstGeom>
          <a:solidFill>
            <a:srgbClr val="B6FCB8"/>
          </a:solidFill>
          <a:ln/>
        </p:spPr>
      </p:sp>
      <p:pic>
        <p:nvPicPr>
          <p:cNvPr id="66"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3829" y="5975648"/>
            <a:ext cx="165294" cy="132259"/>
          </a:xfrm>
          <a:prstGeom prst="rect">
            <a:avLst/>
          </a:prstGeom>
        </p:spPr>
      </p:pic>
      <p:sp>
        <p:nvSpPr>
          <p:cNvPr id="67" name="Text 64"/>
          <p:cNvSpPr/>
          <p:nvPr/>
        </p:nvSpPr>
        <p:spPr>
          <a:xfrm>
            <a:off x="1091379" y="5921077"/>
            <a:ext cx="10916071" cy="190500"/>
          </a:xfrm>
          <a:prstGeom prst="rect">
            <a:avLst/>
          </a:prstGeom>
          <a:noFill/>
          <a:ln/>
        </p:spPr>
        <p:txBody>
          <a:bodyPr wrap="none" lIns="0" tIns="0" rIns="0" bIns="0" rtlCol="0" anchor="t"/>
          <a:lstStyle/>
          <a:p>
            <a:pPr marL="0" indent="0" algn="l">
              <a:lnSpc>
                <a:spcPct val="120000"/>
              </a:lnSpc>
              <a:buNone/>
            </a:pPr>
            <a:r>
              <a:rPr lang="en-US" sz="1000" dirty="0">
                <a:solidFill>
                  <a:srgbClr val="000000"/>
                </a:solidFill>
                <a:latin typeface="DM Sans" pitchFamily="34" charset="0"/>
                <a:ea typeface="DM Sans" pitchFamily="34" charset="-122"/>
                <a:cs typeface="DM Sans" pitchFamily="34" charset="-120"/>
              </a:rPr>
              <a:t>All of this happens in a few seconds. For each word.</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61574" y="786309"/>
            <a:ext cx="11166295"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Callbacks — The Questions from Part 1, Answered</a:t>
            </a:r>
            <a:endParaRPr lang="en-US" sz="3250" dirty="0"/>
          </a:p>
        </p:txBody>
      </p:sp>
      <p:sp>
        <p:nvSpPr>
          <p:cNvPr id="3" name="Text 1"/>
          <p:cNvSpPr/>
          <p:nvPr/>
        </p:nvSpPr>
        <p:spPr>
          <a:xfrm>
            <a:off x="661574" y="1633736"/>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We promised to come back to the open questions. Here's where we stand now:</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525" y="2084388"/>
            <a:ext cx="5370676" cy="1778695"/>
          </a:xfrm>
          <a:prstGeom prst="rect">
            <a:avLst/>
          </a:prstGeom>
        </p:spPr>
      </p:pic>
      <p:sp>
        <p:nvSpPr>
          <p:cNvPr id="5" name="Text 2"/>
          <p:cNvSpPr/>
          <p:nvPr/>
        </p:nvSpPr>
        <p:spPr>
          <a:xfrm>
            <a:off x="903066" y="2268736"/>
            <a:ext cx="4129480"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"Why does it reply one word at a time?"</a:t>
            </a:r>
            <a:endParaRPr lang="en-US" sz="1600" dirty="0"/>
          </a:p>
        </p:txBody>
      </p:sp>
      <p:sp>
        <p:nvSpPr>
          <p:cNvPr id="6" name="Text 3"/>
          <p:cNvSpPr/>
          <p:nvPr/>
        </p:nvSpPr>
        <p:spPr>
          <a:xfrm>
            <a:off x="903066" y="2626420"/>
            <a:ext cx="492579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Because each word is predicted from everything that came before it. The model literally cannot produce the whole answer at once — it has to feed its own output back in, word by word.</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59445" y="2084388"/>
            <a:ext cx="5370676" cy="1778695"/>
          </a:xfrm>
          <a:prstGeom prst="rect">
            <a:avLst/>
          </a:prstGeom>
        </p:spPr>
      </p:pic>
      <p:sp>
        <p:nvSpPr>
          <p:cNvPr id="8" name="Text 4"/>
          <p:cNvSpPr/>
          <p:nvPr/>
        </p:nvSpPr>
        <p:spPr>
          <a:xfrm>
            <a:off x="6419987" y="2268736"/>
            <a:ext cx="4925790"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"Why does it sometimes give wrong answers with complete confidence?"</a:t>
            </a:r>
            <a:endParaRPr lang="en-US" sz="1600" dirty="0"/>
          </a:p>
        </p:txBody>
      </p:sp>
      <p:sp>
        <p:nvSpPr>
          <p:cNvPr id="9" name="Text 5"/>
          <p:cNvSpPr/>
          <p:nvPr/>
        </p:nvSpPr>
        <p:spPr>
          <a:xfrm>
            <a:off x="6419987" y="2884884"/>
            <a:ext cx="492579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Because it's predicting words that </a:t>
            </a:r>
            <a:r>
              <a:rPr lang="en-US" sz="1300" i="1" dirty="0">
                <a:solidFill>
                  <a:srgbClr val="454240"/>
                </a:solidFill>
                <a:latin typeface="DM Sans" pitchFamily="34" charset="0"/>
                <a:ea typeface="DM Sans" pitchFamily="34" charset="-122"/>
                <a:cs typeface="DM Sans" pitchFamily="34" charset="-120"/>
              </a:rPr>
              <a:t>sound</a:t>
            </a:r>
            <a:r>
              <a:rPr lang="en-US" sz="1300" dirty="0">
                <a:solidFill>
                  <a:srgbClr val="454240"/>
                </a:solidFill>
                <a:latin typeface="DM Sans" pitchFamily="34" charset="0"/>
                <a:ea typeface="DM Sans" pitchFamily="34" charset="-122"/>
                <a:cs typeface="DM Sans" pitchFamily="34" charset="-120"/>
              </a:rPr>
              <a:t> right based on patterns, not facts. Confidence in the language doesn't mean confidence in the content. There's no fact-checker built in.</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525" y="4028380"/>
            <a:ext cx="5370676" cy="2043311"/>
          </a:xfrm>
          <a:prstGeom prst="rect">
            <a:avLst/>
          </a:prstGeom>
        </p:spPr>
      </p:pic>
      <p:sp>
        <p:nvSpPr>
          <p:cNvPr id="11" name="Text 6"/>
          <p:cNvSpPr/>
          <p:nvPr/>
        </p:nvSpPr>
        <p:spPr>
          <a:xfrm>
            <a:off x="903066" y="4212729"/>
            <a:ext cx="4925790"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"Why does running these models need so much computing power?"</a:t>
            </a:r>
            <a:endParaRPr lang="en-US" sz="1600" dirty="0"/>
          </a:p>
        </p:txBody>
      </p:sp>
      <p:sp>
        <p:nvSpPr>
          <p:cNvPr id="12" name="Text 7"/>
          <p:cNvSpPr/>
          <p:nvPr/>
        </p:nvSpPr>
        <p:spPr>
          <a:xfrm>
            <a:off x="903066" y="4828877"/>
            <a:ext cx="492579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Because of attention. Every word looking at every other word, across dozens of layers, with thousands of meaning-numbers each — that's billions of multiplications for every single token of output.</a:t>
            </a:r>
            <a:endParaRPr lang="en-US" sz="13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59445" y="4028380"/>
            <a:ext cx="5370676" cy="2043311"/>
          </a:xfrm>
          <a:prstGeom prst="rect">
            <a:avLst/>
          </a:prstGeom>
        </p:spPr>
      </p:pic>
      <p:sp>
        <p:nvSpPr>
          <p:cNvPr id="14" name="Text 8"/>
          <p:cNvSpPr/>
          <p:nvPr/>
        </p:nvSpPr>
        <p:spPr>
          <a:xfrm>
            <a:off x="6419987" y="4212729"/>
            <a:ext cx="4925790"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"Does it really know English, Spanish, and Hindi?"</a:t>
            </a:r>
            <a:endParaRPr lang="en-US" sz="1600" dirty="0"/>
          </a:p>
        </p:txBody>
      </p:sp>
      <p:sp>
        <p:nvSpPr>
          <p:cNvPr id="15" name="Text 9"/>
          <p:cNvSpPr/>
          <p:nvPr/>
        </p:nvSpPr>
        <p:spPr>
          <a:xfrm>
            <a:off x="6419987" y="4828877"/>
            <a:ext cx="492579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It doesn't "know" any language the way we do. It learned which tokens tend to appear near which other tokens. The patterns of Hindi look different from English in the numbers — and the model captured both sets of patterns.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19809" y="0"/>
            <a:ext cx="4571886" cy="6858000"/>
          </a:xfrm>
          <a:prstGeom prst="rect">
            <a:avLst/>
          </a:prstGeom>
        </p:spPr>
      </p:pic>
      <p:sp>
        <p:nvSpPr>
          <p:cNvPr id="3" name="Text 0"/>
          <p:cNvSpPr/>
          <p:nvPr/>
        </p:nvSpPr>
        <p:spPr>
          <a:xfrm>
            <a:off x="661475" y="867668"/>
            <a:ext cx="4744323"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What's Still Open</a:t>
            </a:r>
            <a:endParaRPr lang="en-US" sz="3250" dirty="0"/>
          </a:p>
        </p:txBody>
      </p:sp>
      <p:sp>
        <p:nvSpPr>
          <p:cNvPr id="4" name="Text 1"/>
          <p:cNvSpPr/>
          <p:nvPr/>
        </p:nvSpPr>
        <p:spPr>
          <a:xfrm>
            <a:off x="661475" y="1632446"/>
            <a:ext cx="6906444"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Two questions remain — and they're the deepest ones:</a:t>
            </a:r>
            <a:endParaRPr lang="en-US" sz="1300" dirty="0"/>
          </a:p>
        </p:txBody>
      </p:sp>
      <p:sp>
        <p:nvSpPr>
          <p:cNvPr id="5" name="Shape 2"/>
          <p:cNvSpPr/>
          <p:nvPr/>
        </p:nvSpPr>
        <p:spPr>
          <a:xfrm>
            <a:off x="661475" y="2083098"/>
            <a:ext cx="6296860" cy="1230213"/>
          </a:xfrm>
          <a:prstGeom prst="roundRect">
            <a:avLst>
              <a:gd name="adj" fmla="val 5647"/>
            </a:avLst>
          </a:prstGeom>
          <a:solidFill>
            <a:srgbClr val="F7EDD4"/>
          </a:solidFill>
          <a:ln w="6350">
            <a:solidFill>
              <a:srgbClr val="DDD3BA"/>
            </a:solidFill>
            <a:prstDash val="solid"/>
          </a:ln>
        </p:spPr>
      </p:sp>
      <p:sp>
        <p:nvSpPr>
          <p:cNvPr id="6" name="Text 3"/>
          <p:cNvSpPr/>
          <p:nvPr/>
        </p:nvSpPr>
        <p:spPr>
          <a:xfrm>
            <a:off x="833119" y="2254746"/>
            <a:ext cx="3106263"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Does it truly understand you?</a:t>
            </a:r>
            <a:endParaRPr lang="en-US" sz="1600" dirty="0"/>
          </a:p>
        </p:txBody>
      </p:sp>
      <p:sp>
        <p:nvSpPr>
          <p:cNvPr id="7" name="Text 4"/>
          <p:cNvSpPr/>
          <p:nvPr/>
        </p:nvSpPr>
        <p:spPr>
          <a:xfrm>
            <a:off x="833119" y="2612430"/>
            <a:ext cx="595357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Or does it just process numbers? The distinction between genuine understanding and sophisticated pattern-matching remains unresolved.</a:t>
            </a:r>
            <a:endParaRPr lang="en-US" sz="1300" dirty="0"/>
          </a:p>
        </p:txBody>
      </p:sp>
      <p:sp>
        <p:nvSpPr>
          <p:cNvPr id="8" name="Shape 5"/>
          <p:cNvSpPr/>
          <p:nvPr/>
        </p:nvSpPr>
        <p:spPr>
          <a:xfrm>
            <a:off x="661475" y="3478609"/>
            <a:ext cx="6296860" cy="1230213"/>
          </a:xfrm>
          <a:prstGeom prst="roundRect">
            <a:avLst>
              <a:gd name="adj" fmla="val 5647"/>
            </a:avLst>
          </a:prstGeom>
          <a:solidFill>
            <a:srgbClr val="F7EDD4"/>
          </a:solidFill>
          <a:ln w="6350">
            <a:solidFill>
              <a:srgbClr val="DDD3BA"/>
            </a:solidFill>
            <a:prstDash val="solid"/>
          </a:ln>
        </p:spPr>
      </p:sp>
      <p:sp>
        <p:nvSpPr>
          <p:cNvPr id="9" name="Text 6"/>
          <p:cNvSpPr/>
          <p:nvPr/>
        </p:nvSpPr>
        <p:spPr>
          <a:xfrm>
            <a:off x="833119" y="3650258"/>
            <a:ext cx="4484873"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How is it like — or unlike — how we think?</a:t>
            </a:r>
            <a:endParaRPr lang="en-US" sz="1600" dirty="0"/>
          </a:p>
        </p:txBody>
      </p:sp>
      <p:sp>
        <p:nvSpPr>
          <p:cNvPr id="10" name="Text 7"/>
          <p:cNvSpPr/>
          <p:nvPr/>
        </p:nvSpPr>
        <p:spPr>
          <a:xfrm>
            <a:off x="833119" y="4007941"/>
            <a:ext cx="595357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If it's predicting the next word, what does that share with human cognition? What is fundamentally different?</a:t>
            </a:r>
            <a:endParaRPr lang="en-US" sz="1300" dirty="0"/>
          </a:p>
        </p:txBody>
      </p:sp>
      <p:sp>
        <p:nvSpPr>
          <p:cNvPr id="11" name="Shape 8"/>
          <p:cNvSpPr/>
          <p:nvPr/>
        </p:nvSpPr>
        <p:spPr>
          <a:xfrm>
            <a:off x="661475" y="4894858"/>
            <a:ext cx="6296860" cy="909439"/>
          </a:xfrm>
          <a:prstGeom prst="roundRect">
            <a:avLst>
              <a:gd name="adj" fmla="val 7638"/>
            </a:avLst>
          </a:prstGeom>
          <a:solidFill>
            <a:srgbClr val="D9D9D9"/>
          </a:solidFill>
          <a:ln/>
        </p:spPr>
      </p:sp>
      <p:pic>
        <p:nvPicPr>
          <p:cNvPr id="12"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6769" y="5134570"/>
            <a:ext cx="206667" cy="165298"/>
          </a:xfrm>
          <a:prstGeom prst="rect">
            <a:avLst/>
          </a:prstGeom>
        </p:spPr>
      </p:pic>
      <p:sp>
        <p:nvSpPr>
          <p:cNvPr id="13" name="Text 9"/>
          <p:cNvSpPr/>
          <p:nvPr/>
        </p:nvSpPr>
        <p:spPr>
          <a:xfrm>
            <a:off x="1198731" y="5084961"/>
            <a:ext cx="559430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These don't have settled answers, even among researchers. They're worth sitting with as you use these tools every day.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19809" y="0"/>
            <a:ext cx="4571886" cy="6858000"/>
          </a:xfrm>
          <a:prstGeom prst="rect">
            <a:avLst/>
          </a:prstGeom>
        </p:spPr>
      </p:pic>
      <p:sp>
        <p:nvSpPr>
          <p:cNvPr id="3" name="Text 0"/>
          <p:cNvSpPr/>
          <p:nvPr/>
        </p:nvSpPr>
        <p:spPr>
          <a:xfrm>
            <a:off x="661475" y="1720552"/>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How Attention Actually Works</a:t>
            </a:r>
            <a:endParaRPr lang="en-US" sz="3250" dirty="0"/>
          </a:p>
        </p:txBody>
      </p:sp>
      <p:sp>
        <p:nvSpPr>
          <p:cNvPr id="4" name="Text 1"/>
          <p:cNvSpPr/>
          <p:nvPr/>
        </p:nvSpPr>
        <p:spPr>
          <a:xfrm>
            <a:off x="661475" y="2820095"/>
            <a:ext cx="5869734"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The Mechanism Behind Every Modern AI System</a:t>
            </a:r>
            <a:endParaRPr lang="en-US" sz="1600" dirty="0"/>
          </a:p>
        </p:txBody>
      </p:sp>
      <p:sp>
        <p:nvSpPr>
          <p:cNvPr id="5" name="Text 2"/>
          <p:cNvSpPr/>
          <p:nvPr/>
        </p:nvSpPr>
        <p:spPr>
          <a:xfrm>
            <a:off x="661475" y="3326606"/>
            <a:ext cx="629686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We've referenced </a:t>
            </a:r>
            <a:r>
              <a:rPr lang="en-US" sz="1300" b="1" dirty="0">
                <a:solidFill>
                  <a:srgbClr val="454240"/>
                </a:solidFill>
                <a:latin typeface="DM Sans" pitchFamily="34" charset="0"/>
                <a:ea typeface="DM Sans" pitchFamily="34" charset="-122"/>
                <a:cs typeface="DM Sans" pitchFamily="34" charset="-120"/>
              </a:rPr>
              <a:t>attention</a:t>
            </a:r>
            <a:r>
              <a:rPr lang="en-US" sz="1300" dirty="0">
                <a:solidFill>
                  <a:srgbClr val="454240"/>
                </a:solidFill>
                <a:latin typeface="DM Sans" pitchFamily="34" charset="0"/>
                <a:ea typeface="DM Sans" pitchFamily="34" charset="-122"/>
                <a:cs typeface="DM Sans" pitchFamily="34" charset="-120"/>
              </a:rPr>
              <a:t> throughout the series. It's time to slow down and look at it properly — because once you see how it works, you understand most of what's actually happening inside an LLM.</a:t>
            </a:r>
            <a:endParaRPr lang="en-US" sz="1300" dirty="0"/>
          </a:p>
        </p:txBody>
      </p:sp>
      <p:sp>
        <p:nvSpPr>
          <p:cNvPr id="6" name="Shape 3"/>
          <p:cNvSpPr/>
          <p:nvPr/>
        </p:nvSpPr>
        <p:spPr>
          <a:xfrm>
            <a:off x="661475" y="4306491"/>
            <a:ext cx="6296860" cy="644823"/>
          </a:xfrm>
          <a:prstGeom prst="roundRect">
            <a:avLst>
              <a:gd name="adj" fmla="val 10773"/>
            </a:avLst>
          </a:prstGeom>
          <a:solidFill>
            <a:srgbClr val="B6D6FC"/>
          </a:solidFill>
          <a:ln/>
        </p:spPr>
      </p:sp>
      <p:pic>
        <p:nvPicPr>
          <p:cNvPr id="7"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6769" y="4546203"/>
            <a:ext cx="206667" cy="165298"/>
          </a:xfrm>
          <a:prstGeom prst="rect">
            <a:avLst/>
          </a:prstGeom>
        </p:spPr>
      </p:pic>
      <p:sp>
        <p:nvSpPr>
          <p:cNvPr id="8" name="Text 4"/>
          <p:cNvSpPr/>
          <p:nvPr/>
        </p:nvSpPr>
        <p:spPr>
          <a:xfrm>
            <a:off x="1198731" y="4496594"/>
            <a:ext cx="6203894"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No history. No maths. Two worked examples, in plain language.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661574" y="1847751"/>
            <a:ext cx="6319977"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The One-Sentence Version</a:t>
            </a:r>
            <a:endParaRPr lang="en-US" sz="3250" dirty="0"/>
          </a:p>
        </p:txBody>
      </p:sp>
      <p:sp>
        <p:nvSpPr>
          <p:cNvPr id="3" name="Text 1"/>
          <p:cNvSpPr/>
          <p:nvPr/>
        </p:nvSpPr>
        <p:spPr>
          <a:xfrm>
            <a:off x="661574" y="2430562"/>
            <a:ext cx="10868547" cy="2066925"/>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B88E23"/>
                </a:solidFill>
                <a:latin typeface="Libre Baskerville" pitchFamily="34" charset="0"/>
                <a:ea typeface="Libre Baskerville" pitchFamily="34" charset="-122"/>
                <a:cs typeface="Libre Baskerville" pitchFamily="34" charset="-120"/>
              </a:rPr>
              <a:t>Attention is every word in a sentence looking at every other word, deciding which ones matter for understanding itself, and updating its meaning accordingly — all at the same time.</a:t>
            </a:r>
            <a:endParaRPr lang="en-US" sz="3250" dirty="0"/>
          </a:p>
        </p:txBody>
      </p:sp>
      <p:sp>
        <p:nvSpPr>
          <p:cNvPr id="4" name="Text 2"/>
          <p:cNvSpPr/>
          <p:nvPr/>
        </p:nvSpPr>
        <p:spPr>
          <a:xfrm>
            <a:off x="661574" y="4745534"/>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That's it. The rest of this document is just unpacking that sentence carefully, with examples.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61574" y="733326"/>
            <a:ext cx="4744323"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The Setup</a:t>
            </a:r>
            <a:endParaRPr lang="en-US" sz="3250" dirty="0"/>
          </a:p>
        </p:txBody>
      </p:sp>
      <p:sp>
        <p:nvSpPr>
          <p:cNvPr id="3" name="Text 1"/>
          <p:cNvSpPr/>
          <p:nvPr/>
        </p:nvSpPr>
        <p:spPr>
          <a:xfrm>
            <a:off x="661574" y="1580753"/>
            <a:ext cx="10868547" cy="979884"/>
          </a:xfrm>
          <a:prstGeom prst="rect">
            <a:avLst/>
          </a:prstGeom>
          <a:noFill/>
          <a:ln/>
        </p:spPr>
        <p:txBody>
          <a:bodyPr wrap="square" lIns="0" tIns="0" rIns="0" bIns="0" rtlCol="0" anchor="t">
            <a:normAutofit/>
          </a:bodyPr>
          <a:lstStyle/>
          <a:p>
            <a:pPr marL="0" indent="0" algn="l">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Recall from Part 1: by the time the model is ready to "think," every word in our sentence has been turned into a long row of numbers. That row captures the word's general meaning — the dictionary version of it.</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But the dictionary version isn't enough. Take the word </a:t>
            </a:r>
            <a:r>
              <a:rPr lang="en-US" sz="1300" b="1" dirty="0">
                <a:solidFill>
                  <a:srgbClr val="454240"/>
                </a:solidFill>
                <a:latin typeface="DM Sans" pitchFamily="34" charset="0"/>
                <a:ea typeface="DM Sans" pitchFamily="34" charset="-122"/>
                <a:cs typeface="DM Sans" pitchFamily="34" charset="-120"/>
              </a:rPr>
              <a:t>"exposure."</a:t>
            </a:r>
            <a:r>
              <a:rPr lang="en-US" sz="1300" dirty="0">
                <a:solidFill>
                  <a:srgbClr val="454240"/>
                </a:solidFill>
                <a:latin typeface="DM Sans" pitchFamily="34" charset="0"/>
                <a:ea typeface="DM Sans" pitchFamily="34" charset="-122"/>
                <a:cs typeface="DM Sans" pitchFamily="34" charset="-120"/>
              </a:rPr>
              <a:t> On its own, it could mean:</a:t>
            </a:r>
            <a:endParaRPr lang="en-US" sz="1300" dirty="0"/>
          </a:p>
        </p:txBody>
      </p:sp>
      <p:sp>
        <p:nvSpPr>
          <p:cNvPr id="4" name="Shape 2"/>
          <p:cNvSpPr/>
          <p:nvPr/>
        </p:nvSpPr>
        <p:spPr>
          <a:xfrm>
            <a:off x="661574" y="2746673"/>
            <a:ext cx="3512653" cy="965597"/>
          </a:xfrm>
          <a:prstGeom prst="roundRect">
            <a:avLst>
              <a:gd name="adj" fmla="val 7194"/>
            </a:avLst>
          </a:prstGeom>
          <a:solidFill>
            <a:srgbClr val="F7EDD4"/>
          </a:solidFill>
          <a:ln w="6350">
            <a:solidFill>
              <a:srgbClr val="DDD3BA"/>
            </a:solidFill>
            <a:prstDash val="solid"/>
          </a:ln>
        </p:spPr>
      </p:sp>
      <p:sp>
        <p:nvSpPr>
          <p:cNvPr id="5" name="Text 3"/>
          <p:cNvSpPr/>
          <p:nvPr/>
        </p:nvSpPr>
        <p:spPr>
          <a:xfrm>
            <a:off x="833218" y="2918321"/>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Medical</a:t>
            </a:r>
            <a:endParaRPr lang="en-US" sz="1600" dirty="0"/>
          </a:p>
        </p:txBody>
      </p:sp>
      <p:sp>
        <p:nvSpPr>
          <p:cNvPr id="6" name="Text 4"/>
          <p:cNvSpPr/>
          <p:nvPr/>
        </p:nvSpPr>
        <p:spPr>
          <a:xfrm>
            <a:off x="833218" y="3276005"/>
            <a:ext cx="3169364"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Exposure to sunlight</a:t>
            </a:r>
            <a:endParaRPr lang="en-US" sz="1300" dirty="0"/>
          </a:p>
        </p:txBody>
      </p:sp>
      <p:sp>
        <p:nvSpPr>
          <p:cNvPr id="7" name="Shape 5"/>
          <p:cNvSpPr/>
          <p:nvPr/>
        </p:nvSpPr>
        <p:spPr>
          <a:xfrm>
            <a:off x="4339521" y="2746673"/>
            <a:ext cx="3512653" cy="965597"/>
          </a:xfrm>
          <a:prstGeom prst="roundRect">
            <a:avLst>
              <a:gd name="adj" fmla="val 7194"/>
            </a:avLst>
          </a:prstGeom>
          <a:solidFill>
            <a:srgbClr val="F7EDD4"/>
          </a:solidFill>
          <a:ln w="6350">
            <a:solidFill>
              <a:srgbClr val="DDD3BA"/>
            </a:solidFill>
            <a:prstDash val="solid"/>
          </a:ln>
        </p:spPr>
      </p:sp>
      <p:sp>
        <p:nvSpPr>
          <p:cNvPr id="8" name="Text 6"/>
          <p:cNvSpPr/>
          <p:nvPr/>
        </p:nvSpPr>
        <p:spPr>
          <a:xfrm>
            <a:off x="4511165" y="2918321"/>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Safety</a:t>
            </a:r>
            <a:endParaRPr lang="en-US" sz="1600" dirty="0"/>
          </a:p>
        </p:txBody>
      </p:sp>
      <p:sp>
        <p:nvSpPr>
          <p:cNvPr id="9" name="Text 7"/>
          <p:cNvSpPr/>
          <p:nvPr/>
        </p:nvSpPr>
        <p:spPr>
          <a:xfrm>
            <a:off x="4511165" y="3276005"/>
            <a:ext cx="3169364"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Exposure to a chemical</a:t>
            </a:r>
            <a:endParaRPr lang="en-US" sz="1300" dirty="0"/>
          </a:p>
        </p:txBody>
      </p:sp>
      <p:sp>
        <p:nvSpPr>
          <p:cNvPr id="10" name="Shape 8"/>
          <p:cNvSpPr/>
          <p:nvPr/>
        </p:nvSpPr>
        <p:spPr>
          <a:xfrm>
            <a:off x="8017468" y="2746673"/>
            <a:ext cx="3512653" cy="965597"/>
          </a:xfrm>
          <a:prstGeom prst="roundRect">
            <a:avLst>
              <a:gd name="adj" fmla="val 7194"/>
            </a:avLst>
          </a:prstGeom>
          <a:solidFill>
            <a:srgbClr val="F7EDD4"/>
          </a:solidFill>
          <a:ln w="6350">
            <a:solidFill>
              <a:srgbClr val="DDD3BA"/>
            </a:solidFill>
            <a:prstDash val="solid"/>
          </a:ln>
        </p:spPr>
      </p:sp>
      <p:sp>
        <p:nvSpPr>
          <p:cNvPr id="11" name="Text 9"/>
          <p:cNvSpPr/>
          <p:nvPr/>
        </p:nvSpPr>
        <p:spPr>
          <a:xfrm>
            <a:off x="8189112" y="2918321"/>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Photography</a:t>
            </a:r>
            <a:endParaRPr lang="en-US" sz="1600" dirty="0"/>
          </a:p>
        </p:txBody>
      </p:sp>
      <p:sp>
        <p:nvSpPr>
          <p:cNvPr id="12" name="Text 10"/>
          <p:cNvSpPr/>
          <p:nvPr/>
        </p:nvSpPr>
        <p:spPr>
          <a:xfrm>
            <a:off x="8189112" y="3276005"/>
            <a:ext cx="3169364"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Exposure in a photograph</a:t>
            </a:r>
            <a:endParaRPr lang="en-US" sz="1300" dirty="0"/>
          </a:p>
        </p:txBody>
      </p:sp>
      <p:sp>
        <p:nvSpPr>
          <p:cNvPr id="13" name="Shape 11"/>
          <p:cNvSpPr/>
          <p:nvPr/>
        </p:nvSpPr>
        <p:spPr>
          <a:xfrm>
            <a:off x="661574" y="3877568"/>
            <a:ext cx="5351626" cy="965597"/>
          </a:xfrm>
          <a:prstGeom prst="roundRect">
            <a:avLst>
              <a:gd name="adj" fmla="val 7194"/>
            </a:avLst>
          </a:prstGeom>
          <a:solidFill>
            <a:srgbClr val="F7EDD4"/>
          </a:solidFill>
          <a:ln w="6350">
            <a:solidFill>
              <a:srgbClr val="DDD3BA"/>
            </a:solidFill>
            <a:prstDash val="solid"/>
          </a:ln>
        </p:spPr>
      </p:sp>
      <p:sp>
        <p:nvSpPr>
          <p:cNvPr id="14" name="Text 12"/>
          <p:cNvSpPr/>
          <p:nvPr/>
        </p:nvSpPr>
        <p:spPr>
          <a:xfrm>
            <a:off x="833218" y="4049216"/>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Finance</a:t>
            </a:r>
            <a:endParaRPr lang="en-US" sz="1600" dirty="0"/>
          </a:p>
        </p:txBody>
      </p:sp>
      <p:sp>
        <p:nvSpPr>
          <p:cNvPr id="15" name="Text 13"/>
          <p:cNvSpPr/>
          <p:nvPr/>
        </p:nvSpPr>
        <p:spPr>
          <a:xfrm>
            <a:off x="833218" y="4406900"/>
            <a:ext cx="5008338"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Exposure to risk</a:t>
            </a:r>
            <a:endParaRPr lang="en-US" sz="1300" dirty="0"/>
          </a:p>
        </p:txBody>
      </p:sp>
      <p:sp>
        <p:nvSpPr>
          <p:cNvPr id="16" name="Shape 14"/>
          <p:cNvSpPr/>
          <p:nvPr/>
        </p:nvSpPr>
        <p:spPr>
          <a:xfrm>
            <a:off x="6178495" y="3877568"/>
            <a:ext cx="5351626" cy="965597"/>
          </a:xfrm>
          <a:prstGeom prst="roundRect">
            <a:avLst>
              <a:gd name="adj" fmla="val 7194"/>
            </a:avLst>
          </a:prstGeom>
          <a:solidFill>
            <a:srgbClr val="F7EDD4"/>
          </a:solidFill>
          <a:ln w="6350">
            <a:solidFill>
              <a:srgbClr val="DDD3BA"/>
            </a:solidFill>
            <a:prstDash val="solid"/>
          </a:ln>
        </p:spPr>
      </p:sp>
      <p:sp>
        <p:nvSpPr>
          <p:cNvPr id="17" name="Text 15"/>
          <p:cNvSpPr/>
          <p:nvPr/>
        </p:nvSpPr>
        <p:spPr>
          <a:xfrm>
            <a:off x="6350139" y="4049216"/>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Media</a:t>
            </a:r>
            <a:endParaRPr lang="en-US" sz="1600" dirty="0"/>
          </a:p>
        </p:txBody>
      </p:sp>
      <p:sp>
        <p:nvSpPr>
          <p:cNvPr id="18" name="Text 16"/>
          <p:cNvSpPr/>
          <p:nvPr/>
        </p:nvSpPr>
        <p:spPr>
          <a:xfrm>
            <a:off x="6350139" y="4406900"/>
            <a:ext cx="5008338"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 journalist's exposé</a:t>
            </a:r>
            <a:endParaRPr lang="en-US" sz="1300" dirty="0"/>
          </a:p>
        </p:txBody>
      </p:sp>
      <p:sp>
        <p:nvSpPr>
          <p:cNvPr id="19" name="Shape 17"/>
          <p:cNvSpPr/>
          <p:nvPr/>
        </p:nvSpPr>
        <p:spPr>
          <a:xfrm>
            <a:off x="661574" y="5029200"/>
            <a:ext cx="10868547" cy="909439"/>
          </a:xfrm>
          <a:prstGeom prst="roundRect">
            <a:avLst>
              <a:gd name="adj" fmla="val 7638"/>
            </a:avLst>
          </a:prstGeom>
          <a:solidFill>
            <a:srgbClr val="F3E4BF"/>
          </a:solidFill>
          <a:ln/>
        </p:spPr>
      </p:sp>
      <p:pic>
        <p:nvPicPr>
          <p:cNvPr id="20"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5268913"/>
            <a:ext cx="206667" cy="165298"/>
          </a:xfrm>
          <a:prstGeom prst="rect">
            <a:avLst/>
          </a:prstGeom>
        </p:spPr>
      </p:pic>
      <p:sp>
        <p:nvSpPr>
          <p:cNvPr id="21" name="Text 18"/>
          <p:cNvSpPr/>
          <p:nvPr/>
        </p:nvSpPr>
        <p:spPr>
          <a:xfrm>
            <a:off x="1198830" y="5219303"/>
            <a:ext cx="10165996"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The model needs to figure out </a:t>
            </a:r>
            <a:r>
              <a:rPr lang="en-US" sz="1300" i="1" dirty="0">
                <a:solidFill>
                  <a:srgbClr val="000000"/>
                </a:solidFill>
                <a:latin typeface="DM Sans" pitchFamily="34" charset="0"/>
                <a:ea typeface="DM Sans" pitchFamily="34" charset="-122"/>
                <a:cs typeface="DM Sans" pitchFamily="34" charset="-120"/>
              </a:rPr>
              <a:t>which kind</a:t>
            </a:r>
            <a:r>
              <a:rPr lang="en-US" sz="1300" dirty="0">
                <a:solidFill>
                  <a:srgbClr val="000000"/>
                </a:solidFill>
                <a:latin typeface="DM Sans" pitchFamily="34" charset="0"/>
                <a:ea typeface="DM Sans" pitchFamily="34" charset="-122"/>
                <a:cs typeface="DM Sans" pitchFamily="34" charset="-120"/>
              </a:rPr>
              <a:t> of exposure this is, based on the rest of the sentence. That's the job attention does. It takes each word's generic meaning and </a:t>
            </a:r>
            <a:r>
              <a:rPr lang="en-US" sz="1300" b="1" dirty="0">
                <a:solidFill>
                  <a:srgbClr val="000000"/>
                </a:solidFill>
                <a:latin typeface="DM Sans" pitchFamily="34" charset="0"/>
                <a:ea typeface="DM Sans" pitchFamily="34" charset="-122"/>
                <a:cs typeface="DM Sans" pitchFamily="34" charset="-120"/>
              </a:rPr>
              <a:t>sharpens it using context.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19809" y="0"/>
            <a:ext cx="4571886" cy="6858000"/>
          </a:xfrm>
          <a:prstGeom prst="rect">
            <a:avLst/>
          </a:prstGeom>
        </p:spPr>
      </p:pic>
      <p:sp>
        <p:nvSpPr>
          <p:cNvPr id="3" name="Text 0"/>
          <p:cNvSpPr/>
          <p:nvPr/>
        </p:nvSpPr>
        <p:spPr>
          <a:xfrm>
            <a:off x="661475" y="1886942"/>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Example 1: Our Running Sentence</a:t>
            </a:r>
            <a:endParaRPr lang="en-US" sz="3250" dirty="0"/>
          </a:p>
        </p:txBody>
      </p:sp>
      <p:sp>
        <p:nvSpPr>
          <p:cNvPr id="4" name="Text 1"/>
          <p:cNvSpPr/>
          <p:nvPr/>
        </p:nvSpPr>
        <p:spPr>
          <a:xfrm>
            <a:off x="661475" y="3168452"/>
            <a:ext cx="6906444"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Let's walk through it carefully, on our familiar example:</a:t>
            </a:r>
            <a:endParaRPr lang="en-US" sz="1300" dirty="0"/>
          </a:p>
        </p:txBody>
      </p:sp>
      <p:sp>
        <p:nvSpPr>
          <p:cNvPr id="5" name="Text 2"/>
          <p:cNvSpPr/>
          <p:nvPr/>
        </p:nvSpPr>
        <p:spPr>
          <a:xfrm>
            <a:off x="909516" y="3805138"/>
            <a:ext cx="6658404" cy="264616"/>
          </a:xfrm>
          <a:prstGeom prst="rect">
            <a:avLst/>
          </a:prstGeom>
          <a:noFill/>
          <a:ln/>
        </p:spPr>
        <p:txBody>
          <a:bodyPr wrap="none" lIns="0" tIns="0" rIns="0" bIns="0" rtlCol="0" anchor="t"/>
          <a:lstStyle/>
          <a:p>
            <a:pPr marL="0" indent="0" algn="l">
              <a:lnSpc>
                <a:spcPct val="133000"/>
              </a:lnSpc>
              <a:buNone/>
            </a:pPr>
            <a:r>
              <a:rPr lang="en-US" sz="1300" i="1" dirty="0">
                <a:solidFill>
                  <a:srgbClr val="454240"/>
                </a:solidFill>
                <a:latin typeface="DM Sans" pitchFamily="34" charset="0"/>
                <a:ea typeface="DM Sans" pitchFamily="34" charset="-122"/>
                <a:cs typeface="DM Sans" pitchFamily="34" charset="-120"/>
              </a:rPr>
              <a:t>"What is my portfolio's exposure to emerging-market equities?"</a:t>
            </a:r>
            <a:endParaRPr lang="en-US" sz="1300" dirty="0"/>
          </a:p>
        </p:txBody>
      </p:sp>
      <p:sp>
        <p:nvSpPr>
          <p:cNvPr id="6" name="Text 3"/>
          <p:cNvSpPr/>
          <p:nvPr/>
        </p:nvSpPr>
        <p:spPr>
          <a:xfrm>
            <a:off x="661475" y="4441825"/>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Eleven words. The model is going to do attention on all of them in parallel, but to keep things readable, let's follow just one of them: </a:t>
            </a:r>
            <a:r>
              <a:rPr lang="en-US" sz="1300" b="1" dirty="0">
                <a:solidFill>
                  <a:srgbClr val="454240"/>
                </a:solidFill>
                <a:latin typeface="DM Sans" pitchFamily="34" charset="0"/>
                <a:ea typeface="DM Sans" pitchFamily="34" charset="-122"/>
                <a:cs typeface="DM Sans" pitchFamily="34" charset="-120"/>
              </a:rPr>
              <a:t>"exposure."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4571886" cy="6858000"/>
          </a:xfrm>
          <a:prstGeom prst="rect">
            <a:avLst/>
          </a:prstGeom>
        </p:spPr>
      </p:pic>
      <p:sp>
        <p:nvSpPr>
          <p:cNvPr id="3" name="Text 0"/>
          <p:cNvSpPr/>
          <p:nvPr/>
        </p:nvSpPr>
        <p:spPr>
          <a:xfrm>
            <a:off x="5233360" y="1622326"/>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Step 1: "Exposure" Looks Around the Room</a:t>
            </a:r>
            <a:endParaRPr lang="en-US" sz="3250" dirty="0"/>
          </a:p>
        </p:txBody>
      </p:sp>
      <p:sp>
        <p:nvSpPr>
          <p:cNvPr id="4" name="Text 1"/>
          <p:cNvSpPr/>
          <p:nvPr/>
        </p:nvSpPr>
        <p:spPr>
          <a:xfrm>
            <a:off x="5233360" y="2903835"/>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Imagine all eleven words sitting in a meeting room. The model gives every word the same instruction:</a:t>
            </a:r>
            <a:endParaRPr lang="en-US" sz="1300" dirty="0"/>
          </a:p>
        </p:txBody>
      </p:sp>
      <p:sp>
        <p:nvSpPr>
          <p:cNvPr id="5" name="Text 2"/>
          <p:cNvSpPr/>
          <p:nvPr/>
        </p:nvSpPr>
        <p:spPr>
          <a:xfrm>
            <a:off x="5481401" y="3805138"/>
            <a:ext cx="6048819" cy="529233"/>
          </a:xfrm>
          <a:prstGeom prst="rect">
            <a:avLst/>
          </a:prstGeom>
          <a:noFill/>
          <a:ln/>
        </p:spPr>
        <p:txBody>
          <a:bodyPr wrap="square" lIns="0" tIns="0" rIns="0" bIns="0" rtlCol="0" anchor="t">
            <a:normAutofit/>
          </a:bodyPr>
          <a:lstStyle/>
          <a:p>
            <a:pPr marL="0" indent="0" algn="l">
              <a:lnSpc>
                <a:spcPct val="133000"/>
              </a:lnSpc>
              <a:buNone/>
            </a:pPr>
            <a:r>
              <a:rPr lang="en-US" sz="1300" i="1" dirty="0">
                <a:solidFill>
                  <a:srgbClr val="454240"/>
                </a:solidFill>
                <a:latin typeface="DM Sans" pitchFamily="34" charset="0"/>
                <a:ea typeface="DM Sans" pitchFamily="34" charset="-122"/>
                <a:cs typeface="DM Sans" pitchFamily="34" charset="-120"/>
              </a:rPr>
              <a:t>"Turn to every other word in the room. Decide how relevant each one is to understanding yourself."</a:t>
            </a:r>
            <a:endParaRPr lang="en-US" sz="1300" dirty="0"/>
          </a:p>
        </p:txBody>
      </p:sp>
      <p:sp>
        <p:nvSpPr>
          <p:cNvPr id="6" name="Text 3"/>
          <p:cNvSpPr/>
          <p:nvPr/>
        </p:nvSpPr>
        <p:spPr>
          <a:xfrm>
            <a:off x="5233360" y="4706441"/>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"Exposure" turns to each of the other ten words and asks itself: </a:t>
            </a:r>
            <a:r>
              <a:rPr lang="en-US" sz="1300" i="1" dirty="0">
                <a:solidFill>
                  <a:srgbClr val="454240"/>
                </a:solidFill>
                <a:latin typeface="DM Sans" pitchFamily="34" charset="0"/>
                <a:ea typeface="DM Sans" pitchFamily="34" charset="-122"/>
                <a:cs typeface="DM Sans" pitchFamily="34" charset="-120"/>
              </a:rPr>
              <a:t>how much does this word matter for understanding me, right here, in this sentence?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61574" y="863798"/>
            <a:ext cx="8966075" cy="413445"/>
          </a:xfrm>
          <a:prstGeom prst="rect">
            <a:avLst/>
          </a:prstGeom>
          <a:noFill/>
          <a:ln/>
        </p:spPr>
        <p:txBody>
          <a:bodyPr wrap="none" lIns="0" tIns="0" rIns="0" bIns="0" rtlCol="0" anchor="t"/>
          <a:lstStyle/>
          <a:p>
            <a:pPr marL="0" indent="0" algn="l">
              <a:lnSpc>
                <a:spcPct val="104000"/>
              </a:lnSpc>
              <a:buNone/>
            </a:pPr>
            <a:r>
              <a:rPr lang="en-US" sz="2600" dirty="0">
                <a:solidFill>
                  <a:srgbClr val="5C4E3D"/>
                </a:solidFill>
                <a:latin typeface="Libre Baskerville" pitchFamily="34" charset="0"/>
                <a:ea typeface="Libre Baskerville" pitchFamily="34" charset="-122"/>
                <a:cs typeface="Libre Baskerville" pitchFamily="34" charset="-120"/>
              </a:rPr>
              <a:t>Step 2: "Exposure" Assigns a Weight to Each Word</a:t>
            </a:r>
            <a:endParaRPr lang="en-US" sz="2600" dirty="0"/>
          </a:p>
        </p:txBody>
      </p:sp>
      <p:sp>
        <p:nvSpPr>
          <p:cNvPr id="3" name="Text 1"/>
          <p:cNvSpPr/>
          <p:nvPr/>
        </p:nvSpPr>
        <p:spPr>
          <a:xfrm>
            <a:off x="661574" y="1488877"/>
            <a:ext cx="11478132"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It scores each one — a number between 0 and 1 — reflecting how much attention to pay:</a:t>
            </a:r>
            <a:endParaRPr lang="en-US" sz="1000" dirty="0"/>
          </a:p>
        </p:txBody>
      </p:sp>
      <p:sp>
        <p:nvSpPr>
          <p:cNvPr id="4" name="Shape 2"/>
          <p:cNvSpPr/>
          <p:nvPr/>
        </p:nvSpPr>
        <p:spPr>
          <a:xfrm>
            <a:off x="661574" y="1798439"/>
            <a:ext cx="10868547" cy="3886200"/>
          </a:xfrm>
          <a:prstGeom prst="roundRect">
            <a:avLst>
              <a:gd name="adj" fmla="val 1430"/>
            </a:avLst>
          </a:prstGeom>
          <a:noFill/>
          <a:ln w="6350">
            <a:solidFill>
              <a:srgbClr val="000000">
                <a:alpha val="8000"/>
              </a:srgbClr>
            </a:solidFill>
            <a:prstDash val="solid"/>
          </a:ln>
        </p:spPr>
      </p:sp>
      <p:sp>
        <p:nvSpPr>
          <p:cNvPr id="5" name="Shape 3"/>
          <p:cNvSpPr/>
          <p:nvPr/>
        </p:nvSpPr>
        <p:spPr>
          <a:xfrm>
            <a:off x="667924" y="1804789"/>
            <a:ext cx="10854756" cy="330200"/>
          </a:xfrm>
          <a:prstGeom prst="rect">
            <a:avLst/>
          </a:prstGeom>
          <a:solidFill>
            <a:srgbClr val="FFFFFF">
              <a:alpha val="4000"/>
            </a:srgbClr>
          </a:solidFill>
          <a:ln/>
        </p:spPr>
      </p:sp>
      <p:sp>
        <p:nvSpPr>
          <p:cNvPr id="6" name="Text 4"/>
          <p:cNvSpPr/>
          <p:nvPr/>
        </p:nvSpPr>
        <p:spPr>
          <a:xfrm>
            <a:off x="801469" y="1874639"/>
            <a:ext cx="3959721"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Word "exposure" is looking at</a:t>
            </a:r>
            <a:endParaRPr lang="en-US" sz="1000" dirty="0"/>
          </a:p>
        </p:txBody>
      </p:sp>
      <p:sp>
        <p:nvSpPr>
          <p:cNvPr id="7" name="Text 5"/>
          <p:cNvSpPr/>
          <p:nvPr/>
        </p:nvSpPr>
        <p:spPr>
          <a:xfrm>
            <a:off x="4422466" y="1874639"/>
            <a:ext cx="3956546"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How relevant?</a:t>
            </a:r>
            <a:endParaRPr lang="en-US" sz="1000" dirty="0"/>
          </a:p>
        </p:txBody>
      </p:sp>
      <p:sp>
        <p:nvSpPr>
          <p:cNvPr id="8" name="Text 6"/>
          <p:cNvSpPr/>
          <p:nvPr/>
        </p:nvSpPr>
        <p:spPr>
          <a:xfrm>
            <a:off x="8040288" y="1874639"/>
            <a:ext cx="3959721"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Why</a:t>
            </a:r>
            <a:endParaRPr lang="en-US" sz="1000" dirty="0"/>
          </a:p>
        </p:txBody>
      </p:sp>
      <p:sp>
        <p:nvSpPr>
          <p:cNvPr id="9" name="Shape 7"/>
          <p:cNvSpPr/>
          <p:nvPr/>
        </p:nvSpPr>
        <p:spPr>
          <a:xfrm>
            <a:off x="667924" y="2134989"/>
            <a:ext cx="10854756" cy="520700"/>
          </a:xfrm>
          <a:prstGeom prst="rect">
            <a:avLst/>
          </a:prstGeom>
          <a:solidFill>
            <a:srgbClr val="000000">
              <a:alpha val="4000"/>
            </a:srgbClr>
          </a:solidFill>
          <a:ln/>
        </p:spPr>
      </p:sp>
      <p:sp>
        <p:nvSpPr>
          <p:cNvPr id="10" name="Text 8"/>
          <p:cNvSpPr/>
          <p:nvPr/>
        </p:nvSpPr>
        <p:spPr>
          <a:xfrm>
            <a:off x="801469" y="2204839"/>
            <a:ext cx="3959721"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"What"</a:t>
            </a:r>
            <a:endParaRPr lang="en-US" sz="1000" dirty="0"/>
          </a:p>
        </p:txBody>
      </p:sp>
      <p:sp>
        <p:nvSpPr>
          <p:cNvPr id="11" name="Text 9"/>
          <p:cNvSpPr/>
          <p:nvPr/>
        </p:nvSpPr>
        <p:spPr>
          <a:xfrm>
            <a:off x="4422466" y="2204839"/>
            <a:ext cx="3956546"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0.02</a:t>
            </a:r>
            <a:endParaRPr lang="en-US" sz="1000" dirty="0"/>
          </a:p>
        </p:txBody>
      </p:sp>
      <p:sp>
        <p:nvSpPr>
          <p:cNvPr id="12" name="Text 10"/>
          <p:cNvSpPr/>
          <p:nvPr/>
        </p:nvSpPr>
        <p:spPr>
          <a:xfrm>
            <a:off x="8040288" y="2204839"/>
            <a:ext cx="3350137"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Question word. Tells me this is a question, but doesn't tell me what kind of exposure.</a:t>
            </a:r>
            <a:endParaRPr lang="en-US" sz="1000" dirty="0"/>
          </a:p>
        </p:txBody>
      </p:sp>
      <p:sp>
        <p:nvSpPr>
          <p:cNvPr id="13" name="Shape 11"/>
          <p:cNvSpPr/>
          <p:nvPr/>
        </p:nvSpPr>
        <p:spPr>
          <a:xfrm>
            <a:off x="667924" y="2655689"/>
            <a:ext cx="10854756" cy="330200"/>
          </a:xfrm>
          <a:prstGeom prst="rect">
            <a:avLst/>
          </a:prstGeom>
          <a:solidFill>
            <a:srgbClr val="FFFFFF">
              <a:alpha val="4000"/>
            </a:srgbClr>
          </a:solidFill>
          <a:ln/>
        </p:spPr>
      </p:sp>
      <p:sp>
        <p:nvSpPr>
          <p:cNvPr id="14" name="Text 12"/>
          <p:cNvSpPr/>
          <p:nvPr/>
        </p:nvSpPr>
        <p:spPr>
          <a:xfrm>
            <a:off x="801469" y="2725539"/>
            <a:ext cx="3959721"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"is"</a:t>
            </a:r>
            <a:endParaRPr lang="en-US" sz="1000" dirty="0"/>
          </a:p>
        </p:txBody>
      </p:sp>
      <p:sp>
        <p:nvSpPr>
          <p:cNvPr id="15" name="Text 13"/>
          <p:cNvSpPr/>
          <p:nvPr/>
        </p:nvSpPr>
        <p:spPr>
          <a:xfrm>
            <a:off x="4422466" y="2725539"/>
            <a:ext cx="3956546"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0.01</a:t>
            </a:r>
            <a:endParaRPr lang="en-US" sz="1000" dirty="0"/>
          </a:p>
        </p:txBody>
      </p:sp>
      <p:sp>
        <p:nvSpPr>
          <p:cNvPr id="16" name="Text 14"/>
          <p:cNvSpPr/>
          <p:nvPr/>
        </p:nvSpPr>
        <p:spPr>
          <a:xfrm>
            <a:off x="8040288" y="2725539"/>
            <a:ext cx="3959721"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Grammar glue. Not informative.</a:t>
            </a:r>
            <a:endParaRPr lang="en-US" sz="1000" dirty="0"/>
          </a:p>
        </p:txBody>
      </p:sp>
      <p:sp>
        <p:nvSpPr>
          <p:cNvPr id="17" name="Shape 15"/>
          <p:cNvSpPr/>
          <p:nvPr/>
        </p:nvSpPr>
        <p:spPr>
          <a:xfrm>
            <a:off x="667924" y="2985889"/>
            <a:ext cx="10854756" cy="330200"/>
          </a:xfrm>
          <a:prstGeom prst="rect">
            <a:avLst/>
          </a:prstGeom>
          <a:solidFill>
            <a:srgbClr val="000000">
              <a:alpha val="4000"/>
            </a:srgbClr>
          </a:solidFill>
          <a:ln/>
        </p:spPr>
      </p:sp>
      <p:sp>
        <p:nvSpPr>
          <p:cNvPr id="18" name="Text 16"/>
          <p:cNvSpPr/>
          <p:nvPr/>
        </p:nvSpPr>
        <p:spPr>
          <a:xfrm>
            <a:off x="801469" y="3055739"/>
            <a:ext cx="3959721"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"my"</a:t>
            </a:r>
            <a:endParaRPr lang="en-US" sz="1000" dirty="0"/>
          </a:p>
        </p:txBody>
      </p:sp>
      <p:sp>
        <p:nvSpPr>
          <p:cNvPr id="19" name="Text 17"/>
          <p:cNvSpPr/>
          <p:nvPr/>
        </p:nvSpPr>
        <p:spPr>
          <a:xfrm>
            <a:off x="4422466" y="3055739"/>
            <a:ext cx="3956546"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0.03</a:t>
            </a:r>
            <a:endParaRPr lang="en-US" sz="1000" dirty="0"/>
          </a:p>
        </p:txBody>
      </p:sp>
      <p:sp>
        <p:nvSpPr>
          <p:cNvPr id="20" name="Text 18"/>
          <p:cNvSpPr/>
          <p:nvPr/>
        </p:nvSpPr>
        <p:spPr>
          <a:xfrm>
            <a:off x="8040288" y="3055739"/>
            <a:ext cx="3959721"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Tells me it belongs to someone. Mildly useful.</a:t>
            </a:r>
            <a:endParaRPr lang="en-US" sz="1000" dirty="0"/>
          </a:p>
        </p:txBody>
      </p:sp>
      <p:sp>
        <p:nvSpPr>
          <p:cNvPr id="21" name="Shape 19"/>
          <p:cNvSpPr/>
          <p:nvPr/>
        </p:nvSpPr>
        <p:spPr>
          <a:xfrm>
            <a:off x="667924" y="3316089"/>
            <a:ext cx="10854756" cy="520700"/>
          </a:xfrm>
          <a:prstGeom prst="rect">
            <a:avLst/>
          </a:prstGeom>
          <a:solidFill>
            <a:srgbClr val="FFFFFF">
              <a:alpha val="4000"/>
            </a:srgbClr>
          </a:solidFill>
          <a:ln/>
        </p:spPr>
      </p:sp>
      <p:sp>
        <p:nvSpPr>
          <p:cNvPr id="22" name="Text 20"/>
          <p:cNvSpPr/>
          <p:nvPr/>
        </p:nvSpPr>
        <p:spPr>
          <a:xfrm>
            <a:off x="801469" y="3385939"/>
            <a:ext cx="3959721"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"portfolio's"</a:t>
            </a:r>
            <a:endParaRPr lang="en-US" sz="1000" dirty="0"/>
          </a:p>
        </p:txBody>
      </p:sp>
      <p:sp>
        <p:nvSpPr>
          <p:cNvPr id="23" name="Text 21"/>
          <p:cNvSpPr/>
          <p:nvPr/>
        </p:nvSpPr>
        <p:spPr>
          <a:xfrm>
            <a:off x="4422466" y="3385939"/>
            <a:ext cx="3956546"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0.35</a:t>
            </a:r>
            <a:endParaRPr lang="en-US" sz="1000" dirty="0"/>
          </a:p>
        </p:txBody>
      </p:sp>
      <p:sp>
        <p:nvSpPr>
          <p:cNvPr id="24" name="Text 22"/>
          <p:cNvSpPr/>
          <p:nvPr/>
        </p:nvSpPr>
        <p:spPr>
          <a:xfrm>
            <a:off x="8040288" y="3385939"/>
            <a:ext cx="3350137" cy="381000"/>
          </a:xfrm>
          <a:prstGeom prst="rect">
            <a:avLst/>
          </a:prstGeom>
          <a:noFill/>
          <a:ln/>
        </p:spPr>
        <p:txBody>
          <a:bodyPr wrap="square" lIns="0" tIns="0" rIns="0" bIns="0" rtlCol="0" anchor="t">
            <a:normAutofit/>
          </a:bodyPr>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Highly relevant.</a:t>
            </a:r>
            <a:r>
              <a:rPr lang="en-US" sz="1000" dirty="0">
                <a:solidFill>
                  <a:srgbClr val="454240"/>
                </a:solidFill>
                <a:latin typeface="DM Sans" pitchFamily="34" charset="0"/>
                <a:ea typeface="DM Sans" pitchFamily="34" charset="-122"/>
                <a:cs typeface="DM Sans" pitchFamily="34" charset="-120"/>
              </a:rPr>
              <a:t> This is what I belong to. A portfolio's exposure means financial exposure.</a:t>
            </a:r>
            <a:endParaRPr lang="en-US" sz="1000" dirty="0"/>
          </a:p>
        </p:txBody>
      </p:sp>
      <p:sp>
        <p:nvSpPr>
          <p:cNvPr id="25" name="Shape 23"/>
          <p:cNvSpPr/>
          <p:nvPr/>
        </p:nvSpPr>
        <p:spPr>
          <a:xfrm>
            <a:off x="667924" y="3836789"/>
            <a:ext cx="10854756" cy="520700"/>
          </a:xfrm>
          <a:prstGeom prst="rect">
            <a:avLst/>
          </a:prstGeom>
          <a:solidFill>
            <a:srgbClr val="000000">
              <a:alpha val="4000"/>
            </a:srgbClr>
          </a:solidFill>
          <a:ln/>
        </p:spPr>
      </p:sp>
      <p:sp>
        <p:nvSpPr>
          <p:cNvPr id="26" name="Text 24"/>
          <p:cNvSpPr/>
          <p:nvPr/>
        </p:nvSpPr>
        <p:spPr>
          <a:xfrm>
            <a:off x="801469" y="3906639"/>
            <a:ext cx="3959721"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"to"</a:t>
            </a:r>
            <a:endParaRPr lang="en-US" sz="1000" dirty="0"/>
          </a:p>
        </p:txBody>
      </p:sp>
      <p:sp>
        <p:nvSpPr>
          <p:cNvPr id="27" name="Text 25"/>
          <p:cNvSpPr/>
          <p:nvPr/>
        </p:nvSpPr>
        <p:spPr>
          <a:xfrm>
            <a:off x="4422466" y="3906639"/>
            <a:ext cx="3956546"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0.04</a:t>
            </a:r>
            <a:endParaRPr lang="en-US" sz="1000" dirty="0"/>
          </a:p>
        </p:txBody>
      </p:sp>
      <p:sp>
        <p:nvSpPr>
          <p:cNvPr id="28" name="Text 26"/>
          <p:cNvSpPr/>
          <p:nvPr/>
        </p:nvSpPr>
        <p:spPr>
          <a:xfrm>
            <a:off x="8040288" y="3906639"/>
            <a:ext cx="3350137"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Connector. Tells me there's something I'm exposed to coming next.</a:t>
            </a:r>
            <a:endParaRPr lang="en-US" sz="1000" dirty="0"/>
          </a:p>
        </p:txBody>
      </p:sp>
      <p:sp>
        <p:nvSpPr>
          <p:cNvPr id="29" name="Shape 27"/>
          <p:cNvSpPr/>
          <p:nvPr/>
        </p:nvSpPr>
        <p:spPr>
          <a:xfrm>
            <a:off x="667924" y="4357489"/>
            <a:ext cx="10854756" cy="330200"/>
          </a:xfrm>
          <a:prstGeom prst="rect">
            <a:avLst/>
          </a:prstGeom>
          <a:solidFill>
            <a:srgbClr val="FFFFFF">
              <a:alpha val="4000"/>
            </a:srgbClr>
          </a:solidFill>
          <a:ln/>
        </p:spPr>
      </p:sp>
      <p:sp>
        <p:nvSpPr>
          <p:cNvPr id="30" name="Text 28"/>
          <p:cNvSpPr/>
          <p:nvPr/>
        </p:nvSpPr>
        <p:spPr>
          <a:xfrm>
            <a:off x="801469" y="4427339"/>
            <a:ext cx="3959721"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"emerging"</a:t>
            </a:r>
            <a:endParaRPr lang="en-US" sz="1000" dirty="0"/>
          </a:p>
        </p:txBody>
      </p:sp>
      <p:sp>
        <p:nvSpPr>
          <p:cNvPr id="31" name="Text 29"/>
          <p:cNvSpPr/>
          <p:nvPr/>
        </p:nvSpPr>
        <p:spPr>
          <a:xfrm>
            <a:off x="4422466" y="4427339"/>
            <a:ext cx="3956546"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0.18</a:t>
            </a:r>
            <a:endParaRPr lang="en-US" sz="1000" dirty="0"/>
          </a:p>
        </p:txBody>
      </p:sp>
      <p:sp>
        <p:nvSpPr>
          <p:cNvPr id="32" name="Text 30"/>
          <p:cNvSpPr/>
          <p:nvPr/>
        </p:nvSpPr>
        <p:spPr>
          <a:xfrm>
            <a:off x="8040288" y="4427339"/>
            <a:ext cx="3959721"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Relevant.</a:t>
            </a:r>
            <a:r>
              <a:rPr lang="en-US" sz="1000" dirty="0">
                <a:solidFill>
                  <a:srgbClr val="454240"/>
                </a:solidFill>
                <a:latin typeface="DM Sans" pitchFamily="34" charset="0"/>
                <a:ea typeface="DM Sans" pitchFamily="34" charset="-122"/>
                <a:cs typeface="DM Sans" pitchFamily="34" charset="-120"/>
              </a:rPr>
              <a:t> Tells me what kind of thing I'm exposed to.</a:t>
            </a:r>
            <a:endParaRPr lang="en-US" sz="1000" dirty="0"/>
          </a:p>
        </p:txBody>
      </p:sp>
      <p:sp>
        <p:nvSpPr>
          <p:cNvPr id="33" name="Shape 31"/>
          <p:cNvSpPr/>
          <p:nvPr/>
        </p:nvSpPr>
        <p:spPr>
          <a:xfrm>
            <a:off x="667924" y="4687689"/>
            <a:ext cx="10854756" cy="330200"/>
          </a:xfrm>
          <a:prstGeom prst="rect">
            <a:avLst/>
          </a:prstGeom>
          <a:solidFill>
            <a:srgbClr val="000000">
              <a:alpha val="4000"/>
            </a:srgbClr>
          </a:solidFill>
          <a:ln/>
        </p:spPr>
      </p:sp>
      <p:sp>
        <p:nvSpPr>
          <p:cNvPr id="34" name="Text 32"/>
          <p:cNvSpPr/>
          <p:nvPr/>
        </p:nvSpPr>
        <p:spPr>
          <a:xfrm>
            <a:off x="801469" y="4757539"/>
            <a:ext cx="3959721"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"market"</a:t>
            </a:r>
            <a:endParaRPr lang="en-US" sz="1000" dirty="0"/>
          </a:p>
        </p:txBody>
      </p:sp>
      <p:sp>
        <p:nvSpPr>
          <p:cNvPr id="35" name="Text 33"/>
          <p:cNvSpPr/>
          <p:nvPr/>
        </p:nvSpPr>
        <p:spPr>
          <a:xfrm>
            <a:off x="4422466" y="4757539"/>
            <a:ext cx="3956546"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0.12</a:t>
            </a:r>
            <a:endParaRPr lang="en-US" sz="1000" dirty="0"/>
          </a:p>
        </p:txBody>
      </p:sp>
      <p:sp>
        <p:nvSpPr>
          <p:cNvPr id="36" name="Text 34"/>
          <p:cNvSpPr/>
          <p:nvPr/>
        </p:nvSpPr>
        <p:spPr>
          <a:xfrm>
            <a:off x="8040288" y="4757539"/>
            <a:ext cx="3959721"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Relevant.</a:t>
            </a:r>
            <a:r>
              <a:rPr lang="en-US" sz="1000" dirty="0">
                <a:solidFill>
                  <a:srgbClr val="454240"/>
                </a:solidFill>
                <a:latin typeface="DM Sans" pitchFamily="34" charset="0"/>
                <a:ea typeface="DM Sans" pitchFamily="34" charset="-122"/>
                <a:cs typeface="DM Sans" pitchFamily="34" charset="-120"/>
              </a:rPr>
              <a:t> Same — qualifies the thing.</a:t>
            </a:r>
            <a:endParaRPr lang="en-US" sz="1000" dirty="0"/>
          </a:p>
        </p:txBody>
      </p:sp>
      <p:sp>
        <p:nvSpPr>
          <p:cNvPr id="37" name="Shape 35"/>
          <p:cNvSpPr/>
          <p:nvPr/>
        </p:nvSpPr>
        <p:spPr>
          <a:xfrm>
            <a:off x="667924" y="5017889"/>
            <a:ext cx="10854756" cy="330200"/>
          </a:xfrm>
          <a:prstGeom prst="rect">
            <a:avLst/>
          </a:prstGeom>
          <a:solidFill>
            <a:srgbClr val="FFFFFF">
              <a:alpha val="4000"/>
            </a:srgbClr>
          </a:solidFill>
          <a:ln/>
        </p:spPr>
      </p:sp>
      <p:sp>
        <p:nvSpPr>
          <p:cNvPr id="38" name="Text 36"/>
          <p:cNvSpPr/>
          <p:nvPr/>
        </p:nvSpPr>
        <p:spPr>
          <a:xfrm>
            <a:off x="801469" y="5087739"/>
            <a:ext cx="3959721"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"equities"</a:t>
            </a:r>
            <a:endParaRPr lang="en-US" sz="1000" dirty="0"/>
          </a:p>
        </p:txBody>
      </p:sp>
      <p:sp>
        <p:nvSpPr>
          <p:cNvPr id="39" name="Text 37"/>
          <p:cNvSpPr/>
          <p:nvPr/>
        </p:nvSpPr>
        <p:spPr>
          <a:xfrm>
            <a:off x="4422466" y="5087739"/>
            <a:ext cx="3956546"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0.22</a:t>
            </a:r>
            <a:endParaRPr lang="en-US" sz="1000" dirty="0"/>
          </a:p>
        </p:txBody>
      </p:sp>
      <p:sp>
        <p:nvSpPr>
          <p:cNvPr id="40" name="Text 38"/>
          <p:cNvSpPr/>
          <p:nvPr/>
        </p:nvSpPr>
        <p:spPr>
          <a:xfrm>
            <a:off x="8040288" y="5087739"/>
            <a:ext cx="3959721" cy="190500"/>
          </a:xfrm>
          <a:prstGeom prst="rect">
            <a:avLst/>
          </a:prstGeom>
          <a:noFill/>
          <a:ln/>
        </p:spPr>
        <p:txBody>
          <a:bodyPr wrap="none" lIns="0" tIns="0" rIns="0" bIns="0" rtlCol="0" anchor="t"/>
          <a:lstStyle/>
          <a:p>
            <a:pPr marL="0" indent="0" algn="l">
              <a:lnSpc>
                <a:spcPct val="120000"/>
              </a:lnSpc>
              <a:buNone/>
            </a:pPr>
            <a:r>
              <a:rPr lang="en-US" sz="1000" b="1" dirty="0">
                <a:solidFill>
                  <a:srgbClr val="454240"/>
                </a:solidFill>
                <a:latin typeface="DM Sans" pitchFamily="34" charset="0"/>
                <a:ea typeface="DM Sans" pitchFamily="34" charset="-122"/>
                <a:cs typeface="DM Sans" pitchFamily="34" charset="-120"/>
              </a:rPr>
              <a:t>Very relevant.</a:t>
            </a:r>
            <a:r>
              <a:rPr lang="en-US" sz="1000" dirty="0">
                <a:solidFill>
                  <a:srgbClr val="454240"/>
                </a:solidFill>
                <a:latin typeface="DM Sans" pitchFamily="34" charset="0"/>
                <a:ea typeface="DM Sans" pitchFamily="34" charset="-122"/>
                <a:cs typeface="DM Sans" pitchFamily="34" charset="-120"/>
              </a:rPr>
              <a:t> This is the actual thing I'm exposed to.</a:t>
            </a:r>
            <a:endParaRPr lang="en-US" sz="1000" dirty="0"/>
          </a:p>
        </p:txBody>
      </p:sp>
      <p:sp>
        <p:nvSpPr>
          <p:cNvPr id="41" name="Shape 39"/>
          <p:cNvSpPr/>
          <p:nvPr/>
        </p:nvSpPr>
        <p:spPr>
          <a:xfrm>
            <a:off x="667924" y="5348089"/>
            <a:ext cx="10854756" cy="330200"/>
          </a:xfrm>
          <a:prstGeom prst="rect">
            <a:avLst/>
          </a:prstGeom>
          <a:solidFill>
            <a:srgbClr val="000000">
              <a:alpha val="4000"/>
            </a:srgbClr>
          </a:solidFill>
          <a:ln/>
        </p:spPr>
      </p:sp>
      <p:sp>
        <p:nvSpPr>
          <p:cNvPr id="42" name="Text 40"/>
          <p:cNvSpPr/>
          <p:nvPr/>
        </p:nvSpPr>
        <p:spPr>
          <a:xfrm>
            <a:off x="801469" y="5417939"/>
            <a:ext cx="3959721"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a:t>
            </a:r>
            <a:endParaRPr lang="en-US" sz="1000" dirty="0"/>
          </a:p>
        </p:txBody>
      </p:sp>
      <p:sp>
        <p:nvSpPr>
          <p:cNvPr id="43" name="Text 41"/>
          <p:cNvSpPr/>
          <p:nvPr/>
        </p:nvSpPr>
        <p:spPr>
          <a:xfrm>
            <a:off x="4422466" y="5417939"/>
            <a:ext cx="3956546"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0.03</a:t>
            </a:r>
            <a:endParaRPr lang="en-US" sz="1000" dirty="0"/>
          </a:p>
        </p:txBody>
      </p:sp>
      <p:sp>
        <p:nvSpPr>
          <p:cNvPr id="44" name="Text 42"/>
          <p:cNvSpPr/>
          <p:nvPr/>
        </p:nvSpPr>
        <p:spPr>
          <a:xfrm>
            <a:off x="8040288" y="5417939"/>
            <a:ext cx="3959721" cy="190500"/>
          </a:xfrm>
          <a:prstGeom prst="rect">
            <a:avLst/>
          </a:prstGeom>
          <a:noFill/>
          <a:ln/>
        </p:spPr>
        <p:txBody>
          <a:bodyPr wrap="none" lIns="0" tIns="0" rIns="0" bIns="0" rtlCol="0" anchor="t"/>
          <a:lstStyle/>
          <a:p>
            <a:pPr marL="0" indent="0" algn="l">
              <a:lnSpc>
                <a:spcPct val="120000"/>
              </a:lnSpc>
              <a:buNone/>
            </a:pPr>
            <a:r>
              <a:rPr lang="en-US" sz="1000" dirty="0">
                <a:solidFill>
                  <a:srgbClr val="454240"/>
                </a:solidFill>
                <a:latin typeface="DM Sans" pitchFamily="34" charset="0"/>
                <a:ea typeface="DM Sans" pitchFamily="34" charset="-122"/>
                <a:cs typeface="DM Sans" pitchFamily="34" charset="-120"/>
              </a:rPr>
              <a:t>Punctuation. Structural.</a:t>
            </a:r>
            <a:endParaRPr lang="en-US" sz="1000" dirty="0"/>
          </a:p>
        </p:txBody>
      </p:sp>
      <p:sp>
        <p:nvSpPr>
          <p:cNvPr id="45" name="Text 43"/>
          <p:cNvSpPr/>
          <p:nvPr/>
        </p:nvSpPr>
        <p:spPr>
          <a:xfrm>
            <a:off x="661574" y="5803702"/>
            <a:ext cx="11478132" cy="190500"/>
          </a:xfrm>
          <a:prstGeom prst="rect">
            <a:avLst/>
          </a:prstGeom>
          <a:noFill/>
          <a:ln/>
        </p:spPr>
        <p:txBody>
          <a:bodyPr wrap="none" lIns="0" tIns="0" rIns="0" bIns="0" rtlCol="0" anchor="t"/>
          <a:lstStyle/>
          <a:p>
            <a:pPr marL="0" indent="0" algn="l">
              <a:lnSpc>
                <a:spcPct val="120000"/>
              </a:lnSpc>
              <a:buNone/>
            </a:pPr>
            <a:r>
              <a:rPr lang="en-US" sz="1000" i="1" dirty="0">
                <a:solidFill>
                  <a:srgbClr val="454240"/>
                </a:solidFill>
                <a:latin typeface="DM Sans" pitchFamily="34" charset="0"/>
                <a:ea typeface="DM Sans" pitchFamily="34" charset="-122"/>
                <a:cs typeface="DM Sans" pitchFamily="34" charset="-120"/>
              </a:rPr>
              <a:t>(Numbers are illustrative — a real model produces these values from training, and they sum to 1.)</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61574" y="1237853"/>
            <a:ext cx="8879558"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Step 3: "Exposure" Updates Its Meaning</a:t>
            </a:r>
            <a:endParaRPr lang="en-US" sz="3250" dirty="0"/>
          </a:p>
        </p:txBody>
      </p:sp>
      <p:sp>
        <p:nvSpPr>
          <p:cNvPr id="3" name="Text 1"/>
          <p:cNvSpPr/>
          <p:nvPr/>
        </p:nvSpPr>
        <p:spPr>
          <a:xfrm>
            <a:off x="661574" y="2085280"/>
            <a:ext cx="10868547" cy="979884"/>
          </a:xfrm>
          <a:prstGeom prst="rect">
            <a:avLst/>
          </a:prstGeom>
          <a:noFill/>
          <a:ln/>
        </p:spPr>
        <p:txBody>
          <a:bodyPr wrap="squar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Now "exposure" takes a </a:t>
            </a:r>
            <a:r>
              <a:rPr lang="en-US" sz="1300" b="1" dirty="0">
                <a:solidFill>
                  <a:srgbClr val="454240"/>
                </a:solidFill>
                <a:latin typeface="DM Sans" pitchFamily="34" charset="0"/>
                <a:ea typeface="DM Sans" pitchFamily="34" charset="-122"/>
                <a:cs typeface="DM Sans" pitchFamily="34" charset="-120"/>
              </a:rPr>
              <a:t>weighted blend</a:t>
            </a:r>
            <a:r>
              <a:rPr lang="en-US" sz="1300" dirty="0">
                <a:solidFill>
                  <a:srgbClr val="454240"/>
                </a:solidFill>
                <a:latin typeface="DM Sans" pitchFamily="34" charset="0"/>
                <a:ea typeface="DM Sans" pitchFamily="34" charset="-122"/>
                <a:cs typeface="DM Sans" pitchFamily="34" charset="-120"/>
              </a:rPr>
              <a:t> of all those words' meanings, using these weights, and mixes it into its own.</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result: "exposure" is no longer the generic dictionary word with five possible meanings. It has been </a:t>
            </a:r>
            <a:r>
              <a:rPr lang="en-US" sz="1300" b="1" dirty="0">
                <a:solidFill>
                  <a:srgbClr val="454240"/>
                </a:solidFill>
                <a:latin typeface="DM Sans" pitchFamily="34" charset="0"/>
                <a:ea typeface="DM Sans" pitchFamily="34" charset="-122"/>
                <a:cs typeface="DM Sans" pitchFamily="34" charset="-120"/>
              </a:rPr>
              <a:t>coloured</a:t>
            </a:r>
            <a:r>
              <a:rPr lang="en-US" sz="1300" dirty="0">
                <a:solidFill>
                  <a:srgbClr val="454240"/>
                </a:solidFill>
                <a:latin typeface="DM Sans" pitchFamily="34" charset="0"/>
                <a:ea typeface="DM Sans" pitchFamily="34" charset="-122"/>
                <a:cs typeface="DM Sans" pitchFamily="34" charset="-120"/>
              </a:rPr>
              <a:t> by sitting near "portfolio's," "equities," "emerging," and "market." Its meaning shifts toward:</a:t>
            </a:r>
            <a:endParaRPr lang="en-US" sz="1300" dirty="0"/>
          </a:p>
        </p:txBody>
      </p:sp>
      <p:sp>
        <p:nvSpPr>
          <p:cNvPr id="4" name="Text 2"/>
          <p:cNvSpPr/>
          <p:nvPr/>
        </p:nvSpPr>
        <p:spPr>
          <a:xfrm>
            <a:off x="909615" y="3437235"/>
            <a:ext cx="11230091" cy="264616"/>
          </a:xfrm>
          <a:prstGeom prst="rect">
            <a:avLst/>
          </a:prstGeom>
          <a:noFill/>
          <a:ln/>
        </p:spPr>
        <p:txBody>
          <a:bodyPr wrap="none" lIns="0" tIns="0" rIns="0" bIns="0" rtlCol="0" anchor="t"/>
          <a:lstStyle/>
          <a:p>
            <a:pPr marL="0" indent="0" algn="l">
              <a:lnSpc>
                <a:spcPct val="133000"/>
              </a:lnSpc>
              <a:buNone/>
            </a:pPr>
            <a:r>
              <a:rPr lang="en-US" sz="1300" i="1" dirty="0">
                <a:solidFill>
                  <a:srgbClr val="454240"/>
                </a:solidFill>
                <a:latin typeface="DM Sans" pitchFamily="34" charset="0"/>
                <a:ea typeface="DM Sans" pitchFamily="34" charset="-122"/>
                <a:cs typeface="DM Sans" pitchFamily="34" charset="-120"/>
              </a:rPr>
              <a:t>"Financial exposure, specifically to a category of equity investments, within the context of a portfolio."</a:t>
            </a:r>
            <a:endParaRPr lang="en-US" sz="1300" dirty="0"/>
          </a:p>
        </p:txBody>
      </p:sp>
      <p:sp>
        <p:nvSpPr>
          <p:cNvPr id="5" name="Text 3"/>
          <p:cNvSpPr/>
          <p:nvPr/>
        </p:nvSpPr>
        <p:spPr>
          <a:xfrm>
            <a:off x="661574" y="4073922"/>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other four meanings — sunlight, chemicals, photography, journalism — fade away. They got almost no attention weight, because nothing in the sentence supports them.</a:t>
            </a:r>
            <a:endParaRPr lang="en-US" sz="1300" dirty="0"/>
          </a:p>
        </p:txBody>
      </p:sp>
      <p:sp>
        <p:nvSpPr>
          <p:cNvPr id="6" name="Shape 4"/>
          <p:cNvSpPr/>
          <p:nvPr/>
        </p:nvSpPr>
        <p:spPr>
          <a:xfrm>
            <a:off x="661574" y="4789190"/>
            <a:ext cx="10868547" cy="644823"/>
          </a:xfrm>
          <a:prstGeom prst="roundRect">
            <a:avLst>
              <a:gd name="adj" fmla="val 10773"/>
            </a:avLst>
          </a:prstGeom>
          <a:solidFill>
            <a:srgbClr val="B6FCB8"/>
          </a:solidFill>
          <a:ln/>
        </p:spPr>
      </p:sp>
      <p:pic>
        <p:nvPicPr>
          <p:cNvPr id="7"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5028902"/>
            <a:ext cx="206667" cy="165298"/>
          </a:xfrm>
          <a:prstGeom prst="rect">
            <a:avLst/>
          </a:prstGeom>
        </p:spPr>
      </p:pic>
      <p:sp>
        <p:nvSpPr>
          <p:cNvPr id="8" name="Text 5"/>
          <p:cNvSpPr/>
          <p:nvPr/>
        </p:nvSpPr>
        <p:spPr>
          <a:xfrm>
            <a:off x="1198830" y="4979293"/>
            <a:ext cx="10775581"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The word is the same word. The numbers underneath have changed.</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61574" y="1177032"/>
            <a:ext cx="6340217"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What Happened in Parallel</a:t>
            </a:r>
            <a:endParaRPr lang="en-US" sz="3250" dirty="0"/>
          </a:p>
        </p:txBody>
      </p:sp>
      <p:sp>
        <p:nvSpPr>
          <p:cNvPr id="3" name="Text 1"/>
          <p:cNvSpPr/>
          <p:nvPr/>
        </p:nvSpPr>
        <p:spPr>
          <a:xfrm>
            <a:off x="661574" y="2024459"/>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While "exposure" was doing this, </a:t>
            </a:r>
            <a:r>
              <a:rPr lang="en-US" sz="1300" b="1" dirty="0">
                <a:solidFill>
                  <a:srgbClr val="454240"/>
                </a:solidFill>
                <a:latin typeface="DM Sans" pitchFamily="34" charset="0"/>
                <a:ea typeface="DM Sans" pitchFamily="34" charset="-122"/>
                <a:cs typeface="DM Sans" pitchFamily="34" charset="-120"/>
              </a:rPr>
              <a:t>every other word in the sentence was doing exactly the same thing, at the same instant.</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525" y="2475111"/>
            <a:ext cx="5370676" cy="1784846"/>
          </a:xfrm>
          <a:prstGeom prst="rect">
            <a:avLst/>
          </a:prstGeom>
        </p:spPr>
      </p:pic>
      <p:sp>
        <p:nvSpPr>
          <p:cNvPr id="5" name="Text 2"/>
          <p:cNvSpPr/>
          <p:nvPr/>
        </p:nvSpPr>
        <p:spPr>
          <a:xfrm>
            <a:off x="903066" y="2659459"/>
            <a:ext cx="260035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"Equities" looked around</a:t>
            </a:r>
            <a:endParaRPr lang="en-US" sz="1600" dirty="0"/>
          </a:p>
        </p:txBody>
      </p:sp>
      <p:sp>
        <p:nvSpPr>
          <p:cNvPr id="6" name="Text 3"/>
          <p:cNvSpPr/>
          <p:nvPr/>
        </p:nvSpPr>
        <p:spPr>
          <a:xfrm>
            <a:off x="903066" y="3017143"/>
            <a:ext cx="492579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Paid most attention to "emerging" and "market" (they describe what kind of equities) and to "exposure" (because it's the thing being asked about). It came out meaning </a:t>
            </a:r>
            <a:r>
              <a:rPr lang="en-US" sz="1300" i="1" dirty="0">
                <a:solidFill>
                  <a:srgbClr val="454240"/>
                </a:solidFill>
                <a:latin typeface="DM Sans" pitchFamily="34" charset="0"/>
                <a:ea typeface="DM Sans" pitchFamily="34" charset="-122"/>
                <a:cs typeface="DM Sans" pitchFamily="34" charset="-120"/>
              </a:rPr>
              <a:t>"emerging-market equities, viewed as a category of risk in a portfolio."</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59445" y="2475111"/>
            <a:ext cx="5370676" cy="1784846"/>
          </a:xfrm>
          <a:prstGeom prst="rect">
            <a:avLst/>
          </a:prstGeom>
        </p:spPr>
      </p:pic>
      <p:sp>
        <p:nvSpPr>
          <p:cNvPr id="8" name="Text 4"/>
          <p:cNvSpPr/>
          <p:nvPr/>
        </p:nvSpPr>
        <p:spPr>
          <a:xfrm>
            <a:off x="6419987" y="2659459"/>
            <a:ext cx="2098523"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"My" looked around</a:t>
            </a:r>
            <a:endParaRPr lang="en-US" sz="1600" dirty="0"/>
          </a:p>
        </p:txBody>
      </p:sp>
      <p:sp>
        <p:nvSpPr>
          <p:cNvPr id="9" name="Text 5"/>
          <p:cNvSpPr/>
          <p:nvPr/>
        </p:nvSpPr>
        <p:spPr>
          <a:xfrm>
            <a:off x="6419987" y="3017143"/>
            <a:ext cx="4925790"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Paid most attention to "portfolio's" — because "my" refers to the speaker's portfolio. It came out coloured as a possessive linked to that specific portfolio.</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525" y="4425255"/>
            <a:ext cx="5370676" cy="1255613"/>
          </a:xfrm>
          <a:prstGeom prst="rect">
            <a:avLst/>
          </a:prstGeom>
        </p:spPr>
      </p:pic>
      <p:sp>
        <p:nvSpPr>
          <p:cNvPr id="11" name="Text 6"/>
          <p:cNvSpPr/>
          <p:nvPr/>
        </p:nvSpPr>
        <p:spPr>
          <a:xfrm>
            <a:off x="903066" y="4609604"/>
            <a:ext cx="4205678"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"Emerging" and "market" looked around</a:t>
            </a:r>
            <a:endParaRPr lang="en-US" sz="1600" dirty="0"/>
          </a:p>
        </p:txBody>
      </p:sp>
      <p:sp>
        <p:nvSpPr>
          <p:cNvPr id="12" name="Text 7"/>
          <p:cNvSpPr/>
          <p:nvPr/>
        </p:nvSpPr>
        <p:spPr>
          <a:xfrm>
            <a:off x="903066" y="4967288"/>
            <a:ext cx="492579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Both locked onto "equities" — they're modifiers describing it. They came out tightly bound to "equities" as a single concept.</a:t>
            </a:r>
            <a:endParaRPr lang="en-US" sz="13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59445" y="4425255"/>
            <a:ext cx="5370676" cy="1255613"/>
          </a:xfrm>
          <a:prstGeom prst="rect">
            <a:avLst/>
          </a:prstGeom>
        </p:spPr>
      </p:pic>
      <p:sp>
        <p:nvSpPr>
          <p:cNvPr id="14" name="Text 8"/>
          <p:cNvSpPr/>
          <p:nvPr/>
        </p:nvSpPr>
        <p:spPr>
          <a:xfrm>
            <a:off x="6419987" y="4609604"/>
            <a:ext cx="2329201"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"What" looked around</a:t>
            </a:r>
            <a:endParaRPr lang="en-US" sz="1600" dirty="0"/>
          </a:p>
        </p:txBody>
      </p:sp>
      <p:sp>
        <p:nvSpPr>
          <p:cNvPr id="15" name="Text 9"/>
          <p:cNvSpPr/>
          <p:nvPr/>
        </p:nvSpPr>
        <p:spPr>
          <a:xfrm>
            <a:off x="6419987" y="4967288"/>
            <a:ext cx="492579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Found very little to attend to strongly — it's a question word, mostly contributing structure rather than meaning.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4571886" cy="6858000"/>
          </a:xfrm>
          <a:prstGeom prst="rect">
            <a:avLst/>
          </a:prstGeom>
        </p:spPr>
      </p:pic>
      <p:sp>
        <p:nvSpPr>
          <p:cNvPr id="3" name="Text 0"/>
          <p:cNvSpPr/>
          <p:nvPr/>
        </p:nvSpPr>
        <p:spPr>
          <a:xfrm>
            <a:off x="5233360" y="1260574"/>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One Layer Done — Dozens More to Go</a:t>
            </a:r>
            <a:endParaRPr lang="en-US" sz="3250" dirty="0"/>
          </a:p>
        </p:txBody>
      </p:sp>
      <p:sp>
        <p:nvSpPr>
          <p:cNvPr id="4" name="Text 1"/>
          <p:cNvSpPr/>
          <p:nvPr/>
        </p:nvSpPr>
        <p:spPr>
          <a:xfrm>
            <a:off x="5233360" y="2542084"/>
            <a:ext cx="6296860" cy="1244501"/>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Every word's meaning has now been </a:t>
            </a:r>
            <a:r>
              <a:rPr lang="en-US" sz="1300" b="1" dirty="0">
                <a:solidFill>
                  <a:srgbClr val="454240"/>
                </a:solidFill>
                <a:latin typeface="DM Sans" pitchFamily="34" charset="0"/>
                <a:ea typeface="DM Sans" pitchFamily="34" charset="-122"/>
                <a:cs typeface="DM Sans" pitchFamily="34" charset="-120"/>
              </a:rPr>
              <a:t>enriched by every other word's meaning</a:t>
            </a:r>
            <a:r>
              <a:rPr lang="en-US" sz="1300" dirty="0">
                <a:solidFill>
                  <a:srgbClr val="454240"/>
                </a:solidFill>
                <a:latin typeface="DM Sans" pitchFamily="34" charset="0"/>
                <a:ea typeface="DM Sans" pitchFamily="34" charset="-122"/>
                <a:cs typeface="DM Sans" pitchFamily="34" charset="-120"/>
              </a:rPr>
              <a:t>, weighted by relevance. The sentence isn't just a sequence of words anymore. It's a network of meanings that have all influenced each other.</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That's one round — one </a:t>
            </a:r>
            <a:r>
              <a:rPr lang="en-US" sz="1300" b="1" dirty="0">
                <a:solidFill>
                  <a:srgbClr val="454240"/>
                </a:solidFill>
                <a:latin typeface="DM Sans" pitchFamily="34" charset="0"/>
                <a:ea typeface="DM Sans" pitchFamily="34" charset="-122"/>
                <a:cs typeface="DM Sans" pitchFamily="34" charset="-120"/>
              </a:rPr>
              <a:t>layer</a:t>
            </a:r>
            <a:r>
              <a:rPr lang="en-US" sz="1300" dirty="0">
                <a:solidFill>
                  <a:srgbClr val="454240"/>
                </a:solidFill>
                <a:latin typeface="DM Sans" pitchFamily="34" charset="0"/>
                <a:ea typeface="DM Sans" pitchFamily="34" charset="-122"/>
                <a:cs typeface="DM Sans" pitchFamily="34" charset="-120"/>
              </a:rPr>
              <a:t> — of attention.</a:t>
            </a:r>
            <a:endParaRPr lang="en-US" sz="1300" dirty="0"/>
          </a:p>
        </p:txBody>
      </p:sp>
      <p:sp>
        <p:nvSpPr>
          <p:cNvPr id="5" name="Shape 2"/>
          <p:cNvSpPr/>
          <p:nvPr/>
        </p:nvSpPr>
        <p:spPr>
          <a:xfrm>
            <a:off x="5233360" y="3972620"/>
            <a:ext cx="6296860" cy="1438672"/>
          </a:xfrm>
          <a:prstGeom prst="roundRect">
            <a:avLst>
              <a:gd name="adj" fmla="val 4828"/>
            </a:avLst>
          </a:prstGeom>
          <a:solidFill>
            <a:srgbClr val="B6D6FC"/>
          </a:solidFill>
          <a:ln/>
        </p:spPr>
      </p:sp>
      <p:pic>
        <p:nvPicPr>
          <p:cNvPr id="6"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98655" y="4212332"/>
            <a:ext cx="206667" cy="165298"/>
          </a:xfrm>
          <a:prstGeom prst="rect">
            <a:avLst/>
          </a:prstGeom>
        </p:spPr>
      </p:pic>
      <p:sp>
        <p:nvSpPr>
          <p:cNvPr id="7" name="Text 3"/>
          <p:cNvSpPr/>
          <p:nvPr/>
        </p:nvSpPr>
        <p:spPr>
          <a:xfrm>
            <a:off x="5770617" y="4162723"/>
            <a:ext cx="5594309"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In a real model, this happens dozens of times in a row. Each layer takes the enriched words from the layer below and enriches them further. By the top of the stack, every word's meaning has absorbed context from the entire sentence, dozens of times over.</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661574" y="567432"/>
            <a:ext cx="8038700" cy="439241"/>
          </a:xfrm>
          <a:prstGeom prst="rect">
            <a:avLst/>
          </a:prstGeom>
          <a:noFill/>
          <a:ln/>
        </p:spPr>
        <p:txBody>
          <a:bodyPr wrap="none" lIns="0" tIns="0" rIns="0" bIns="0" rtlCol="0" anchor="t"/>
          <a:lstStyle/>
          <a:p>
            <a:pPr marL="0" indent="0" algn="l">
              <a:lnSpc>
                <a:spcPct val="104000"/>
              </a:lnSpc>
              <a:buNone/>
            </a:pPr>
            <a:r>
              <a:rPr lang="en-US" sz="2750" dirty="0">
                <a:solidFill>
                  <a:srgbClr val="5C4E3D"/>
                </a:solidFill>
                <a:latin typeface="Libre Baskerville" pitchFamily="34" charset="0"/>
                <a:ea typeface="Libre Baskerville" pitchFamily="34" charset="-122"/>
                <a:cs typeface="Libre Baskerville" pitchFamily="34" charset="-120"/>
              </a:rPr>
              <a:t>Example 2: Why Attention Is So Powerful</a:t>
            </a:r>
            <a:endParaRPr lang="en-US" sz="2750" dirty="0"/>
          </a:p>
        </p:txBody>
      </p:sp>
      <p:sp>
        <p:nvSpPr>
          <p:cNvPr id="3" name="Text 1"/>
          <p:cNvSpPr/>
          <p:nvPr/>
        </p:nvSpPr>
        <p:spPr>
          <a:xfrm>
            <a:off x="661574" y="1245592"/>
            <a:ext cx="11478132"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Let's try a trickier sentence:</a:t>
            </a:r>
            <a:endParaRPr lang="en-US" sz="1100" dirty="0"/>
          </a:p>
        </p:txBody>
      </p:sp>
      <p:sp>
        <p:nvSpPr>
          <p:cNvPr id="4" name="Text 2"/>
          <p:cNvSpPr/>
          <p:nvPr/>
        </p:nvSpPr>
        <p:spPr>
          <a:xfrm>
            <a:off x="872409" y="1722338"/>
            <a:ext cx="11267297" cy="208062"/>
          </a:xfrm>
          <a:prstGeom prst="rect">
            <a:avLst/>
          </a:prstGeom>
          <a:noFill/>
          <a:ln/>
        </p:spPr>
        <p:txBody>
          <a:bodyPr wrap="none" lIns="0" tIns="0" rIns="0" bIns="0" rtlCol="0" anchor="t"/>
          <a:lstStyle/>
          <a:p>
            <a:pPr marL="0" indent="0" algn="l">
              <a:lnSpc>
                <a:spcPct val="123000"/>
              </a:lnSpc>
              <a:buNone/>
            </a:pPr>
            <a:r>
              <a:rPr lang="en-US" sz="1100" i="1" dirty="0">
                <a:solidFill>
                  <a:srgbClr val="454240"/>
                </a:solidFill>
                <a:latin typeface="DM Sans" pitchFamily="34" charset="0"/>
                <a:ea typeface="DM Sans" pitchFamily="34" charset="-122"/>
                <a:cs typeface="DM Sans" pitchFamily="34" charset="-120"/>
              </a:rPr>
              <a:t>"The advisor told the client that she needed to rebalance her portfolio."</a:t>
            </a:r>
            <a:endParaRPr lang="en-US" sz="1100" dirty="0"/>
          </a:p>
        </p:txBody>
      </p:sp>
      <p:sp>
        <p:nvSpPr>
          <p:cNvPr id="5" name="Text 3"/>
          <p:cNvSpPr/>
          <p:nvPr/>
        </p:nvSpPr>
        <p:spPr>
          <a:xfrm>
            <a:off x="661574" y="2199084"/>
            <a:ext cx="10868547" cy="550466"/>
          </a:xfrm>
          <a:prstGeom prst="rect">
            <a:avLst/>
          </a:prstGeom>
          <a:noFill/>
          <a:ln/>
        </p:spPr>
        <p:txBody>
          <a:bodyPr wrap="squar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There's a question hiding in this sentence: </a:t>
            </a:r>
            <a:r>
              <a:rPr lang="en-US" sz="1100" b="1" dirty="0">
                <a:solidFill>
                  <a:srgbClr val="454240"/>
                </a:solidFill>
                <a:latin typeface="DM Sans" pitchFamily="34" charset="0"/>
                <a:ea typeface="DM Sans" pitchFamily="34" charset="-122"/>
                <a:cs typeface="DM Sans" pitchFamily="34" charset="-120"/>
              </a:rPr>
              <a:t>who does "she" refer to?</a:t>
            </a:r>
            <a:r>
              <a:rPr lang="en-US" sz="1100" dirty="0">
                <a:solidFill>
                  <a:srgbClr val="454240"/>
                </a:solidFill>
                <a:latin typeface="DM Sans" pitchFamily="34" charset="0"/>
                <a:ea typeface="DM Sans" pitchFamily="34" charset="-122"/>
                <a:cs typeface="DM Sans" pitchFamily="34" charset="-120"/>
              </a:rPr>
              <a:t> Is it the advisor, or the client? In English, this is genuinely ambiguous from grammar alone.</a:t>
            </a:r>
            <a:endParaRPr lang="en-US" sz="1100" dirty="0"/>
          </a:p>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Watch what attention does when it gets to the word </a:t>
            </a:r>
            <a:r>
              <a:rPr lang="en-US" sz="1100" b="1" dirty="0">
                <a:solidFill>
                  <a:srgbClr val="454240"/>
                </a:solidFill>
                <a:latin typeface="DM Sans" pitchFamily="34" charset="0"/>
                <a:ea typeface="DM Sans" pitchFamily="34" charset="-122"/>
                <a:cs typeface="DM Sans" pitchFamily="34" charset="-120"/>
              </a:rPr>
              <a:t>"she."</a:t>
            </a:r>
            <a:r>
              <a:rPr lang="en-US" sz="1100" dirty="0">
                <a:solidFill>
                  <a:srgbClr val="454240"/>
                </a:solidFill>
                <a:latin typeface="DM Sans" pitchFamily="34" charset="0"/>
                <a:ea typeface="DM Sans" pitchFamily="34" charset="-122"/>
                <a:cs typeface="DM Sans" pitchFamily="34" charset="-120"/>
              </a:rPr>
              <a:t> Its job: figure out which person in this sentence it refers to.</a:t>
            </a:r>
            <a:endParaRPr lang="en-US" sz="1100" dirty="0"/>
          </a:p>
        </p:txBody>
      </p:sp>
      <p:sp>
        <p:nvSpPr>
          <p:cNvPr id="6" name="Shape 4"/>
          <p:cNvSpPr/>
          <p:nvPr/>
        </p:nvSpPr>
        <p:spPr>
          <a:xfrm>
            <a:off x="661574" y="2883892"/>
            <a:ext cx="10868547" cy="2436713"/>
          </a:xfrm>
          <a:prstGeom prst="roundRect">
            <a:avLst>
              <a:gd name="adj" fmla="val 2423"/>
            </a:avLst>
          </a:prstGeom>
          <a:noFill/>
          <a:ln w="6350">
            <a:solidFill>
              <a:srgbClr val="000000">
                <a:alpha val="8000"/>
              </a:srgbClr>
            </a:solidFill>
            <a:prstDash val="solid"/>
          </a:ln>
        </p:spPr>
      </p:sp>
      <p:sp>
        <p:nvSpPr>
          <p:cNvPr id="7" name="Text 5"/>
          <p:cNvSpPr/>
          <p:nvPr/>
        </p:nvSpPr>
        <p:spPr>
          <a:xfrm>
            <a:off x="809704" y="2968228"/>
            <a:ext cx="3943251" cy="208062"/>
          </a:xfrm>
          <a:prstGeom prst="rect">
            <a:avLst/>
          </a:prstGeom>
          <a:noFill/>
          <a:ln/>
        </p:spPr>
        <p:txBody>
          <a:bodyPr wrap="none" lIns="0" tIns="0" rIns="0" bIns="0" rtlCol="0" anchor="t"/>
          <a:lstStyle/>
          <a:p>
            <a:pPr marL="0" indent="0" algn="l">
              <a:lnSpc>
                <a:spcPct val="123000"/>
              </a:lnSpc>
              <a:buNone/>
            </a:pPr>
            <a:r>
              <a:rPr lang="en-US" sz="1100" b="1" dirty="0">
                <a:solidFill>
                  <a:srgbClr val="454240"/>
                </a:solidFill>
                <a:latin typeface="DM Sans" pitchFamily="34" charset="0"/>
                <a:ea typeface="DM Sans" pitchFamily="34" charset="-122"/>
                <a:cs typeface="DM Sans" pitchFamily="34" charset="-120"/>
              </a:rPr>
              <a:t>"She" looking at</a:t>
            </a:r>
            <a:endParaRPr lang="en-US" sz="1100" dirty="0"/>
          </a:p>
        </p:txBody>
      </p:sp>
      <p:sp>
        <p:nvSpPr>
          <p:cNvPr id="8" name="Text 6"/>
          <p:cNvSpPr/>
          <p:nvPr/>
        </p:nvSpPr>
        <p:spPr>
          <a:xfrm>
            <a:off x="4430701" y="2968228"/>
            <a:ext cx="3940076" cy="208062"/>
          </a:xfrm>
          <a:prstGeom prst="rect">
            <a:avLst/>
          </a:prstGeom>
          <a:noFill/>
          <a:ln/>
        </p:spPr>
        <p:txBody>
          <a:bodyPr wrap="none" lIns="0" tIns="0" rIns="0" bIns="0" rtlCol="0" anchor="t"/>
          <a:lstStyle/>
          <a:p>
            <a:pPr marL="0" indent="0" algn="l">
              <a:lnSpc>
                <a:spcPct val="123000"/>
              </a:lnSpc>
              <a:buNone/>
            </a:pPr>
            <a:r>
              <a:rPr lang="en-US" sz="1100" b="1" dirty="0">
                <a:solidFill>
                  <a:srgbClr val="454240"/>
                </a:solidFill>
                <a:latin typeface="DM Sans" pitchFamily="34" charset="0"/>
                <a:ea typeface="DM Sans" pitchFamily="34" charset="-122"/>
                <a:cs typeface="DM Sans" pitchFamily="34" charset="-120"/>
              </a:rPr>
              <a:t>Weight</a:t>
            </a:r>
            <a:endParaRPr lang="en-US" sz="1100" dirty="0"/>
          </a:p>
        </p:txBody>
      </p:sp>
      <p:sp>
        <p:nvSpPr>
          <p:cNvPr id="9" name="Text 7"/>
          <p:cNvSpPr/>
          <p:nvPr/>
        </p:nvSpPr>
        <p:spPr>
          <a:xfrm>
            <a:off x="8048523" y="2968228"/>
            <a:ext cx="3943251" cy="208062"/>
          </a:xfrm>
          <a:prstGeom prst="rect">
            <a:avLst/>
          </a:prstGeom>
          <a:noFill/>
          <a:ln/>
        </p:spPr>
        <p:txBody>
          <a:bodyPr wrap="none" lIns="0" tIns="0" rIns="0" bIns="0" rtlCol="0" anchor="t"/>
          <a:lstStyle/>
          <a:p>
            <a:pPr marL="0" indent="0" algn="l">
              <a:lnSpc>
                <a:spcPct val="123000"/>
              </a:lnSpc>
              <a:buNone/>
            </a:pPr>
            <a:r>
              <a:rPr lang="en-US" sz="1100" b="1" dirty="0">
                <a:solidFill>
                  <a:srgbClr val="454240"/>
                </a:solidFill>
                <a:latin typeface="DM Sans" pitchFamily="34" charset="0"/>
                <a:ea typeface="DM Sans" pitchFamily="34" charset="-122"/>
                <a:cs typeface="DM Sans" pitchFamily="34" charset="-120"/>
              </a:rPr>
              <a:t>Reasoning</a:t>
            </a:r>
            <a:endParaRPr lang="en-US" sz="1100" dirty="0"/>
          </a:p>
        </p:txBody>
      </p:sp>
      <p:sp>
        <p:nvSpPr>
          <p:cNvPr id="10" name="Text 8"/>
          <p:cNvSpPr/>
          <p:nvPr/>
        </p:nvSpPr>
        <p:spPr>
          <a:xfrm>
            <a:off x="809704" y="3338612"/>
            <a:ext cx="3943251"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"advisor"</a:t>
            </a:r>
            <a:endParaRPr lang="en-US" sz="1100" dirty="0"/>
          </a:p>
        </p:txBody>
      </p:sp>
      <p:sp>
        <p:nvSpPr>
          <p:cNvPr id="11" name="Text 9"/>
          <p:cNvSpPr/>
          <p:nvPr/>
        </p:nvSpPr>
        <p:spPr>
          <a:xfrm>
            <a:off x="4430701" y="3338612"/>
            <a:ext cx="3940076"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0.15</a:t>
            </a:r>
            <a:endParaRPr lang="en-US" sz="1100" dirty="0"/>
          </a:p>
        </p:txBody>
      </p:sp>
      <p:sp>
        <p:nvSpPr>
          <p:cNvPr id="12" name="Text 10"/>
          <p:cNvSpPr/>
          <p:nvPr/>
        </p:nvSpPr>
        <p:spPr>
          <a:xfrm>
            <a:off x="8048523" y="3338612"/>
            <a:ext cx="3943251"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Could be — also a person, also female-possible.</a:t>
            </a:r>
            <a:endParaRPr lang="en-US" sz="1100" dirty="0"/>
          </a:p>
        </p:txBody>
      </p:sp>
      <p:sp>
        <p:nvSpPr>
          <p:cNvPr id="13" name="Text 11"/>
          <p:cNvSpPr/>
          <p:nvPr/>
        </p:nvSpPr>
        <p:spPr>
          <a:xfrm>
            <a:off x="809704" y="3708995"/>
            <a:ext cx="3943251" cy="208062"/>
          </a:xfrm>
          <a:prstGeom prst="rect">
            <a:avLst/>
          </a:prstGeom>
          <a:noFill/>
          <a:ln/>
        </p:spPr>
        <p:txBody>
          <a:bodyPr wrap="none" lIns="0" tIns="0" rIns="0" bIns="0" rtlCol="0" anchor="t"/>
          <a:lstStyle/>
          <a:p>
            <a:pPr marL="0" indent="0" algn="l">
              <a:lnSpc>
                <a:spcPct val="123000"/>
              </a:lnSpc>
              <a:buNone/>
            </a:pPr>
            <a:r>
              <a:rPr lang="en-US" sz="1100" b="1" dirty="0">
                <a:solidFill>
                  <a:srgbClr val="454240"/>
                </a:solidFill>
                <a:latin typeface="DM Sans" pitchFamily="34" charset="0"/>
                <a:ea typeface="DM Sans" pitchFamily="34" charset="-122"/>
                <a:cs typeface="DM Sans" pitchFamily="34" charset="-120"/>
              </a:rPr>
              <a:t>"client"</a:t>
            </a:r>
            <a:endParaRPr lang="en-US" sz="1100" dirty="0"/>
          </a:p>
        </p:txBody>
      </p:sp>
      <p:sp>
        <p:nvSpPr>
          <p:cNvPr id="14" name="Text 12"/>
          <p:cNvSpPr/>
          <p:nvPr/>
        </p:nvSpPr>
        <p:spPr>
          <a:xfrm>
            <a:off x="4430701" y="3708995"/>
            <a:ext cx="3940076" cy="208062"/>
          </a:xfrm>
          <a:prstGeom prst="rect">
            <a:avLst/>
          </a:prstGeom>
          <a:noFill/>
          <a:ln/>
        </p:spPr>
        <p:txBody>
          <a:bodyPr wrap="none" lIns="0" tIns="0" rIns="0" bIns="0" rtlCol="0" anchor="t"/>
          <a:lstStyle/>
          <a:p>
            <a:pPr marL="0" indent="0" algn="l">
              <a:lnSpc>
                <a:spcPct val="123000"/>
              </a:lnSpc>
              <a:buNone/>
            </a:pPr>
            <a:r>
              <a:rPr lang="en-US" sz="1100" b="1" dirty="0">
                <a:solidFill>
                  <a:srgbClr val="454240"/>
                </a:solidFill>
                <a:latin typeface="DM Sans" pitchFamily="34" charset="0"/>
                <a:ea typeface="DM Sans" pitchFamily="34" charset="-122"/>
                <a:cs typeface="DM Sans" pitchFamily="34" charset="-120"/>
              </a:rPr>
              <a:t>0.55</a:t>
            </a:r>
            <a:endParaRPr lang="en-US" sz="1100" dirty="0"/>
          </a:p>
        </p:txBody>
      </p:sp>
      <p:sp>
        <p:nvSpPr>
          <p:cNvPr id="15" name="Text 13"/>
          <p:cNvSpPr/>
          <p:nvPr/>
        </p:nvSpPr>
        <p:spPr>
          <a:xfrm>
            <a:off x="8048523" y="3708995"/>
            <a:ext cx="3333667"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Much more likely — the client owns the portfolio in this sentence.</a:t>
            </a:r>
            <a:endParaRPr lang="en-US" sz="1100" dirty="0"/>
          </a:p>
        </p:txBody>
      </p:sp>
      <p:sp>
        <p:nvSpPr>
          <p:cNvPr id="16" name="Text 14"/>
          <p:cNvSpPr/>
          <p:nvPr/>
        </p:nvSpPr>
        <p:spPr>
          <a:xfrm>
            <a:off x="809704" y="4287441"/>
            <a:ext cx="3943251"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"portfolio"</a:t>
            </a:r>
            <a:endParaRPr lang="en-US" sz="1100" dirty="0"/>
          </a:p>
        </p:txBody>
      </p:sp>
      <p:sp>
        <p:nvSpPr>
          <p:cNvPr id="17" name="Text 15"/>
          <p:cNvSpPr/>
          <p:nvPr/>
        </p:nvSpPr>
        <p:spPr>
          <a:xfrm>
            <a:off x="4430701" y="4287441"/>
            <a:ext cx="3940076"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0.18</a:t>
            </a:r>
            <a:endParaRPr lang="en-US" sz="1100" dirty="0"/>
          </a:p>
        </p:txBody>
      </p:sp>
      <p:sp>
        <p:nvSpPr>
          <p:cNvPr id="18" name="Text 16"/>
          <p:cNvSpPr/>
          <p:nvPr/>
        </p:nvSpPr>
        <p:spPr>
          <a:xfrm>
            <a:off x="8048523" y="4287441"/>
            <a:ext cx="3943251"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Relevant — connects "she" to whose portfolio it is.</a:t>
            </a:r>
            <a:endParaRPr lang="en-US" sz="1100" dirty="0"/>
          </a:p>
        </p:txBody>
      </p:sp>
      <p:sp>
        <p:nvSpPr>
          <p:cNvPr id="19" name="Text 17"/>
          <p:cNvSpPr/>
          <p:nvPr/>
        </p:nvSpPr>
        <p:spPr>
          <a:xfrm>
            <a:off x="809704" y="4657824"/>
            <a:ext cx="3943251"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"rebalance"</a:t>
            </a:r>
            <a:endParaRPr lang="en-US" sz="1100" dirty="0"/>
          </a:p>
        </p:txBody>
      </p:sp>
      <p:sp>
        <p:nvSpPr>
          <p:cNvPr id="20" name="Text 18"/>
          <p:cNvSpPr/>
          <p:nvPr/>
        </p:nvSpPr>
        <p:spPr>
          <a:xfrm>
            <a:off x="4430701" y="4657824"/>
            <a:ext cx="3940076"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0.08</a:t>
            </a:r>
            <a:endParaRPr lang="en-US" sz="1100" dirty="0"/>
          </a:p>
        </p:txBody>
      </p:sp>
      <p:sp>
        <p:nvSpPr>
          <p:cNvPr id="21" name="Text 19"/>
          <p:cNvSpPr/>
          <p:nvPr/>
        </p:nvSpPr>
        <p:spPr>
          <a:xfrm>
            <a:off x="8048523" y="4657824"/>
            <a:ext cx="3943251"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The action being recommended.</a:t>
            </a:r>
            <a:endParaRPr lang="en-US" sz="1100" dirty="0"/>
          </a:p>
        </p:txBody>
      </p:sp>
      <p:sp>
        <p:nvSpPr>
          <p:cNvPr id="22" name="Text 20"/>
          <p:cNvSpPr/>
          <p:nvPr/>
        </p:nvSpPr>
        <p:spPr>
          <a:xfrm>
            <a:off x="809704" y="5028208"/>
            <a:ext cx="3943251"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Other words</a:t>
            </a:r>
            <a:endParaRPr lang="en-US" sz="1100" dirty="0"/>
          </a:p>
        </p:txBody>
      </p:sp>
      <p:sp>
        <p:nvSpPr>
          <p:cNvPr id="23" name="Text 21"/>
          <p:cNvSpPr/>
          <p:nvPr/>
        </p:nvSpPr>
        <p:spPr>
          <a:xfrm>
            <a:off x="4430701" y="5028208"/>
            <a:ext cx="3940076"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0.04</a:t>
            </a:r>
            <a:endParaRPr lang="en-US" sz="1100" dirty="0"/>
          </a:p>
        </p:txBody>
      </p:sp>
      <p:sp>
        <p:nvSpPr>
          <p:cNvPr id="24" name="Text 22"/>
          <p:cNvSpPr/>
          <p:nvPr/>
        </p:nvSpPr>
        <p:spPr>
          <a:xfrm>
            <a:off x="8048523" y="5028208"/>
            <a:ext cx="3943251" cy="208062"/>
          </a:xfrm>
          <a:prstGeom prst="rect">
            <a:avLst/>
          </a:prstGeom>
          <a:noFill/>
          <a:ln/>
        </p:spPr>
        <p:txBody>
          <a:bodyPr wrap="none" lIns="0" tIns="0" rIns="0" bIns="0" rtlCol="0" anchor="t"/>
          <a:lstStyle/>
          <a:p>
            <a:pPr marL="0" indent="0" algn="l">
              <a:lnSpc>
                <a:spcPct val="123000"/>
              </a:lnSpc>
              <a:buNone/>
            </a:pPr>
            <a:r>
              <a:rPr lang="en-US" sz="1100" dirty="0">
                <a:solidFill>
                  <a:srgbClr val="454240"/>
                </a:solidFill>
                <a:latin typeface="DM Sans" pitchFamily="34" charset="0"/>
                <a:ea typeface="DM Sans" pitchFamily="34" charset="-122"/>
                <a:cs typeface="DM Sans" pitchFamily="34" charset="-120"/>
              </a:rPr>
              <a:t>Mostly grammar.</a:t>
            </a:r>
            <a:endParaRPr lang="en-US" sz="1100" dirty="0"/>
          </a:p>
        </p:txBody>
      </p:sp>
      <p:sp>
        <p:nvSpPr>
          <p:cNvPr id="25" name="Shape 23"/>
          <p:cNvSpPr/>
          <p:nvPr/>
        </p:nvSpPr>
        <p:spPr>
          <a:xfrm>
            <a:off x="661574" y="5454948"/>
            <a:ext cx="10868547" cy="701278"/>
          </a:xfrm>
          <a:prstGeom prst="roundRect">
            <a:avLst>
              <a:gd name="adj" fmla="val 8420"/>
            </a:avLst>
          </a:prstGeom>
          <a:solidFill>
            <a:srgbClr val="B6FCB8"/>
          </a:solidFill>
          <a:ln/>
        </p:spPr>
      </p:sp>
      <p:pic>
        <p:nvPicPr>
          <p:cNvPr id="26"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2064" y="5647333"/>
            <a:ext cx="175712" cy="140494"/>
          </a:xfrm>
          <a:prstGeom prst="rect">
            <a:avLst/>
          </a:prstGeom>
        </p:spPr>
      </p:pic>
      <p:sp>
        <p:nvSpPr>
          <p:cNvPr id="27" name="Text 24"/>
          <p:cNvSpPr/>
          <p:nvPr/>
        </p:nvSpPr>
        <p:spPr>
          <a:xfrm>
            <a:off x="1118267" y="5597525"/>
            <a:ext cx="10271364" cy="416123"/>
          </a:xfrm>
          <a:prstGeom prst="rect">
            <a:avLst/>
          </a:prstGeom>
          <a:noFill/>
          <a:ln/>
        </p:spPr>
        <p:txBody>
          <a:bodyPr wrap="square" lIns="0" tIns="0" rIns="0" bIns="0" rtlCol="0" anchor="t">
            <a:normAutofit/>
          </a:bodyPr>
          <a:lstStyle/>
          <a:p>
            <a:pPr marL="0" indent="0" algn="l">
              <a:lnSpc>
                <a:spcPct val="123000"/>
              </a:lnSpc>
              <a:buNone/>
            </a:pPr>
            <a:r>
              <a:rPr lang="en-US" sz="1100" dirty="0">
                <a:solidFill>
                  <a:srgbClr val="000000"/>
                </a:solidFill>
                <a:latin typeface="DM Sans" pitchFamily="34" charset="0"/>
                <a:ea typeface="DM Sans" pitchFamily="34" charset="-122"/>
                <a:cs typeface="DM Sans" pitchFamily="34" charset="-120"/>
              </a:rPr>
              <a:t>"She" comes out the other side meaning specifically </a:t>
            </a:r>
            <a:r>
              <a:rPr lang="en-US" sz="1100" i="1" dirty="0">
                <a:solidFill>
                  <a:srgbClr val="000000"/>
                </a:solidFill>
                <a:latin typeface="DM Sans" pitchFamily="34" charset="0"/>
                <a:ea typeface="DM Sans" pitchFamily="34" charset="-122"/>
                <a:cs typeface="DM Sans" pitchFamily="34" charset="-120"/>
              </a:rPr>
              <a:t>"the client, who is being told to rebalance her portfolio."</a:t>
            </a:r>
            <a:r>
              <a:rPr lang="en-US" sz="1100" dirty="0">
                <a:solidFill>
                  <a:srgbClr val="000000"/>
                </a:solidFill>
                <a:latin typeface="DM Sans" pitchFamily="34" charset="0"/>
                <a:ea typeface="DM Sans" pitchFamily="34" charset="-122"/>
                <a:cs typeface="DM Sans" pitchFamily="34" charset="-120"/>
              </a:rPr>
              <a:t> The ambiguity has been resolved — not by a hard rule, but by the model weighing the context.</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661574" y="701477"/>
            <a:ext cx="10868547"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Example 3: The Same Word, Two Different Sentences</a:t>
            </a:r>
            <a:endParaRPr lang="en-US" sz="3250" dirty="0"/>
          </a:p>
        </p:txBody>
      </p:sp>
      <p:sp>
        <p:nvSpPr>
          <p:cNvPr id="3" name="Text 1"/>
          <p:cNvSpPr/>
          <p:nvPr/>
        </p:nvSpPr>
        <p:spPr>
          <a:xfrm>
            <a:off x="661574" y="2065635"/>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Here's a final example that shows attention at its most powerful. Consider the word </a:t>
            </a:r>
            <a:r>
              <a:rPr lang="en-US" sz="1300" b="1" dirty="0">
                <a:solidFill>
                  <a:srgbClr val="454240"/>
                </a:solidFill>
                <a:latin typeface="DM Sans" pitchFamily="34" charset="0"/>
                <a:ea typeface="DM Sans" pitchFamily="34" charset="-122"/>
                <a:cs typeface="DM Sans" pitchFamily="34" charset="-120"/>
              </a:rPr>
              <a:t>"bank"</a:t>
            </a:r>
            <a:r>
              <a:rPr lang="en-US" sz="1300" dirty="0">
                <a:solidFill>
                  <a:srgbClr val="454240"/>
                </a:solidFill>
                <a:latin typeface="DM Sans" pitchFamily="34" charset="0"/>
                <a:ea typeface="DM Sans" pitchFamily="34" charset="-122"/>
                <a:cs typeface="DM Sans" pitchFamily="34" charset="-120"/>
              </a:rPr>
              <a:t> in these two sentences:</a:t>
            </a:r>
            <a:endParaRPr lang="en-US" sz="1300" dirty="0"/>
          </a:p>
        </p:txBody>
      </p:sp>
      <p:sp>
        <p:nvSpPr>
          <p:cNvPr id="4" name="Shape 2"/>
          <p:cNvSpPr/>
          <p:nvPr/>
        </p:nvSpPr>
        <p:spPr>
          <a:xfrm>
            <a:off x="542515" y="2516287"/>
            <a:ext cx="5470686" cy="2094012"/>
          </a:xfrm>
          <a:prstGeom prst="roundRect">
            <a:avLst>
              <a:gd name="adj" fmla="val 5687"/>
            </a:avLst>
          </a:prstGeom>
          <a:solidFill>
            <a:srgbClr val="B88E23"/>
          </a:solidFill>
          <a:ln/>
        </p:spPr>
      </p:sp>
      <p:sp>
        <p:nvSpPr>
          <p:cNvPr id="5" name="Text 3"/>
          <p:cNvSpPr/>
          <p:nvPr/>
        </p:nvSpPr>
        <p:spPr>
          <a:xfrm>
            <a:off x="707809" y="2681585"/>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ibre Baskerville" pitchFamily="34" charset="0"/>
                <a:ea typeface="Libre Baskerville" pitchFamily="34" charset="-122"/>
                <a:cs typeface="Libre Baskerville" pitchFamily="34" charset="-120"/>
              </a:rPr>
              <a:t>Sentence A</a:t>
            </a:r>
            <a:endParaRPr lang="en-US" sz="1600" dirty="0"/>
          </a:p>
        </p:txBody>
      </p:sp>
      <p:sp>
        <p:nvSpPr>
          <p:cNvPr id="6" name="Text 4"/>
          <p:cNvSpPr/>
          <p:nvPr/>
        </p:nvSpPr>
        <p:spPr>
          <a:xfrm>
            <a:off x="707809" y="3105348"/>
            <a:ext cx="5140097" cy="1356122"/>
          </a:xfrm>
          <a:prstGeom prst="rect">
            <a:avLst/>
          </a:prstGeom>
          <a:noFill/>
          <a:ln/>
        </p:spPr>
        <p:txBody>
          <a:bodyPr wrap="square" lIns="0" tIns="0" rIns="0" bIns="0" rtlCol="0" anchor="t"/>
          <a:lstStyle/>
          <a:p>
            <a:pPr marL="0" indent="0" algn="l">
              <a:lnSpc>
                <a:spcPct val="133000"/>
              </a:lnSpc>
              <a:spcAft>
                <a:spcPts val="1150"/>
              </a:spcAft>
              <a:buNone/>
            </a:pPr>
            <a:r>
              <a:rPr lang="en-US" sz="1300" i="1" dirty="0">
                <a:solidFill>
                  <a:srgbClr val="000000"/>
                </a:solidFill>
                <a:latin typeface="DM Sans" pitchFamily="34" charset="0"/>
                <a:ea typeface="DM Sans" pitchFamily="34" charset="-122"/>
                <a:cs typeface="DM Sans" pitchFamily="34" charset="-120"/>
              </a:rPr>
              <a:t>"I walked down to the bank to deposit the cheque."</a:t>
            </a:r>
            <a:endParaRPr lang="en-US" sz="1300" dirty="0"/>
          </a:p>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"Bank" looks around. High-attention neighbours: </a:t>
            </a:r>
            <a:r>
              <a:rPr lang="en-US" sz="1300" b="1" dirty="0">
                <a:solidFill>
                  <a:srgbClr val="000000"/>
                </a:solidFill>
                <a:latin typeface="DM Sans" pitchFamily="34" charset="0"/>
                <a:ea typeface="DM Sans" pitchFamily="34" charset="-122"/>
                <a:cs typeface="DM Sans" pitchFamily="34" charset="-120"/>
              </a:rPr>
              <a:t>"deposit"</a:t>
            </a:r>
            <a:r>
              <a:rPr lang="en-US" sz="1300" dirty="0">
                <a:solidFill>
                  <a:srgbClr val="000000"/>
                </a:solidFill>
                <a:latin typeface="DM Sans" pitchFamily="34" charset="0"/>
                <a:ea typeface="DM Sans" pitchFamily="34" charset="-122"/>
                <a:cs typeface="DM Sans" pitchFamily="34" charset="-120"/>
              </a:rPr>
              <a:t> and </a:t>
            </a:r>
            <a:r>
              <a:rPr lang="en-US" sz="1300" b="1" dirty="0">
                <a:solidFill>
                  <a:srgbClr val="000000"/>
                </a:solidFill>
                <a:latin typeface="DM Sans" pitchFamily="34" charset="0"/>
                <a:ea typeface="DM Sans" pitchFamily="34" charset="-122"/>
                <a:cs typeface="DM Sans" pitchFamily="34" charset="-120"/>
              </a:rPr>
              <a:t>"cheque."</a:t>
            </a:r>
            <a:r>
              <a:rPr lang="en-US" sz="1300" dirty="0">
                <a:solidFill>
                  <a:srgbClr val="000000"/>
                </a:solidFill>
                <a:latin typeface="DM Sans" pitchFamily="34" charset="0"/>
                <a:ea typeface="DM Sans" pitchFamily="34" charset="-122"/>
                <a:cs typeface="DM Sans" pitchFamily="34" charset="-120"/>
              </a:rPr>
              <a:t> These strongly suggest the financial meaning.</a:t>
            </a:r>
            <a:endParaRPr lang="en-US" sz="1300" dirty="0"/>
          </a:p>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Result: </a:t>
            </a:r>
            <a:r>
              <a:rPr lang="en-US" sz="1300" b="1" dirty="0">
                <a:solidFill>
                  <a:srgbClr val="000000"/>
                </a:solidFill>
                <a:latin typeface="DM Sans" pitchFamily="34" charset="0"/>
                <a:ea typeface="DM Sans" pitchFamily="34" charset="-122"/>
                <a:cs typeface="DM Sans" pitchFamily="34" charset="-120"/>
              </a:rPr>
              <a:t>bank-the-institution.</a:t>
            </a:r>
            <a:endParaRPr lang="en-US" sz="1300" dirty="0"/>
          </a:p>
        </p:txBody>
      </p:sp>
      <p:sp>
        <p:nvSpPr>
          <p:cNvPr id="7" name="Text 5"/>
          <p:cNvSpPr/>
          <p:nvPr/>
        </p:nvSpPr>
        <p:spPr>
          <a:xfrm>
            <a:off x="6303904" y="2681585"/>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Sentence B</a:t>
            </a:r>
            <a:endParaRPr lang="en-US" sz="1600" dirty="0"/>
          </a:p>
        </p:txBody>
      </p:sp>
      <p:sp>
        <p:nvSpPr>
          <p:cNvPr id="8" name="Text 6"/>
          <p:cNvSpPr/>
          <p:nvPr/>
        </p:nvSpPr>
        <p:spPr>
          <a:xfrm>
            <a:off x="6303904" y="3105348"/>
            <a:ext cx="5232567" cy="1356122"/>
          </a:xfrm>
          <a:prstGeom prst="rect">
            <a:avLst/>
          </a:prstGeom>
          <a:noFill/>
          <a:ln/>
        </p:spPr>
        <p:txBody>
          <a:bodyPr wrap="square" lIns="0" tIns="0" rIns="0" bIns="0" rtlCol="0" anchor="t"/>
          <a:lstStyle/>
          <a:p>
            <a:pPr marL="0" indent="0" algn="l">
              <a:lnSpc>
                <a:spcPct val="133000"/>
              </a:lnSpc>
              <a:spcAft>
                <a:spcPts val="1150"/>
              </a:spcAft>
              <a:buNone/>
            </a:pPr>
            <a:r>
              <a:rPr lang="en-US" sz="1300" i="1" dirty="0">
                <a:solidFill>
                  <a:srgbClr val="454240"/>
                </a:solidFill>
                <a:latin typeface="DM Sans" pitchFamily="34" charset="0"/>
                <a:ea typeface="DM Sans" pitchFamily="34" charset="-122"/>
                <a:cs typeface="DM Sans" pitchFamily="34" charset="-120"/>
              </a:rPr>
              <a:t>"I walked down to the bank to feed the ducks."</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"Bank" looks around. High-attention neighbours: </a:t>
            </a:r>
            <a:r>
              <a:rPr lang="en-US" sz="1300" b="1" dirty="0">
                <a:solidFill>
                  <a:srgbClr val="454240"/>
                </a:solidFill>
                <a:latin typeface="DM Sans" pitchFamily="34" charset="0"/>
                <a:ea typeface="DM Sans" pitchFamily="34" charset="-122"/>
                <a:cs typeface="DM Sans" pitchFamily="34" charset="-120"/>
              </a:rPr>
              <a:t>"ducks"</a:t>
            </a:r>
            <a:r>
              <a:rPr lang="en-US" sz="1300" dirty="0">
                <a:solidFill>
                  <a:srgbClr val="454240"/>
                </a:solidFill>
                <a:latin typeface="DM Sans" pitchFamily="34" charset="0"/>
                <a:ea typeface="DM Sans" pitchFamily="34" charset="-122"/>
                <a:cs typeface="DM Sans" pitchFamily="34" charset="-120"/>
              </a:rPr>
              <a:t> and </a:t>
            </a:r>
            <a:r>
              <a:rPr lang="en-US" sz="1300" b="1" dirty="0">
                <a:solidFill>
                  <a:srgbClr val="454240"/>
                </a:solidFill>
                <a:latin typeface="DM Sans" pitchFamily="34" charset="0"/>
                <a:ea typeface="DM Sans" pitchFamily="34" charset="-122"/>
                <a:cs typeface="DM Sans" pitchFamily="34" charset="-120"/>
              </a:rPr>
              <a:t>"feed."</a:t>
            </a:r>
            <a:r>
              <a:rPr lang="en-US" sz="1300" dirty="0">
                <a:solidFill>
                  <a:srgbClr val="454240"/>
                </a:solidFill>
                <a:latin typeface="DM Sans" pitchFamily="34" charset="0"/>
                <a:ea typeface="DM Sans" pitchFamily="34" charset="-122"/>
                <a:cs typeface="DM Sans" pitchFamily="34" charset="-120"/>
              </a:rPr>
              <a:t> These suggest something outdoorsy and natural.</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Result: </a:t>
            </a:r>
            <a:r>
              <a:rPr lang="en-US" sz="1300" b="1" dirty="0">
                <a:solidFill>
                  <a:srgbClr val="454240"/>
                </a:solidFill>
                <a:latin typeface="DM Sans" pitchFamily="34" charset="0"/>
                <a:ea typeface="DM Sans" pitchFamily="34" charset="-122"/>
                <a:cs typeface="DM Sans" pitchFamily="34" charset="-120"/>
              </a:rPr>
              <a:t>bank-the-riverside.</a:t>
            </a:r>
            <a:endParaRPr lang="en-US" sz="1300" dirty="0"/>
          </a:p>
        </p:txBody>
      </p:sp>
      <p:sp>
        <p:nvSpPr>
          <p:cNvPr id="9" name="Shape 7"/>
          <p:cNvSpPr/>
          <p:nvPr/>
        </p:nvSpPr>
        <p:spPr>
          <a:xfrm>
            <a:off x="661574" y="4796334"/>
            <a:ext cx="10868547" cy="909439"/>
          </a:xfrm>
          <a:prstGeom prst="roundRect">
            <a:avLst>
              <a:gd name="adj" fmla="val 7638"/>
            </a:avLst>
          </a:prstGeom>
          <a:solidFill>
            <a:srgbClr val="F3E4BF"/>
          </a:solidFill>
          <a:ln/>
        </p:spPr>
      </p:sp>
      <p:pic>
        <p:nvPicPr>
          <p:cNvPr id="10"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5036046"/>
            <a:ext cx="206667" cy="165298"/>
          </a:xfrm>
          <a:prstGeom prst="rect">
            <a:avLst/>
          </a:prstGeom>
        </p:spPr>
      </p:pic>
      <p:sp>
        <p:nvSpPr>
          <p:cNvPr id="11" name="Text 8"/>
          <p:cNvSpPr/>
          <p:nvPr/>
        </p:nvSpPr>
        <p:spPr>
          <a:xfrm>
            <a:off x="1198830" y="4986437"/>
            <a:ext cx="10165996"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The model never had to be told the rule </a:t>
            </a:r>
            <a:r>
              <a:rPr lang="en-US" sz="1300" i="1" dirty="0">
                <a:solidFill>
                  <a:srgbClr val="000000"/>
                </a:solidFill>
                <a:latin typeface="DM Sans" pitchFamily="34" charset="0"/>
                <a:ea typeface="DM Sans" pitchFamily="34" charset="-122"/>
                <a:cs typeface="DM Sans" pitchFamily="34" charset="-120"/>
              </a:rPr>
              <a:t>"if bank is near deposit, it means financial; if bank is near ducks, it means riverside."</a:t>
            </a:r>
            <a:r>
              <a:rPr lang="en-US" sz="1300" dirty="0">
                <a:solidFill>
                  <a:srgbClr val="000000"/>
                </a:solidFill>
                <a:latin typeface="DM Sans" pitchFamily="34" charset="0"/>
                <a:ea typeface="DM Sans" pitchFamily="34" charset="-122"/>
                <a:cs typeface="DM Sans" pitchFamily="34" charset="-120"/>
              </a:rPr>
              <a:t> It learned, from billions of examples, what each word tends to attend to in what contexts. Attention plus training takes care of the rest.</a:t>
            </a:r>
            <a:endParaRPr lang="en-US" sz="1300" dirty="0"/>
          </a:p>
        </p:txBody>
      </p:sp>
      <p:sp>
        <p:nvSpPr>
          <p:cNvPr id="12" name="Text 9"/>
          <p:cNvSpPr/>
          <p:nvPr/>
        </p:nvSpPr>
        <p:spPr>
          <a:xfrm>
            <a:off x="661574" y="5891808"/>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This is why modern AI systems handle ambiguity so much better than earlier ones. Every word can re-shape itself based on its company.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661574" y="994271"/>
            <a:ext cx="10868547"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Why This Matters for What You Do with These Tools</a:t>
            </a:r>
            <a:endParaRPr lang="en-US" sz="3250" dirty="0"/>
          </a:p>
        </p:txBody>
      </p:sp>
      <p:sp>
        <p:nvSpPr>
          <p:cNvPr id="3" name="Text 1"/>
          <p:cNvSpPr/>
          <p:nvPr/>
        </p:nvSpPr>
        <p:spPr>
          <a:xfrm>
            <a:off x="661574" y="2358430"/>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If you've followed the three examples, you now have a working intuition for the most important idea in modern AI. A few practical implications worth carrying with you:</a:t>
            </a:r>
            <a:endParaRPr lang="en-US" sz="1300" dirty="0"/>
          </a:p>
        </p:txBody>
      </p:sp>
      <p:sp>
        <p:nvSpPr>
          <p:cNvPr id="4" name="Shape 2"/>
          <p:cNvSpPr/>
          <p:nvPr/>
        </p:nvSpPr>
        <p:spPr>
          <a:xfrm>
            <a:off x="661574" y="3073698"/>
            <a:ext cx="372061" cy="372070"/>
          </a:xfrm>
          <a:prstGeom prst="roundRect">
            <a:avLst>
              <a:gd name="adj" fmla="val 18670"/>
            </a:avLst>
          </a:prstGeom>
          <a:solidFill>
            <a:srgbClr val="F7EDD4"/>
          </a:solidFill>
          <a:ln w="6350">
            <a:solidFill>
              <a:srgbClr val="DDD3BA"/>
            </a:solidFill>
            <a:prstDash val="solid"/>
          </a:ln>
        </p:spPr>
      </p:sp>
      <p:sp>
        <p:nvSpPr>
          <p:cNvPr id="5" name="Text 3"/>
          <p:cNvSpPr/>
          <p:nvPr/>
        </p:nvSpPr>
        <p:spPr>
          <a:xfrm>
            <a:off x="1198929" y="3130550"/>
            <a:ext cx="4793535"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Context is not optional — it's the entire mechanism</a:t>
            </a:r>
            <a:endParaRPr lang="en-US" sz="1600" dirty="0"/>
          </a:p>
        </p:txBody>
      </p:sp>
      <p:sp>
        <p:nvSpPr>
          <p:cNvPr id="6" name="Text 4"/>
          <p:cNvSpPr/>
          <p:nvPr/>
        </p:nvSpPr>
        <p:spPr>
          <a:xfrm>
            <a:off x="1198929" y="3746698"/>
            <a:ext cx="4793535" cy="2116931"/>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When you give an LLM a vague prompt, you're not just being unclear. You're starving the attention mechanism of the neighbours it needs to sharpen the meaning of each word. </a:t>
            </a:r>
            <a:r>
              <a:rPr lang="en-US" sz="1300" i="1" dirty="0">
                <a:solidFill>
                  <a:srgbClr val="454240"/>
                </a:solidFill>
                <a:latin typeface="DM Sans" pitchFamily="34" charset="0"/>
                <a:ea typeface="DM Sans" pitchFamily="34" charset="-122"/>
                <a:cs typeface="DM Sans" pitchFamily="34" charset="-120"/>
              </a:rPr>
              <a:t>"Write me something about exposure"</a:t>
            </a:r>
            <a:r>
              <a:rPr lang="en-US" sz="1300" dirty="0">
                <a:solidFill>
                  <a:srgbClr val="454240"/>
                </a:solidFill>
                <a:latin typeface="DM Sans" pitchFamily="34" charset="0"/>
                <a:ea typeface="DM Sans" pitchFamily="34" charset="-122"/>
                <a:cs typeface="DM Sans" pitchFamily="34" charset="-120"/>
              </a:rPr>
              <a:t> gives the model almost nothing to work with. </a:t>
            </a:r>
            <a:r>
              <a:rPr lang="en-US" sz="1300" i="1" dirty="0">
                <a:solidFill>
                  <a:srgbClr val="454240"/>
                </a:solidFill>
                <a:latin typeface="DM Sans" pitchFamily="34" charset="0"/>
                <a:ea typeface="DM Sans" pitchFamily="34" charset="-122"/>
                <a:cs typeface="DM Sans" pitchFamily="34" charset="-120"/>
              </a:rPr>
              <a:t>"Write a one-paragraph note for a client about their portfolio's exposure to emerging-market equities, in our firm's professional tone"</a:t>
            </a:r>
            <a:r>
              <a:rPr lang="en-US" sz="1300" dirty="0">
                <a:solidFill>
                  <a:srgbClr val="454240"/>
                </a:solidFill>
                <a:latin typeface="DM Sans" pitchFamily="34" charset="0"/>
                <a:ea typeface="DM Sans" pitchFamily="34" charset="-122"/>
                <a:cs typeface="DM Sans" pitchFamily="34" charset="-120"/>
              </a:rPr>
              <a:t> gives every important word a roomful of neighbours to attend to.</a:t>
            </a:r>
            <a:endParaRPr lang="en-US" sz="1300" dirty="0"/>
          </a:p>
        </p:txBody>
      </p:sp>
      <p:sp>
        <p:nvSpPr>
          <p:cNvPr id="7" name="Shape 5"/>
          <p:cNvSpPr/>
          <p:nvPr/>
        </p:nvSpPr>
        <p:spPr>
          <a:xfrm>
            <a:off x="6199132" y="3073698"/>
            <a:ext cx="372061" cy="372070"/>
          </a:xfrm>
          <a:prstGeom prst="roundRect">
            <a:avLst>
              <a:gd name="adj" fmla="val 18670"/>
            </a:avLst>
          </a:prstGeom>
          <a:solidFill>
            <a:srgbClr val="F7EDD4"/>
          </a:solidFill>
          <a:ln w="6350">
            <a:solidFill>
              <a:srgbClr val="DDD3BA"/>
            </a:solidFill>
            <a:prstDash val="solid"/>
          </a:ln>
        </p:spPr>
      </p:sp>
      <p:sp>
        <p:nvSpPr>
          <p:cNvPr id="8" name="Text 6"/>
          <p:cNvSpPr/>
          <p:nvPr/>
        </p:nvSpPr>
        <p:spPr>
          <a:xfrm>
            <a:off x="6736487" y="3130550"/>
            <a:ext cx="4793634"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More relevant context is usually better than more context</a:t>
            </a:r>
            <a:endParaRPr lang="en-US" sz="1600" dirty="0"/>
          </a:p>
        </p:txBody>
      </p:sp>
      <p:sp>
        <p:nvSpPr>
          <p:cNvPr id="9" name="Text 7"/>
          <p:cNvSpPr/>
          <p:nvPr/>
        </p:nvSpPr>
        <p:spPr>
          <a:xfrm>
            <a:off x="6736487" y="3746698"/>
            <a:ext cx="479363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Attention can pay attention to anything in the room. But noise in the room competes for that attention. Putting irrelevant documents into a RAG prompt doesn't just waste tokens — it dilutes the attention the model can give to the relevant material.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661574" y="1874937"/>
            <a:ext cx="6462650"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More Practical Implications</a:t>
            </a:r>
            <a:endParaRPr lang="en-US" sz="3250" dirty="0"/>
          </a:p>
        </p:txBody>
      </p:sp>
      <p:sp>
        <p:nvSpPr>
          <p:cNvPr id="3" name="Shape 1"/>
          <p:cNvSpPr/>
          <p:nvPr/>
        </p:nvSpPr>
        <p:spPr>
          <a:xfrm>
            <a:off x="661574" y="2722364"/>
            <a:ext cx="372061" cy="372070"/>
          </a:xfrm>
          <a:prstGeom prst="roundRect">
            <a:avLst>
              <a:gd name="adj" fmla="val 18670"/>
            </a:avLst>
          </a:prstGeom>
          <a:solidFill>
            <a:srgbClr val="F7EDD4"/>
          </a:solidFill>
          <a:ln w="6350">
            <a:solidFill>
              <a:srgbClr val="DDD3BA"/>
            </a:solidFill>
            <a:prstDash val="solid"/>
          </a:ln>
        </p:spPr>
      </p:sp>
      <p:sp>
        <p:nvSpPr>
          <p:cNvPr id="4" name="Text 2"/>
          <p:cNvSpPr/>
          <p:nvPr/>
        </p:nvSpPr>
        <p:spPr>
          <a:xfrm>
            <a:off x="1198929" y="2779216"/>
            <a:ext cx="4793535"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Position matters less than it used to, but still matters</a:t>
            </a:r>
            <a:endParaRPr lang="en-US" sz="1600" dirty="0"/>
          </a:p>
        </p:txBody>
      </p:sp>
      <p:sp>
        <p:nvSpPr>
          <p:cNvPr id="5" name="Text 3"/>
          <p:cNvSpPr/>
          <p:nvPr/>
        </p:nvSpPr>
        <p:spPr>
          <a:xfrm>
            <a:off x="1198929" y="3395365"/>
            <a:ext cx="4793535"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Attention treats all positions equally in principle. But in practice, models pay slightly more attention to the start and end of long contexts than the middle. Important instructions at the start of a prompt; important questions at the end. Don't bury the key request in the middle of a wall of text.</a:t>
            </a:r>
            <a:endParaRPr lang="en-US" sz="1300" dirty="0"/>
          </a:p>
        </p:txBody>
      </p:sp>
      <p:sp>
        <p:nvSpPr>
          <p:cNvPr id="6" name="Shape 4"/>
          <p:cNvSpPr/>
          <p:nvPr/>
        </p:nvSpPr>
        <p:spPr>
          <a:xfrm>
            <a:off x="6199132" y="2722364"/>
            <a:ext cx="372061" cy="372070"/>
          </a:xfrm>
          <a:prstGeom prst="roundRect">
            <a:avLst>
              <a:gd name="adj" fmla="val 18670"/>
            </a:avLst>
          </a:prstGeom>
          <a:solidFill>
            <a:srgbClr val="F7EDD4"/>
          </a:solidFill>
          <a:ln w="6350">
            <a:solidFill>
              <a:srgbClr val="DDD3BA"/>
            </a:solidFill>
            <a:prstDash val="solid"/>
          </a:ln>
        </p:spPr>
      </p:sp>
      <p:sp>
        <p:nvSpPr>
          <p:cNvPr id="7" name="Text 5"/>
          <p:cNvSpPr/>
          <p:nvPr/>
        </p:nvSpPr>
        <p:spPr>
          <a:xfrm>
            <a:off x="6736487" y="2779216"/>
            <a:ext cx="4793634"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Long context is genuinely powerful, not just a vanity number</a:t>
            </a:r>
            <a:endParaRPr lang="en-US" sz="1600" dirty="0"/>
          </a:p>
        </p:txBody>
      </p:sp>
      <p:sp>
        <p:nvSpPr>
          <p:cNvPr id="8" name="Text 6"/>
          <p:cNvSpPr/>
          <p:nvPr/>
        </p:nvSpPr>
        <p:spPr>
          <a:xfrm>
            <a:off x="6736487" y="3395365"/>
            <a:ext cx="4793634" cy="1587698"/>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When a vendor says their model handles a million tokens of context, they're saying every word in that million-token document can look at every other word and pull in relevant meaning. That's the same mechanism that resolves "she" to "client" in a one-sentence example — just scaled up enormously.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661574" y="1384598"/>
            <a:ext cx="6563950"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The One-Paragraph Version</a:t>
            </a:r>
            <a:endParaRPr lang="en-US" sz="3250" dirty="0"/>
          </a:p>
        </p:txBody>
      </p:sp>
      <p:sp>
        <p:nvSpPr>
          <p:cNvPr id="3" name="Text 1"/>
          <p:cNvSpPr/>
          <p:nvPr/>
        </p:nvSpPr>
        <p:spPr>
          <a:xfrm>
            <a:off x="909615" y="2418060"/>
            <a:ext cx="10620506" cy="1587698"/>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Every word in a sentence enters a kind of meeting room. Each word looks at every other word in the room and assigns a weight reflecting how relevant that word is to understanding itself. Then it updates its own meaning by mixing in a weighted blend of the others. All words do this simultaneously, in parallel — no waiting, no sequence. The result is that every word's meaning has been sharpened by its context. "Exposure" sitting next to "portfolio" and "equities" comes out meaning financial exposure. "She" sitting next to "client" comes out referring to the client. "Bank" sitting next to "ducks" comes out meaning a riverside. This happens dozens of times in stacked layers, so every word ends up absorbing context from across the entire input. That's attention. That's the engine.</a:t>
            </a:r>
            <a:endParaRPr lang="en-US" sz="1300" dirty="0"/>
          </a:p>
        </p:txBody>
      </p:sp>
      <p:sp>
        <p:nvSpPr>
          <p:cNvPr id="4" name="Shape 2"/>
          <p:cNvSpPr/>
          <p:nvPr/>
        </p:nvSpPr>
        <p:spPr>
          <a:xfrm>
            <a:off x="661574" y="4377829"/>
            <a:ext cx="10868547" cy="909439"/>
          </a:xfrm>
          <a:prstGeom prst="roundRect">
            <a:avLst>
              <a:gd name="adj" fmla="val 7638"/>
            </a:avLst>
          </a:prstGeom>
          <a:solidFill>
            <a:srgbClr val="B6FCB8"/>
          </a:solidFill>
          <a:ln/>
        </p:spPr>
      </p:sp>
      <p:pic>
        <p:nvPicPr>
          <p:cNvPr id="5"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4617541"/>
            <a:ext cx="206667" cy="165298"/>
          </a:xfrm>
          <a:prstGeom prst="rect">
            <a:avLst/>
          </a:prstGeom>
        </p:spPr>
      </p:pic>
      <p:sp>
        <p:nvSpPr>
          <p:cNvPr id="6" name="Text 3"/>
          <p:cNvSpPr/>
          <p:nvPr/>
        </p:nvSpPr>
        <p:spPr>
          <a:xfrm>
            <a:off x="1198830" y="4567932"/>
            <a:ext cx="10165996"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Once you see it, you can't unsee it. Every coherent answer a modern AI gives, every connection it draws across a long document, every time it picks the right interpretation of an ambiguous word — that's attention doing its work, quietly, billions of times a second.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5290</Words>
  <Application>Microsoft Office PowerPoint</Application>
  <PresentationFormat>Widescreen</PresentationFormat>
  <Paragraphs>454</Paragraphs>
  <Slides>46</Slides>
  <Notes>46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DM Sans</vt:lpstr>
      <vt:lpstr>Arial</vt:lpstr>
      <vt:lpstr>Consolas</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Soma Kesara</cp:lastModifiedBy>
  <cp:revision>4</cp:revision>
  <dcterms:created xsi:type="dcterms:W3CDTF">2026-06-11T04:59:58Z</dcterms:created>
  <dcterms:modified xsi:type="dcterms:W3CDTF">2026-06-11T05:04:12Z</dcterms:modified>
</cp:coreProperties>
</file>