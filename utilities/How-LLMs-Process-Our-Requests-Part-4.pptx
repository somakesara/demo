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p:notesSz cx="6858000" cy="12192000"/>
  <p:embeddedFontLst>
    <p:embeddedFont>
      <p:font typeface="DM Sans" pitchFamily="2" charset="0"/>
      <p:regular r:id="rId33"/>
      <p:bold r:id="rId34"/>
      <p:italic r:id="rId35"/>
    </p:embeddedFont>
    <p:embeddedFont>
      <p:font typeface="Libre Baskerville" panose="02000000000000000000" pitchFamily="2" charset="0"/>
      <p:regular r:id="rId3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1" d="100"/>
          <a:sy n="111" d="100"/>
        </p:scale>
        <p:origin x="217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372303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FFFDFA"/>
          </a:solidFill>
          <a:ln/>
        </p:spPr>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8.svg"/></Relationships>
</file>

<file path=ppt/slides/_rels/slide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svg"/><Relationship Id="rId4" Type="http://schemas.openxmlformats.org/officeDocument/2006/relationships/image" Target="../media/image10.sv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svg"/><Relationship Id="rId4" Type="http://schemas.openxmlformats.org/officeDocument/2006/relationships/image" Target="../media/image14.sv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0.svg"/><Relationship Id="rId7" Type="http://schemas.openxmlformats.org/officeDocument/2006/relationships/image" Target="../media/image34.sv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33.svg"/><Relationship Id="rId5" Type="http://schemas.openxmlformats.org/officeDocument/2006/relationships/image" Target="../media/image32.svg"/><Relationship Id="rId4" Type="http://schemas.openxmlformats.org/officeDocument/2006/relationships/image" Target="../media/image31.sv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image" Target="../media/image42.svg"/><Relationship Id="rId3" Type="http://schemas.openxmlformats.org/officeDocument/2006/relationships/image" Target="../media/image37.svg"/><Relationship Id="rId7" Type="http://schemas.openxmlformats.org/officeDocument/2006/relationships/image" Target="../media/image41.sv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40.svg"/><Relationship Id="rId5" Type="http://schemas.openxmlformats.org/officeDocument/2006/relationships/image" Target="../media/image39.svg"/><Relationship Id="rId4" Type="http://schemas.openxmlformats.org/officeDocument/2006/relationships/image" Target="../media/image38.svg"/><Relationship Id="rId9" Type="http://schemas.openxmlformats.org/officeDocument/2006/relationships/image" Target="../media/image43.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61574" y="941189"/>
            <a:ext cx="9525754" cy="516731"/>
          </a:xfrm>
          <a:prstGeom prst="rect">
            <a:avLst/>
          </a:prstGeom>
          <a:noFill/>
          <a:ln/>
        </p:spPr>
        <p:txBody>
          <a:bodyPr wrap="none" lIns="0" tIns="0" rIns="0" bIns="0" rtlCol="0" anchor="t"/>
          <a:lstStyle/>
          <a:p>
            <a:pPr marL="0" indent="0" algn="l">
              <a:lnSpc>
                <a:spcPct val="104000"/>
              </a:lnSpc>
              <a:buNone/>
            </a:pPr>
            <a:r>
              <a:rPr lang="en-US" sz="3250" dirty="0">
                <a:solidFill>
                  <a:srgbClr val="5C4E3D"/>
                </a:solidFill>
                <a:latin typeface="Libre Baskerville" pitchFamily="34" charset="0"/>
                <a:ea typeface="Libre Baskerville" pitchFamily="34" charset="-122"/>
                <a:cs typeface="Libre Baskerville" pitchFamily="34" charset="-120"/>
              </a:rPr>
              <a:t>How LLMs Process Our Requests — Part 4</a:t>
            </a:r>
            <a:endParaRPr lang="en-US" sz="3250" dirty="0"/>
          </a:p>
        </p:txBody>
      </p:sp>
      <p:sp>
        <p:nvSpPr>
          <p:cNvPr id="3" name="Text 1"/>
          <p:cNvSpPr/>
          <p:nvPr/>
        </p:nvSpPr>
        <p:spPr>
          <a:xfrm>
            <a:off x="661574" y="1524000"/>
            <a:ext cx="5428916" cy="258465"/>
          </a:xfrm>
          <a:prstGeom prst="rect">
            <a:avLst/>
          </a:prstGeom>
          <a:noFill/>
          <a:ln/>
        </p:spPr>
        <p:txBody>
          <a:bodyPr wrap="none" lIns="0" tIns="0" rIns="0" bIns="0" rtlCol="0" anchor="t"/>
          <a:lstStyle/>
          <a:p>
            <a:pPr marL="0" indent="0" algn="l">
              <a:lnSpc>
                <a:spcPct val="104000"/>
              </a:lnSpc>
              <a:buNone/>
            </a:pPr>
            <a:r>
              <a:rPr lang="en-US" sz="1600" dirty="0">
                <a:solidFill>
                  <a:srgbClr val="5C4E3D"/>
                </a:solidFill>
                <a:latin typeface="Libre Baskerville" pitchFamily="34" charset="0"/>
                <a:ea typeface="Libre Baskerville" pitchFamily="34" charset="-122"/>
                <a:cs typeface="Libre Baskerville" pitchFamily="34" charset="-120"/>
              </a:rPr>
              <a:t>Choosing, Customising, and Trusting an LLM</a:t>
            </a:r>
            <a:endParaRPr lang="en-US" sz="1600" dirty="0"/>
          </a:p>
        </p:txBody>
      </p:sp>
      <p:sp>
        <p:nvSpPr>
          <p:cNvPr id="4" name="Text 2"/>
          <p:cNvSpPr/>
          <p:nvPr/>
        </p:nvSpPr>
        <p:spPr>
          <a:xfrm>
            <a:off x="661574" y="2030512"/>
            <a:ext cx="10868547" cy="1430536"/>
          </a:xfrm>
          <a:prstGeom prst="rect">
            <a:avLst/>
          </a:prstGeom>
          <a:noFill/>
          <a:ln/>
        </p:spPr>
        <p:txBody>
          <a:bodyPr wrap="square" lIns="0" tIns="0" rIns="0" bIns="0" rtlCol="0" anchor="t"/>
          <a:lstStyle/>
          <a:p>
            <a:pPr marL="0" indent="0" algn="l">
              <a:lnSpc>
                <a:spcPct val="133000"/>
              </a:lnSpc>
              <a:spcAft>
                <a:spcPts val="1450"/>
              </a:spcAft>
              <a:buNone/>
            </a:pPr>
            <a:r>
              <a:rPr lang="en-US" sz="1300" i="1" dirty="0">
                <a:solidFill>
                  <a:srgbClr val="454240"/>
                </a:solidFill>
                <a:latin typeface="DM Sans" pitchFamily="34" charset="0"/>
                <a:ea typeface="DM Sans" pitchFamily="34" charset="-122"/>
                <a:cs typeface="DM Sans" pitchFamily="34" charset="-120"/>
              </a:rPr>
              <a:t>The final part of the series.</a:t>
            </a:r>
            <a:endParaRPr lang="en-US" sz="1300" dirty="0"/>
          </a:p>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Parts 1–3 answered </a:t>
            </a:r>
            <a:r>
              <a:rPr lang="en-US" sz="1300" b="1" dirty="0">
                <a:solidFill>
                  <a:srgbClr val="454240"/>
                </a:solidFill>
                <a:latin typeface="DM Sans" pitchFamily="34" charset="0"/>
                <a:ea typeface="DM Sans" pitchFamily="34" charset="-122"/>
                <a:cs typeface="DM Sans" pitchFamily="34" charset="-120"/>
              </a:rPr>
              <a:t>how it works</a:t>
            </a:r>
            <a:r>
              <a:rPr lang="en-US" sz="1300" dirty="0">
                <a:solidFill>
                  <a:srgbClr val="454240"/>
                </a:solidFill>
                <a:latin typeface="DM Sans" pitchFamily="34" charset="0"/>
                <a:ea typeface="DM Sans" pitchFamily="34" charset="-122"/>
                <a:cs typeface="DM Sans" pitchFamily="34" charset="-120"/>
              </a:rPr>
              <a:t>. From your keystroke through the data centre, through attention and probability and sampling, all the way out to a real assistant with tools, RAG, and guardrails.</a:t>
            </a:r>
            <a:endParaRPr lang="en-US" sz="1300" dirty="0"/>
          </a:p>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Part 4 is about </a:t>
            </a:r>
            <a:r>
              <a:rPr lang="en-US" sz="1300" b="1" dirty="0">
                <a:solidFill>
                  <a:srgbClr val="454240"/>
                </a:solidFill>
                <a:latin typeface="DM Sans" pitchFamily="34" charset="0"/>
                <a:ea typeface="DM Sans" pitchFamily="34" charset="-122"/>
                <a:cs typeface="DM Sans" pitchFamily="34" charset="-120"/>
              </a:rPr>
              <a:t>how to make decisions about it</a:t>
            </a:r>
            <a:r>
              <a:rPr lang="en-US" sz="1300" dirty="0">
                <a:solidFill>
                  <a:srgbClr val="454240"/>
                </a:solidFill>
                <a:latin typeface="DM Sans" pitchFamily="34" charset="0"/>
                <a:ea typeface="DM Sans" pitchFamily="34" charset="-122"/>
                <a:cs typeface="DM Sans" pitchFamily="34" charset="-120"/>
              </a:rPr>
              <a:t> — the questions a business audience actually has to answer:</a:t>
            </a:r>
            <a:endParaRPr lang="en-US" sz="1300" dirty="0"/>
          </a:p>
        </p:txBody>
      </p:sp>
      <p:sp>
        <p:nvSpPr>
          <p:cNvPr id="5" name="Text 3"/>
          <p:cNvSpPr/>
          <p:nvPr/>
        </p:nvSpPr>
        <p:spPr>
          <a:xfrm>
            <a:off x="661574" y="3647083"/>
            <a:ext cx="10868547" cy="1554460"/>
          </a:xfrm>
          <a:prstGeom prst="rect">
            <a:avLst/>
          </a:prstGeom>
          <a:noFill/>
          <a:ln/>
        </p:spPr>
        <p:txBody>
          <a:bodyPr wrap="square" lIns="0" tIns="0" rIns="0" bIns="0" rtlCol="0" anchor="t">
            <a:normAutofit/>
          </a:bodyPr>
          <a:lstStyle/>
          <a:p>
            <a:pPr marL="342900" indent="-342900" algn="l">
              <a:lnSpc>
                <a:spcPct val="133000"/>
              </a:lnSpc>
              <a:buSzPct val="100000"/>
              <a:buChar char="•"/>
            </a:pPr>
            <a:r>
              <a:rPr lang="en-US" sz="1300" dirty="0">
                <a:solidFill>
                  <a:srgbClr val="454240"/>
                </a:solidFill>
                <a:latin typeface="DM Sans" pitchFamily="34" charset="0"/>
                <a:ea typeface="DM Sans" pitchFamily="34" charset="-122"/>
                <a:cs typeface="DM Sans" pitchFamily="34" charset="-120"/>
              </a:rPr>
              <a:t>"Should we fine-tune a model on our data, or just use prompts?"</a:t>
            </a:r>
            <a:endParaRPr lang="en-US" sz="1300" dirty="0"/>
          </a:p>
          <a:p>
            <a:pPr marL="342900" indent="-342900" algn="l">
              <a:lnSpc>
                <a:spcPct val="133000"/>
              </a:lnSpc>
              <a:buSzPct val="100000"/>
              <a:buChar char="•"/>
            </a:pPr>
            <a:r>
              <a:rPr lang="en-US" sz="1300" dirty="0">
                <a:solidFill>
                  <a:srgbClr val="454240"/>
                </a:solidFill>
                <a:latin typeface="DM Sans" pitchFamily="34" charset="0"/>
                <a:ea typeface="DM Sans" pitchFamily="34" charset="-122"/>
                <a:cs typeface="DM Sans" pitchFamily="34" charset="-120"/>
              </a:rPr>
              <a:t>"What does it mean when a model has 'thinking' mode?"</a:t>
            </a:r>
            <a:endParaRPr lang="en-US" sz="1300" dirty="0"/>
          </a:p>
          <a:p>
            <a:pPr marL="342900" indent="-342900" algn="l">
              <a:lnSpc>
                <a:spcPct val="133000"/>
              </a:lnSpc>
              <a:buSzPct val="100000"/>
              <a:buChar char="•"/>
            </a:pPr>
            <a:r>
              <a:rPr lang="en-US" sz="1300" dirty="0">
                <a:solidFill>
                  <a:srgbClr val="454240"/>
                </a:solidFill>
                <a:latin typeface="DM Sans" pitchFamily="34" charset="0"/>
                <a:ea typeface="DM Sans" pitchFamily="34" charset="-122"/>
                <a:cs typeface="DM Sans" pitchFamily="34" charset="-120"/>
              </a:rPr>
              <a:t>"Can it read this PDF I just uploaded?"</a:t>
            </a:r>
            <a:endParaRPr lang="en-US" sz="1300" dirty="0"/>
          </a:p>
          <a:p>
            <a:pPr marL="342900" indent="-342900" algn="l">
              <a:lnSpc>
                <a:spcPct val="133000"/>
              </a:lnSpc>
              <a:buSzPct val="100000"/>
              <a:buChar char="•"/>
            </a:pPr>
            <a:r>
              <a:rPr lang="en-US" sz="1300" dirty="0">
                <a:solidFill>
                  <a:srgbClr val="454240"/>
                </a:solidFill>
                <a:latin typeface="DM Sans" pitchFamily="34" charset="0"/>
                <a:ea typeface="DM Sans" pitchFamily="34" charset="-122"/>
                <a:cs typeface="DM Sans" pitchFamily="34" charset="-120"/>
              </a:rPr>
              <a:t>"Does Anthropic train on our client data?"</a:t>
            </a:r>
            <a:endParaRPr lang="en-US" sz="1300" dirty="0"/>
          </a:p>
          <a:p>
            <a:pPr marL="342900" indent="-342900" algn="l">
              <a:lnSpc>
                <a:spcPct val="133000"/>
              </a:lnSpc>
              <a:buSzPct val="100000"/>
              <a:buChar char="•"/>
            </a:pPr>
            <a:r>
              <a:rPr lang="en-US" sz="1300" dirty="0">
                <a:solidFill>
                  <a:srgbClr val="454240"/>
                </a:solidFill>
                <a:latin typeface="DM Sans" pitchFamily="34" charset="0"/>
                <a:ea typeface="DM Sans" pitchFamily="34" charset="-122"/>
                <a:cs typeface="DM Sans" pitchFamily="34" charset="-120"/>
              </a:rPr>
              <a:t>"How do we know the answers are any good?"</a:t>
            </a:r>
            <a:endParaRPr lang="en-US" sz="1300" dirty="0"/>
          </a:p>
        </p:txBody>
      </p:sp>
      <p:sp>
        <p:nvSpPr>
          <p:cNvPr id="6" name="Text 4"/>
          <p:cNvSpPr/>
          <p:nvPr/>
        </p:nvSpPr>
        <p:spPr>
          <a:xfrm>
            <a:off x="661574" y="5387578"/>
            <a:ext cx="10868547"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Same running example throughout the series — </a:t>
            </a:r>
            <a:r>
              <a:rPr lang="en-US" sz="1300" i="1" dirty="0">
                <a:solidFill>
                  <a:srgbClr val="454240"/>
                </a:solidFill>
                <a:latin typeface="DM Sans" pitchFamily="34" charset="0"/>
                <a:ea typeface="DM Sans" pitchFamily="34" charset="-122"/>
                <a:cs typeface="DM Sans" pitchFamily="34" charset="-120"/>
              </a:rPr>
              <a:t>"What is my portfolio's exposure to emerging-market equities?"</a:t>
            </a:r>
            <a:r>
              <a:rPr lang="en-US" sz="1300" dirty="0">
                <a:solidFill>
                  <a:srgbClr val="454240"/>
                </a:solidFill>
                <a:latin typeface="DM Sans" pitchFamily="34" charset="0"/>
                <a:ea typeface="DM Sans" pitchFamily="34" charset="-122"/>
                <a:cs typeface="DM Sans" pitchFamily="34" charset="-120"/>
              </a:rPr>
              <a:t> — but now we're looking at the system around it, not the mechanics inside it.</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661574" y="1043980"/>
            <a:ext cx="687966" cy="310952"/>
          </a:xfrm>
          <a:prstGeom prst="roundRect">
            <a:avLst>
              <a:gd name="adj" fmla="val 17871"/>
            </a:avLst>
          </a:prstGeom>
          <a:solidFill>
            <a:srgbClr val="F7EDD4"/>
          </a:solidFill>
          <a:ln/>
        </p:spPr>
      </p:sp>
      <p:sp>
        <p:nvSpPr>
          <p:cNvPr id="3" name="Text 1"/>
          <p:cNvSpPr/>
          <p:nvPr/>
        </p:nvSpPr>
        <p:spPr>
          <a:xfrm>
            <a:off x="760790" y="1093589"/>
            <a:ext cx="1099118" cy="211733"/>
          </a:xfrm>
          <a:prstGeom prst="rect">
            <a:avLst/>
          </a:prstGeom>
          <a:noFill/>
          <a:ln/>
        </p:spPr>
        <p:txBody>
          <a:bodyPr wrap="none" lIns="0" tIns="0" rIns="0" bIns="0" rtlCol="0" anchor="t"/>
          <a:lstStyle/>
          <a:p>
            <a:pPr marL="0" indent="0" algn="l">
              <a:lnSpc>
                <a:spcPct val="133000"/>
              </a:lnSpc>
              <a:buNone/>
            </a:pPr>
            <a:r>
              <a:rPr lang="en-US" sz="1000" dirty="0">
                <a:solidFill>
                  <a:srgbClr val="454240"/>
                </a:solidFill>
                <a:latin typeface="DM Sans" pitchFamily="34" charset="0"/>
                <a:ea typeface="DM Sans" pitchFamily="34" charset="-122"/>
                <a:cs typeface="DM Sans" pitchFamily="34" charset="-120"/>
              </a:rPr>
              <a:t>STEP 24</a:t>
            </a:r>
            <a:endParaRPr lang="en-US" sz="1000" dirty="0"/>
          </a:p>
        </p:txBody>
      </p:sp>
      <p:sp>
        <p:nvSpPr>
          <p:cNvPr id="4" name="Text 2"/>
          <p:cNvSpPr/>
          <p:nvPr/>
        </p:nvSpPr>
        <p:spPr>
          <a:xfrm>
            <a:off x="661574" y="1421011"/>
            <a:ext cx="10868547" cy="1033463"/>
          </a:xfrm>
          <a:prstGeom prst="rect">
            <a:avLst/>
          </a:prstGeom>
          <a:noFill/>
          <a:ln/>
        </p:spPr>
        <p:txBody>
          <a:bodyPr wrap="square" lIns="0" tIns="0" rIns="0" bIns="0" rtlCol="0" anchor="t">
            <a:normAutofit/>
          </a:bodyPr>
          <a:lstStyle/>
          <a:p>
            <a:pPr marL="0" indent="0" algn="l">
              <a:lnSpc>
                <a:spcPct val="104000"/>
              </a:lnSpc>
              <a:buNone/>
            </a:pPr>
            <a:r>
              <a:rPr lang="en-US" sz="3250" dirty="0">
                <a:solidFill>
                  <a:srgbClr val="5C4E3D"/>
                </a:solidFill>
                <a:latin typeface="Libre Baskerville" pitchFamily="34" charset="0"/>
                <a:ea typeface="Libre Baskerville" pitchFamily="34" charset="-122"/>
                <a:cs typeface="Libre Baskerville" pitchFamily="34" charset="-120"/>
              </a:rPr>
              <a:t>The Knowledge Cutoff: Why the Model Doesn't Know What Happened Yesterday</a:t>
            </a:r>
            <a:endParaRPr lang="en-US" sz="3250" dirty="0"/>
          </a:p>
        </p:txBody>
      </p:sp>
      <p:sp>
        <p:nvSpPr>
          <p:cNvPr id="5" name="Text 3"/>
          <p:cNvSpPr/>
          <p:nvPr/>
        </p:nvSpPr>
        <p:spPr>
          <a:xfrm>
            <a:off x="661574" y="2702520"/>
            <a:ext cx="10868547" cy="1430536"/>
          </a:xfrm>
          <a:prstGeom prst="rect">
            <a:avLst/>
          </a:prstGeom>
          <a:noFill/>
          <a:ln/>
        </p:spPr>
        <p:txBody>
          <a:bodyPr wrap="square" lIns="0" tIns="0" rIns="0" bIns="0" rtlCol="0" anchor="t"/>
          <a:lstStyle/>
          <a:p>
            <a:pPr marL="0" indent="0" algn="l">
              <a:lnSpc>
                <a:spcPct val="133000"/>
              </a:lnSpc>
              <a:spcAft>
                <a:spcPts val="1450"/>
              </a:spcAft>
              <a:buNone/>
            </a:pPr>
            <a:r>
              <a:rPr lang="en-US" sz="1300" dirty="0">
                <a:solidFill>
                  <a:srgbClr val="454240"/>
                </a:solidFill>
                <a:latin typeface="DM Sans" pitchFamily="34" charset="0"/>
                <a:ea typeface="DM Sans" pitchFamily="34" charset="-122"/>
                <a:cs typeface="DM Sans" pitchFamily="34" charset="-120"/>
              </a:rPr>
              <a:t>Before anything else, a foundational point that explains a whole category of model mistakes.</a:t>
            </a:r>
            <a:endParaRPr lang="en-US" sz="1300" dirty="0"/>
          </a:p>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Every LLM was trained on a fixed snapshot of text, finalised on a specific date. That date is called the </a:t>
            </a:r>
            <a:r>
              <a:rPr lang="en-US" sz="1300" b="1" dirty="0">
                <a:solidFill>
                  <a:srgbClr val="454240"/>
                </a:solidFill>
                <a:latin typeface="DM Sans" pitchFamily="34" charset="0"/>
                <a:ea typeface="DM Sans" pitchFamily="34" charset="-122"/>
                <a:cs typeface="DM Sans" pitchFamily="34" charset="-120"/>
              </a:rPr>
              <a:t>knowledge cutoff</a:t>
            </a:r>
            <a:r>
              <a:rPr lang="en-US" sz="1300" dirty="0">
                <a:solidFill>
                  <a:srgbClr val="454240"/>
                </a:solidFill>
                <a:latin typeface="DM Sans" pitchFamily="34" charset="0"/>
                <a:ea typeface="DM Sans" pitchFamily="34" charset="-122"/>
                <a:cs typeface="DM Sans" pitchFamily="34" charset="-120"/>
              </a:rPr>
              <a:t> — sometimes also called the </a:t>
            </a:r>
            <a:r>
              <a:rPr lang="en-US" sz="1300" i="1" dirty="0">
                <a:solidFill>
                  <a:srgbClr val="454240"/>
                </a:solidFill>
                <a:latin typeface="DM Sans" pitchFamily="34" charset="0"/>
                <a:ea typeface="DM Sans" pitchFamily="34" charset="-122"/>
                <a:cs typeface="DM Sans" pitchFamily="34" charset="-120"/>
              </a:rPr>
              <a:t>training cutoff</a:t>
            </a:r>
            <a:r>
              <a:rPr lang="en-US" sz="1300" dirty="0">
                <a:solidFill>
                  <a:srgbClr val="454240"/>
                </a:solidFill>
                <a:latin typeface="DM Sans" pitchFamily="34" charset="0"/>
                <a:ea typeface="DM Sans" pitchFamily="34" charset="-122"/>
                <a:cs typeface="DM Sans" pitchFamily="34" charset="-120"/>
              </a:rPr>
              <a:t>.</a:t>
            </a:r>
            <a:endParaRPr lang="en-US" sz="1300" dirty="0"/>
          </a:p>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If the model was trained on text up to January 2025, then for the model:</a:t>
            </a:r>
            <a:endParaRPr lang="en-US" sz="1300" dirty="0"/>
          </a:p>
        </p:txBody>
      </p:sp>
      <p:sp>
        <p:nvSpPr>
          <p:cNvPr id="6" name="Shape 4"/>
          <p:cNvSpPr/>
          <p:nvPr/>
        </p:nvSpPr>
        <p:spPr>
          <a:xfrm>
            <a:off x="661574" y="4319091"/>
            <a:ext cx="3512653" cy="1494830"/>
          </a:xfrm>
          <a:prstGeom prst="roundRect">
            <a:avLst>
              <a:gd name="adj" fmla="val 4647"/>
            </a:avLst>
          </a:prstGeom>
          <a:solidFill>
            <a:srgbClr val="F7EDD4"/>
          </a:solidFill>
          <a:ln w="6350">
            <a:solidFill>
              <a:srgbClr val="DDD3BA"/>
            </a:solidFill>
            <a:prstDash val="solid"/>
          </a:ln>
        </p:spPr>
      </p:sp>
      <p:sp>
        <p:nvSpPr>
          <p:cNvPr id="7" name="Text 5"/>
          <p:cNvSpPr/>
          <p:nvPr/>
        </p:nvSpPr>
        <p:spPr>
          <a:xfrm>
            <a:off x="833218" y="4490740"/>
            <a:ext cx="3169364" cy="516930"/>
          </a:xfrm>
          <a:prstGeom prst="rect">
            <a:avLst/>
          </a:prstGeom>
          <a:noFill/>
          <a:ln/>
        </p:spPr>
        <p:txBody>
          <a:bodyPr wrap="square" lIns="0" tIns="0" rIns="0" bIns="0" rtlCol="0" anchor="t">
            <a:normAutofit/>
          </a:bodyPr>
          <a:lstStyle/>
          <a:p>
            <a:pPr marL="0" indent="0" algn="l">
              <a:lnSpc>
                <a:spcPct val="104000"/>
              </a:lnSpc>
              <a:buNone/>
            </a:pPr>
            <a:r>
              <a:rPr lang="en-US" sz="1600" dirty="0">
                <a:solidFill>
                  <a:srgbClr val="454240"/>
                </a:solidFill>
                <a:latin typeface="Libre Baskerville" pitchFamily="34" charset="0"/>
                <a:ea typeface="Libre Baskerville" pitchFamily="34" charset="-122"/>
                <a:cs typeface="Libre Baskerville" pitchFamily="34" charset="-120"/>
              </a:rPr>
              <a:t>The world ends in January 2025</a:t>
            </a:r>
            <a:endParaRPr lang="en-US" sz="1600" dirty="0"/>
          </a:p>
        </p:txBody>
      </p:sp>
      <p:sp>
        <p:nvSpPr>
          <p:cNvPr id="8" name="Text 6"/>
          <p:cNvSpPr/>
          <p:nvPr/>
        </p:nvSpPr>
        <p:spPr>
          <a:xfrm>
            <a:off x="833218" y="5106888"/>
            <a:ext cx="3169364"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It has never heard of anything that happened after that date.</a:t>
            </a:r>
            <a:endParaRPr lang="en-US" sz="1300" dirty="0"/>
          </a:p>
        </p:txBody>
      </p:sp>
      <p:sp>
        <p:nvSpPr>
          <p:cNvPr id="9" name="Shape 7"/>
          <p:cNvSpPr/>
          <p:nvPr/>
        </p:nvSpPr>
        <p:spPr>
          <a:xfrm>
            <a:off x="4339521" y="4319091"/>
            <a:ext cx="3512653" cy="1494830"/>
          </a:xfrm>
          <a:prstGeom prst="roundRect">
            <a:avLst>
              <a:gd name="adj" fmla="val 4647"/>
            </a:avLst>
          </a:prstGeom>
          <a:solidFill>
            <a:srgbClr val="F7EDD4"/>
          </a:solidFill>
          <a:ln w="6350">
            <a:solidFill>
              <a:srgbClr val="DDD3BA"/>
            </a:solidFill>
            <a:prstDash val="solid"/>
          </a:ln>
        </p:spPr>
      </p:sp>
      <p:sp>
        <p:nvSpPr>
          <p:cNvPr id="10" name="Text 8"/>
          <p:cNvSpPr/>
          <p:nvPr/>
        </p:nvSpPr>
        <p:spPr>
          <a:xfrm>
            <a:off x="4511165" y="4490740"/>
            <a:ext cx="2520788" cy="258465"/>
          </a:xfrm>
          <a:prstGeom prst="rect">
            <a:avLst/>
          </a:prstGeom>
          <a:noFill/>
          <a:ln/>
        </p:spPr>
        <p:txBody>
          <a:bodyPr wrap="none" lIns="0" tIns="0" rIns="0" bIns="0" rtlCol="0" anchor="t"/>
          <a:lstStyle/>
          <a:p>
            <a:pPr marL="0" indent="0" algn="l">
              <a:lnSpc>
                <a:spcPct val="104000"/>
              </a:lnSpc>
              <a:buNone/>
            </a:pPr>
            <a:r>
              <a:rPr lang="en-US" sz="1600" dirty="0">
                <a:solidFill>
                  <a:srgbClr val="454240"/>
                </a:solidFill>
                <a:latin typeface="Libre Baskerville" pitchFamily="34" charset="0"/>
                <a:ea typeface="Libre Baskerville" pitchFamily="34" charset="-122"/>
                <a:cs typeface="Libre Baskerville" pitchFamily="34" charset="-120"/>
              </a:rPr>
              <a:t>No sense of today's date</a:t>
            </a:r>
            <a:endParaRPr lang="en-US" sz="1600" dirty="0"/>
          </a:p>
        </p:txBody>
      </p:sp>
      <p:sp>
        <p:nvSpPr>
          <p:cNvPr id="11" name="Text 9"/>
          <p:cNvSpPr/>
          <p:nvPr/>
        </p:nvSpPr>
        <p:spPr>
          <a:xfrm>
            <a:off x="4511165" y="4848423"/>
            <a:ext cx="3169364"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It doesn't know today's date unless someone explicitly tells it.</a:t>
            </a:r>
            <a:endParaRPr lang="en-US" sz="1300" dirty="0"/>
          </a:p>
        </p:txBody>
      </p:sp>
      <p:sp>
        <p:nvSpPr>
          <p:cNvPr id="12" name="Shape 10"/>
          <p:cNvSpPr/>
          <p:nvPr/>
        </p:nvSpPr>
        <p:spPr>
          <a:xfrm>
            <a:off x="8017468" y="4319091"/>
            <a:ext cx="3512653" cy="1494830"/>
          </a:xfrm>
          <a:prstGeom prst="roundRect">
            <a:avLst>
              <a:gd name="adj" fmla="val 4647"/>
            </a:avLst>
          </a:prstGeom>
          <a:solidFill>
            <a:srgbClr val="F7EDD4"/>
          </a:solidFill>
          <a:ln w="6350">
            <a:solidFill>
              <a:srgbClr val="DDD3BA"/>
            </a:solidFill>
            <a:prstDash val="solid"/>
          </a:ln>
        </p:spPr>
      </p:sp>
      <p:sp>
        <p:nvSpPr>
          <p:cNvPr id="13" name="Text 11"/>
          <p:cNvSpPr/>
          <p:nvPr/>
        </p:nvSpPr>
        <p:spPr>
          <a:xfrm>
            <a:off x="8189112" y="4490740"/>
            <a:ext cx="2419091" cy="258465"/>
          </a:xfrm>
          <a:prstGeom prst="rect">
            <a:avLst/>
          </a:prstGeom>
          <a:noFill/>
          <a:ln/>
        </p:spPr>
        <p:txBody>
          <a:bodyPr wrap="none" lIns="0" tIns="0" rIns="0" bIns="0" rtlCol="0" anchor="t"/>
          <a:lstStyle/>
          <a:p>
            <a:pPr marL="0" indent="0" algn="l">
              <a:lnSpc>
                <a:spcPct val="104000"/>
              </a:lnSpc>
              <a:buNone/>
            </a:pPr>
            <a:r>
              <a:rPr lang="en-US" sz="1600" dirty="0">
                <a:solidFill>
                  <a:srgbClr val="454240"/>
                </a:solidFill>
                <a:latin typeface="Libre Baskerville" pitchFamily="34" charset="0"/>
                <a:ea typeface="Libre Baskerville" pitchFamily="34" charset="-122"/>
                <a:cs typeface="Libre Baskerville" pitchFamily="34" charset="-120"/>
              </a:rPr>
              <a:t>Stale on current events</a:t>
            </a:r>
            <a:endParaRPr lang="en-US" sz="1600" dirty="0"/>
          </a:p>
        </p:txBody>
      </p:sp>
      <p:sp>
        <p:nvSpPr>
          <p:cNvPr id="14" name="Text 12"/>
          <p:cNvSpPr/>
          <p:nvPr/>
        </p:nvSpPr>
        <p:spPr>
          <a:xfrm>
            <a:off x="8189112" y="4848423"/>
            <a:ext cx="3169364" cy="793849"/>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No latest election results, last quarter's earnings, current Fed rate, or yesterday's market close.</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574" y="1556246"/>
            <a:ext cx="9364527" cy="516731"/>
          </a:xfrm>
          <a:prstGeom prst="rect">
            <a:avLst/>
          </a:prstGeom>
          <a:noFill/>
          <a:ln/>
        </p:spPr>
        <p:txBody>
          <a:bodyPr wrap="none" lIns="0" tIns="0" rIns="0" bIns="0" rtlCol="0" anchor="t"/>
          <a:lstStyle/>
          <a:p>
            <a:pPr marL="0" indent="0" algn="l">
              <a:lnSpc>
                <a:spcPct val="104000"/>
              </a:lnSpc>
              <a:buNone/>
            </a:pPr>
            <a:r>
              <a:rPr lang="en-US" sz="3250" dirty="0">
                <a:solidFill>
                  <a:srgbClr val="5C4E3D"/>
                </a:solidFill>
                <a:latin typeface="Libre Baskerville" pitchFamily="34" charset="0"/>
                <a:ea typeface="Libre Baskerville" pitchFamily="34" charset="-122"/>
                <a:cs typeface="Libre Baskerville" pitchFamily="34" charset="-120"/>
              </a:rPr>
              <a:t>Why the Cutoff Matters for Our Example</a:t>
            </a:r>
            <a:endParaRPr lang="en-US" sz="3250" dirty="0"/>
          </a:p>
        </p:txBody>
      </p:sp>
      <p:sp>
        <p:nvSpPr>
          <p:cNvPr id="3" name="Shape 1"/>
          <p:cNvSpPr/>
          <p:nvPr/>
        </p:nvSpPr>
        <p:spPr>
          <a:xfrm>
            <a:off x="661574" y="2403673"/>
            <a:ext cx="10868547" cy="909439"/>
          </a:xfrm>
          <a:prstGeom prst="roundRect">
            <a:avLst>
              <a:gd name="adj" fmla="val 7638"/>
            </a:avLst>
          </a:prstGeom>
          <a:solidFill>
            <a:srgbClr val="FCF2B5"/>
          </a:solidFill>
          <a:ln/>
        </p:spPr>
      </p:sp>
      <p:pic>
        <p:nvPicPr>
          <p:cNvPr id="4" name="Image 0" descr="preencoded.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26868" y="2643386"/>
            <a:ext cx="206667" cy="165298"/>
          </a:xfrm>
          <a:prstGeom prst="rect">
            <a:avLst/>
          </a:prstGeom>
        </p:spPr>
      </p:pic>
      <p:sp>
        <p:nvSpPr>
          <p:cNvPr id="5" name="Text 2"/>
          <p:cNvSpPr/>
          <p:nvPr/>
        </p:nvSpPr>
        <p:spPr>
          <a:xfrm>
            <a:off x="1198830" y="2593777"/>
            <a:ext cx="10165996"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000000"/>
                </a:solidFill>
                <a:latin typeface="DM Sans" pitchFamily="34" charset="0"/>
                <a:ea typeface="DM Sans" pitchFamily="34" charset="-122"/>
                <a:cs typeface="DM Sans" pitchFamily="34" charset="-120"/>
              </a:rPr>
              <a:t>If you ask the model </a:t>
            </a:r>
            <a:r>
              <a:rPr lang="en-US" sz="1300" i="1" dirty="0">
                <a:solidFill>
                  <a:srgbClr val="000000"/>
                </a:solidFill>
                <a:latin typeface="DM Sans" pitchFamily="34" charset="0"/>
                <a:ea typeface="DM Sans" pitchFamily="34" charset="-122"/>
                <a:cs typeface="DM Sans" pitchFamily="34" charset="-120"/>
              </a:rPr>
              <a:t>"What's been driving EM equities recently?"</a:t>
            </a:r>
            <a:r>
              <a:rPr lang="en-US" sz="1300" dirty="0">
                <a:solidFill>
                  <a:srgbClr val="000000"/>
                </a:solidFill>
                <a:latin typeface="DM Sans" pitchFamily="34" charset="0"/>
                <a:ea typeface="DM Sans" pitchFamily="34" charset="-122"/>
                <a:cs typeface="DM Sans" pitchFamily="34" charset="-120"/>
              </a:rPr>
              <a:t> and the cutoff was 14 months ago, the model will confidently answer with what was happening 14 months ago — phrased as if it were current. The words will sound right. The facts will be stale.</a:t>
            </a:r>
            <a:endParaRPr lang="en-US" sz="1300" dirty="0"/>
          </a:p>
        </p:txBody>
      </p:sp>
      <p:sp>
        <p:nvSpPr>
          <p:cNvPr id="6" name="Text 3"/>
          <p:cNvSpPr/>
          <p:nvPr/>
        </p:nvSpPr>
        <p:spPr>
          <a:xfrm>
            <a:off x="661574" y="3499148"/>
            <a:ext cx="10868547"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This is the single most common source of "the model is wrong" moments. And it's </a:t>
            </a:r>
            <a:r>
              <a:rPr lang="en-US" sz="1300" b="1" dirty="0">
                <a:solidFill>
                  <a:srgbClr val="454240"/>
                </a:solidFill>
                <a:latin typeface="DM Sans" pitchFamily="34" charset="0"/>
                <a:ea typeface="DM Sans" pitchFamily="34" charset="-122"/>
                <a:cs typeface="DM Sans" pitchFamily="34" charset="-120"/>
              </a:rPr>
              <a:t>why</a:t>
            </a:r>
            <a:r>
              <a:rPr lang="en-US" sz="1300" dirty="0">
                <a:solidFill>
                  <a:srgbClr val="454240"/>
                </a:solidFill>
                <a:latin typeface="DM Sans" pitchFamily="34" charset="0"/>
                <a:ea typeface="DM Sans" pitchFamily="34" charset="-122"/>
                <a:cs typeface="DM Sans" pitchFamily="34" charset="-120"/>
              </a:rPr>
              <a:t> the techniques from Part 3 — tool use, RAG, web search — are not optional luxuries. They are the only way to get the model out of its frozen world and into the present.</a:t>
            </a:r>
            <a:endParaRPr lang="en-US" sz="1300" dirty="0"/>
          </a:p>
        </p:txBody>
      </p:sp>
      <p:sp>
        <p:nvSpPr>
          <p:cNvPr id="7" name="Text 4"/>
          <p:cNvSpPr/>
          <p:nvPr/>
        </p:nvSpPr>
        <p:spPr>
          <a:xfrm>
            <a:off x="909615" y="4400451"/>
            <a:ext cx="10620506" cy="529233"/>
          </a:xfrm>
          <a:prstGeom prst="rect">
            <a:avLst/>
          </a:prstGeom>
          <a:noFill/>
          <a:ln/>
        </p:spPr>
        <p:txBody>
          <a:bodyPr wrap="square" lIns="0" tIns="0" rIns="0" bIns="0" rtlCol="0" anchor="t">
            <a:normAutofit/>
          </a:bodyPr>
          <a:lstStyle/>
          <a:p>
            <a:pPr marL="0" indent="0" algn="l">
              <a:lnSpc>
                <a:spcPct val="133000"/>
              </a:lnSpc>
              <a:buNone/>
            </a:pPr>
            <a:r>
              <a:rPr lang="en-US" sz="1300" b="1" dirty="0">
                <a:solidFill>
                  <a:srgbClr val="454240"/>
                </a:solidFill>
                <a:latin typeface="DM Sans" pitchFamily="34" charset="0"/>
                <a:ea typeface="DM Sans" pitchFamily="34" charset="-122"/>
                <a:cs typeface="DM Sans" pitchFamily="34" charset="-120"/>
              </a:rPr>
              <a:t>Callback to Part 1, Slide 6:</a:t>
            </a:r>
            <a:r>
              <a:rPr lang="en-US" sz="1300" dirty="0">
                <a:solidFill>
                  <a:srgbClr val="454240"/>
                </a:solidFill>
                <a:latin typeface="DM Sans" pitchFamily="34" charset="0"/>
                <a:ea typeface="DM Sans" pitchFamily="34" charset="-122"/>
                <a:cs typeface="DM Sans" pitchFamily="34" charset="-120"/>
              </a:rPr>
              <a:t> </a:t>
            </a:r>
            <a:r>
              <a:rPr lang="en-US" sz="1300" i="1" dirty="0">
                <a:solidFill>
                  <a:srgbClr val="454240"/>
                </a:solidFill>
                <a:latin typeface="DM Sans" pitchFamily="34" charset="0"/>
                <a:ea typeface="DM Sans" pitchFamily="34" charset="-122"/>
                <a:cs typeface="DM Sans" pitchFamily="34" charset="-120"/>
              </a:rPr>
              <a:t>"Why does it sometimes give a wrong answer with complete confidence?"</a:t>
            </a:r>
            <a:r>
              <a:rPr lang="en-US" sz="1300" dirty="0">
                <a:solidFill>
                  <a:srgbClr val="454240"/>
                </a:solidFill>
                <a:latin typeface="DM Sans" pitchFamily="34" charset="0"/>
                <a:ea typeface="DM Sans" pitchFamily="34" charset="-122"/>
                <a:cs typeface="DM Sans" pitchFamily="34" charset="-120"/>
              </a:rPr>
              <a:t> The cutoff is half the answer. The model isn't lying — it just doesn't know its information is out of date, because to it, that information is the latest there is.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661574" y="972344"/>
            <a:ext cx="690644" cy="310952"/>
          </a:xfrm>
          <a:prstGeom prst="roundRect">
            <a:avLst>
              <a:gd name="adj" fmla="val 17871"/>
            </a:avLst>
          </a:prstGeom>
          <a:solidFill>
            <a:srgbClr val="F7EDD4"/>
          </a:solidFill>
          <a:ln/>
        </p:spPr>
      </p:sp>
      <p:sp>
        <p:nvSpPr>
          <p:cNvPr id="3" name="Text 1"/>
          <p:cNvSpPr/>
          <p:nvPr/>
        </p:nvSpPr>
        <p:spPr>
          <a:xfrm>
            <a:off x="760790" y="1021953"/>
            <a:ext cx="1101797" cy="211733"/>
          </a:xfrm>
          <a:prstGeom prst="rect">
            <a:avLst/>
          </a:prstGeom>
          <a:noFill/>
          <a:ln/>
        </p:spPr>
        <p:txBody>
          <a:bodyPr wrap="none" lIns="0" tIns="0" rIns="0" bIns="0" rtlCol="0" anchor="t"/>
          <a:lstStyle/>
          <a:p>
            <a:pPr marL="0" indent="0" algn="l">
              <a:lnSpc>
                <a:spcPct val="133000"/>
              </a:lnSpc>
              <a:buNone/>
            </a:pPr>
            <a:r>
              <a:rPr lang="en-US" sz="1000" dirty="0">
                <a:solidFill>
                  <a:srgbClr val="454240"/>
                </a:solidFill>
                <a:latin typeface="DM Sans" pitchFamily="34" charset="0"/>
                <a:ea typeface="DM Sans" pitchFamily="34" charset="-122"/>
                <a:cs typeface="DM Sans" pitchFamily="34" charset="-120"/>
              </a:rPr>
              <a:t>STEP 25</a:t>
            </a:r>
            <a:endParaRPr lang="en-US" sz="1000" dirty="0"/>
          </a:p>
        </p:txBody>
      </p:sp>
      <p:sp>
        <p:nvSpPr>
          <p:cNvPr id="4" name="Text 2"/>
          <p:cNvSpPr/>
          <p:nvPr/>
        </p:nvSpPr>
        <p:spPr>
          <a:xfrm>
            <a:off x="661574" y="1349375"/>
            <a:ext cx="9273546" cy="516731"/>
          </a:xfrm>
          <a:prstGeom prst="rect">
            <a:avLst/>
          </a:prstGeom>
          <a:noFill/>
          <a:ln/>
        </p:spPr>
        <p:txBody>
          <a:bodyPr wrap="none" lIns="0" tIns="0" rIns="0" bIns="0" rtlCol="0" anchor="t"/>
          <a:lstStyle/>
          <a:p>
            <a:pPr marL="0" indent="0" algn="l">
              <a:lnSpc>
                <a:spcPct val="104000"/>
              </a:lnSpc>
              <a:buNone/>
            </a:pPr>
            <a:r>
              <a:rPr lang="en-US" sz="3250" dirty="0">
                <a:solidFill>
                  <a:srgbClr val="5C4E3D"/>
                </a:solidFill>
                <a:latin typeface="Libre Baskerville" pitchFamily="34" charset="0"/>
                <a:ea typeface="Libre Baskerville" pitchFamily="34" charset="-122"/>
                <a:cs typeface="Libre Baskerville" pitchFamily="34" charset="-120"/>
              </a:rPr>
              <a:t>Reasoning Models: The "Thinking" Mode</a:t>
            </a:r>
            <a:endParaRPr lang="en-US" sz="3250" dirty="0"/>
          </a:p>
        </p:txBody>
      </p:sp>
      <p:sp>
        <p:nvSpPr>
          <p:cNvPr id="5" name="Text 3"/>
          <p:cNvSpPr/>
          <p:nvPr/>
        </p:nvSpPr>
        <p:spPr>
          <a:xfrm>
            <a:off x="661574" y="1932186"/>
            <a:ext cx="4665447" cy="258465"/>
          </a:xfrm>
          <a:prstGeom prst="rect">
            <a:avLst/>
          </a:prstGeom>
          <a:noFill/>
          <a:ln/>
        </p:spPr>
        <p:txBody>
          <a:bodyPr wrap="none" lIns="0" tIns="0" rIns="0" bIns="0" rtlCol="0" anchor="t"/>
          <a:lstStyle/>
          <a:p>
            <a:pPr marL="0" indent="0" algn="l">
              <a:lnSpc>
                <a:spcPct val="104000"/>
              </a:lnSpc>
              <a:buNone/>
            </a:pPr>
            <a:r>
              <a:rPr lang="en-US" sz="1600" dirty="0">
                <a:solidFill>
                  <a:srgbClr val="5C4E3D"/>
                </a:solidFill>
                <a:latin typeface="Libre Baskerville" pitchFamily="34" charset="0"/>
                <a:ea typeface="Libre Baskerville" pitchFamily="34" charset="-122"/>
                <a:cs typeface="Libre Baskerville" pitchFamily="34" charset="-120"/>
              </a:rPr>
              <a:t>A shift in how the newest models work</a:t>
            </a:r>
            <a:endParaRPr lang="en-US" sz="1600" dirty="0"/>
          </a:p>
        </p:txBody>
      </p:sp>
      <p:sp>
        <p:nvSpPr>
          <p:cNvPr id="6" name="Text 4"/>
          <p:cNvSpPr/>
          <p:nvPr/>
        </p:nvSpPr>
        <p:spPr>
          <a:xfrm>
            <a:off x="661574" y="2438698"/>
            <a:ext cx="10868547" cy="1244501"/>
          </a:xfrm>
          <a:prstGeom prst="rect">
            <a:avLst/>
          </a:prstGeom>
          <a:noFill/>
          <a:ln/>
        </p:spPr>
        <p:txBody>
          <a:bodyPr wrap="square" lIns="0" tIns="0" rIns="0" bIns="0" rtlCol="0" anchor="t">
            <a:normAutofit/>
          </a:bodyPr>
          <a:lstStyle/>
          <a:p>
            <a:pPr marL="0" indent="0" algn="l">
              <a:lnSpc>
                <a:spcPct val="133000"/>
              </a:lnSpc>
              <a:spcAft>
                <a:spcPts val="1450"/>
              </a:spcAft>
              <a:buNone/>
            </a:pPr>
            <a:r>
              <a:rPr lang="en-US" sz="1300" dirty="0">
                <a:solidFill>
                  <a:srgbClr val="454240"/>
                </a:solidFill>
                <a:latin typeface="DM Sans" pitchFamily="34" charset="0"/>
                <a:ea typeface="DM Sans" pitchFamily="34" charset="-122"/>
                <a:cs typeface="DM Sans" pitchFamily="34" charset="-120"/>
              </a:rPr>
              <a:t>The picture from Part 2 was straightforward: the model predicts one word, you see it streamed, repeat. That picture is accurate for most LLMs you've used.</a:t>
            </a:r>
            <a:endParaRPr lang="en-US" sz="1300" dirty="0"/>
          </a:p>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But starting in late 2024, a new category appeared: </a:t>
            </a:r>
            <a:r>
              <a:rPr lang="en-US" sz="1300" b="1" dirty="0">
                <a:solidFill>
                  <a:srgbClr val="454240"/>
                </a:solidFill>
                <a:latin typeface="DM Sans" pitchFamily="34" charset="0"/>
                <a:ea typeface="DM Sans" pitchFamily="34" charset="-122"/>
                <a:cs typeface="DM Sans" pitchFamily="34" charset="-120"/>
              </a:rPr>
              <a:t>reasoning models</a:t>
            </a:r>
            <a:r>
              <a:rPr lang="en-US" sz="1300" dirty="0">
                <a:solidFill>
                  <a:srgbClr val="454240"/>
                </a:solidFill>
                <a:latin typeface="DM Sans" pitchFamily="34" charset="0"/>
                <a:ea typeface="DM Sans" pitchFamily="34" charset="-122"/>
                <a:cs typeface="DM Sans" pitchFamily="34" charset="-120"/>
              </a:rPr>
              <a:t>. OpenAI's o1 and o3, Anthropic's Claude with </a:t>
            </a:r>
            <a:r>
              <a:rPr lang="en-US" sz="1300" b="1" dirty="0">
                <a:solidFill>
                  <a:srgbClr val="454240"/>
                </a:solidFill>
                <a:latin typeface="DM Sans" pitchFamily="34" charset="0"/>
                <a:ea typeface="DM Sans" pitchFamily="34" charset="-122"/>
                <a:cs typeface="DM Sans" pitchFamily="34" charset="-120"/>
              </a:rPr>
              <a:t>extended thinking</a:t>
            </a:r>
            <a:r>
              <a:rPr lang="en-US" sz="1300" dirty="0">
                <a:solidFill>
                  <a:srgbClr val="454240"/>
                </a:solidFill>
                <a:latin typeface="DM Sans" pitchFamily="34" charset="0"/>
                <a:ea typeface="DM Sans" pitchFamily="34" charset="-122"/>
                <a:cs typeface="DM Sans" pitchFamily="34" charset="-120"/>
              </a:rPr>
              <a:t>, DeepSeek's R1, Google's Gemini with </a:t>
            </a:r>
            <a:r>
              <a:rPr lang="en-US" sz="1300" b="1" dirty="0">
                <a:solidFill>
                  <a:srgbClr val="454240"/>
                </a:solidFill>
                <a:latin typeface="DM Sans" pitchFamily="34" charset="0"/>
                <a:ea typeface="DM Sans" pitchFamily="34" charset="-122"/>
                <a:cs typeface="DM Sans" pitchFamily="34" charset="-120"/>
              </a:rPr>
              <a:t>deep think</a:t>
            </a:r>
            <a:r>
              <a:rPr lang="en-US" sz="1300" dirty="0">
                <a:solidFill>
                  <a:srgbClr val="454240"/>
                </a:solidFill>
                <a:latin typeface="DM Sans" pitchFamily="34" charset="0"/>
                <a:ea typeface="DM Sans" pitchFamily="34" charset="-122"/>
                <a:cs typeface="DM Sans" pitchFamily="34" charset="-120"/>
              </a:rPr>
              <a:t>. These models work differently in one important way.</a:t>
            </a:r>
            <a:endParaRPr lang="en-US" sz="1300" dirty="0"/>
          </a:p>
        </p:txBody>
      </p:sp>
      <p:pic>
        <p:nvPicPr>
          <p:cNvPr id="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574" y="3869234"/>
            <a:ext cx="5351626" cy="2016323"/>
          </a:xfrm>
          <a:prstGeom prst="rect">
            <a:avLst/>
          </a:prstGeom>
        </p:spPr>
      </p:pic>
      <p:sp>
        <p:nvSpPr>
          <p:cNvPr id="8" name="Text 5"/>
          <p:cNvSpPr/>
          <p:nvPr/>
        </p:nvSpPr>
        <p:spPr>
          <a:xfrm>
            <a:off x="3213317" y="3978077"/>
            <a:ext cx="248041" cy="310059"/>
          </a:xfrm>
          <a:prstGeom prst="rect">
            <a:avLst/>
          </a:prstGeom>
          <a:noFill/>
          <a:ln/>
        </p:spPr>
        <p:txBody>
          <a:bodyPr wrap="none" lIns="0" tIns="0" rIns="0" bIns="0" rtlCol="0" anchor="ctr"/>
          <a:lstStyle/>
          <a:p>
            <a:pPr marL="0" indent="0" algn="ctr">
              <a:lnSpc>
                <a:spcPct val="100000"/>
              </a:lnSpc>
              <a:buNone/>
            </a:pPr>
            <a:r>
              <a:rPr lang="en-US" sz="1950" dirty="0">
                <a:solidFill>
                  <a:srgbClr val="454240"/>
                </a:solidFill>
                <a:latin typeface="Libre Baskerville" pitchFamily="34" charset="0"/>
                <a:ea typeface="Libre Baskerville" pitchFamily="34" charset="-122"/>
                <a:cs typeface="Libre Baskerville" pitchFamily="34" charset="-120"/>
              </a:rPr>
              <a:t>1</a:t>
            </a:r>
            <a:endParaRPr lang="en-US" sz="1950" dirty="0"/>
          </a:p>
        </p:txBody>
      </p:sp>
      <p:sp>
        <p:nvSpPr>
          <p:cNvPr id="9" name="Text 6"/>
          <p:cNvSpPr/>
          <p:nvPr/>
        </p:nvSpPr>
        <p:spPr>
          <a:xfrm>
            <a:off x="845918" y="4549676"/>
            <a:ext cx="2067369" cy="258465"/>
          </a:xfrm>
          <a:prstGeom prst="rect">
            <a:avLst/>
          </a:prstGeom>
          <a:noFill/>
          <a:ln/>
        </p:spPr>
        <p:txBody>
          <a:bodyPr wrap="none" lIns="0" tIns="0" rIns="0" bIns="0" rtlCol="0" anchor="t"/>
          <a:lstStyle/>
          <a:p>
            <a:pPr marL="0" indent="0" algn="l">
              <a:lnSpc>
                <a:spcPct val="104000"/>
              </a:lnSpc>
              <a:buNone/>
            </a:pPr>
            <a:r>
              <a:rPr lang="en-US" sz="1600" dirty="0">
                <a:solidFill>
                  <a:srgbClr val="454240"/>
                </a:solidFill>
                <a:latin typeface="Libre Baskerville" pitchFamily="34" charset="0"/>
                <a:ea typeface="Libre Baskerville" pitchFamily="34" charset="-122"/>
                <a:cs typeface="Libre Baskerville" pitchFamily="34" charset="-120"/>
              </a:rPr>
              <a:t>Standard Models</a:t>
            </a:r>
            <a:endParaRPr lang="en-US" sz="1600" dirty="0"/>
          </a:p>
        </p:txBody>
      </p:sp>
      <p:sp>
        <p:nvSpPr>
          <p:cNvPr id="10" name="Text 7"/>
          <p:cNvSpPr/>
          <p:nvPr/>
        </p:nvSpPr>
        <p:spPr>
          <a:xfrm>
            <a:off x="845918" y="4907359"/>
            <a:ext cx="4982939"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Predict one token at a time, stream directly to the user. Fast, transparent, and suitable for most everyday tasks.</a:t>
            </a:r>
            <a:endParaRPr lang="en-US" sz="1300" dirty="0"/>
          </a:p>
        </p:txBody>
      </p:sp>
      <p:pic>
        <p:nvPicPr>
          <p:cNvPr id="11"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178495" y="3869234"/>
            <a:ext cx="5351626" cy="2016323"/>
          </a:xfrm>
          <a:prstGeom prst="rect">
            <a:avLst/>
          </a:prstGeom>
        </p:spPr>
      </p:pic>
      <p:sp>
        <p:nvSpPr>
          <p:cNvPr id="12" name="Text 8"/>
          <p:cNvSpPr/>
          <p:nvPr/>
        </p:nvSpPr>
        <p:spPr>
          <a:xfrm>
            <a:off x="8730238" y="3978077"/>
            <a:ext cx="248041" cy="310059"/>
          </a:xfrm>
          <a:prstGeom prst="rect">
            <a:avLst/>
          </a:prstGeom>
          <a:noFill/>
          <a:ln/>
        </p:spPr>
        <p:txBody>
          <a:bodyPr wrap="none" lIns="0" tIns="0" rIns="0" bIns="0" rtlCol="0" anchor="ctr"/>
          <a:lstStyle/>
          <a:p>
            <a:pPr marL="0" indent="0" algn="ctr">
              <a:lnSpc>
                <a:spcPct val="100000"/>
              </a:lnSpc>
              <a:buNone/>
            </a:pPr>
            <a:r>
              <a:rPr lang="en-US" sz="1950" dirty="0">
                <a:solidFill>
                  <a:srgbClr val="454240"/>
                </a:solidFill>
                <a:latin typeface="Libre Baskerville" pitchFamily="34" charset="0"/>
                <a:ea typeface="Libre Baskerville" pitchFamily="34" charset="-122"/>
                <a:cs typeface="Libre Baskerville" pitchFamily="34" charset="-120"/>
              </a:rPr>
              <a:t>2</a:t>
            </a:r>
            <a:endParaRPr lang="en-US" sz="1950" dirty="0"/>
          </a:p>
        </p:txBody>
      </p:sp>
      <p:sp>
        <p:nvSpPr>
          <p:cNvPr id="13" name="Text 9"/>
          <p:cNvSpPr/>
          <p:nvPr/>
        </p:nvSpPr>
        <p:spPr>
          <a:xfrm>
            <a:off x="6362838" y="4549676"/>
            <a:ext cx="2067369" cy="258465"/>
          </a:xfrm>
          <a:prstGeom prst="rect">
            <a:avLst/>
          </a:prstGeom>
          <a:noFill/>
          <a:ln/>
        </p:spPr>
        <p:txBody>
          <a:bodyPr wrap="none" lIns="0" tIns="0" rIns="0" bIns="0" rtlCol="0" anchor="t"/>
          <a:lstStyle/>
          <a:p>
            <a:pPr marL="0" indent="0" algn="l">
              <a:lnSpc>
                <a:spcPct val="104000"/>
              </a:lnSpc>
              <a:buNone/>
            </a:pPr>
            <a:r>
              <a:rPr lang="en-US" sz="1600" dirty="0">
                <a:solidFill>
                  <a:srgbClr val="454240"/>
                </a:solidFill>
                <a:latin typeface="Libre Baskerville" pitchFamily="34" charset="0"/>
                <a:ea typeface="Libre Baskerville" pitchFamily="34" charset="-122"/>
                <a:cs typeface="Libre Baskerville" pitchFamily="34" charset="-120"/>
              </a:rPr>
              <a:t>Reasoning Models</a:t>
            </a:r>
            <a:endParaRPr lang="en-US" sz="1600" dirty="0"/>
          </a:p>
        </p:txBody>
      </p:sp>
      <p:sp>
        <p:nvSpPr>
          <p:cNvPr id="14" name="Text 10"/>
          <p:cNvSpPr/>
          <p:nvPr/>
        </p:nvSpPr>
        <p:spPr>
          <a:xfrm>
            <a:off x="6362838" y="4907359"/>
            <a:ext cx="4982939" cy="793849"/>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Generate a long stream of </a:t>
            </a:r>
            <a:r>
              <a:rPr lang="en-US" sz="1300" b="1" dirty="0">
                <a:solidFill>
                  <a:srgbClr val="454240"/>
                </a:solidFill>
                <a:latin typeface="DM Sans" pitchFamily="34" charset="0"/>
                <a:ea typeface="DM Sans" pitchFamily="34" charset="-122"/>
                <a:cs typeface="DM Sans" pitchFamily="34" charset="-120"/>
              </a:rPr>
              <a:t>hidden tokens</a:t>
            </a:r>
            <a:r>
              <a:rPr lang="en-US" sz="1300" dirty="0">
                <a:solidFill>
                  <a:srgbClr val="454240"/>
                </a:solidFill>
                <a:latin typeface="DM Sans" pitchFamily="34" charset="0"/>
                <a:ea typeface="DM Sans" pitchFamily="34" charset="-122"/>
                <a:cs typeface="DM Sans" pitchFamily="34" charset="-120"/>
              </a:rPr>
              <a:t> — internal "thinking" — before producing the visible answer. Slower but dramatically more capable on hard problems.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1340809" y="423763"/>
            <a:ext cx="7365121" cy="452239"/>
          </a:xfrm>
          <a:prstGeom prst="rect">
            <a:avLst/>
          </a:prstGeom>
          <a:noFill/>
          <a:ln/>
        </p:spPr>
        <p:txBody>
          <a:bodyPr wrap="none" lIns="0" tIns="0" rIns="0" bIns="0" rtlCol="0" anchor="t"/>
          <a:lstStyle/>
          <a:p>
            <a:pPr marL="0" indent="0" algn="l">
              <a:lnSpc>
                <a:spcPct val="104000"/>
              </a:lnSpc>
              <a:buNone/>
            </a:pPr>
            <a:r>
              <a:rPr lang="en-US" sz="2800" dirty="0">
                <a:solidFill>
                  <a:srgbClr val="5C4E3D"/>
                </a:solidFill>
                <a:latin typeface="Libre Baskerville" pitchFamily="34" charset="0"/>
                <a:ea typeface="Libre Baskerville" pitchFamily="34" charset="-122"/>
                <a:cs typeface="Libre Baskerville" pitchFamily="34" charset="-120"/>
              </a:rPr>
              <a:t>What Reasoning Models Actually Do</a:t>
            </a:r>
            <a:endParaRPr lang="en-US" sz="2800" dirty="0"/>
          </a:p>
        </p:txBody>
      </p:sp>
      <p:sp>
        <p:nvSpPr>
          <p:cNvPr id="3" name="Text 1"/>
          <p:cNvSpPr/>
          <p:nvPr/>
        </p:nvSpPr>
        <p:spPr>
          <a:xfrm>
            <a:off x="1340809" y="1129209"/>
            <a:ext cx="9509978" cy="434181"/>
          </a:xfrm>
          <a:prstGeom prst="rect">
            <a:avLst/>
          </a:prstGeom>
          <a:noFill/>
          <a:ln/>
        </p:spPr>
        <p:txBody>
          <a:bodyPr wrap="square" lIns="0" tIns="0" rIns="0" bIns="0" rtlCol="0" anchor="t">
            <a:normAutofit/>
          </a:bodyPr>
          <a:lstStyle/>
          <a:p>
            <a:pPr marL="0" indent="0" algn="l">
              <a:lnSpc>
                <a:spcPct val="125000"/>
              </a:lnSpc>
              <a:buNone/>
            </a:pPr>
            <a:r>
              <a:rPr lang="en-US" sz="1100" dirty="0">
                <a:solidFill>
                  <a:srgbClr val="454240"/>
                </a:solidFill>
                <a:latin typeface="DM Sans" pitchFamily="34" charset="0"/>
                <a:ea typeface="DM Sans" pitchFamily="34" charset="-122"/>
                <a:cs typeface="DM Sans" pitchFamily="34" charset="-120"/>
              </a:rPr>
              <a:t>Before producing the answer the user sees, a reasoning model generates a long stream of </a:t>
            </a:r>
            <a:r>
              <a:rPr lang="en-US" sz="1100" b="1" dirty="0">
                <a:solidFill>
                  <a:srgbClr val="454240"/>
                </a:solidFill>
                <a:latin typeface="DM Sans" pitchFamily="34" charset="0"/>
                <a:ea typeface="DM Sans" pitchFamily="34" charset="-122"/>
                <a:cs typeface="DM Sans" pitchFamily="34" charset="-120"/>
              </a:rPr>
              <a:t>hidden tokens</a:t>
            </a:r>
            <a:r>
              <a:rPr lang="en-US" sz="1100" dirty="0">
                <a:solidFill>
                  <a:srgbClr val="454240"/>
                </a:solidFill>
                <a:latin typeface="DM Sans" pitchFamily="34" charset="0"/>
                <a:ea typeface="DM Sans" pitchFamily="34" charset="-122"/>
                <a:cs typeface="DM Sans" pitchFamily="34" charset="-120"/>
              </a:rPr>
              <a:t> — its own internal "thinking" — that the user never gets shown. Only after this hidden thinking is complete does the model produce the visible answer.</a:t>
            </a:r>
            <a:endParaRPr lang="en-US" sz="1100" dirty="0"/>
          </a:p>
        </p:txBody>
      </p:sp>
      <p:sp>
        <p:nvSpPr>
          <p:cNvPr id="4" name="Text 2"/>
          <p:cNvSpPr/>
          <p:nvPr/>
        </p:nvSpPr>
        <p:spPr>
          <a:xfrm>
            <a:off x="1557795" y="1848148"/>
            <a:ext cx="9292993" cy="651272"/>
          </a:xfrm>
          <a:prstGeom prst="rect">
            <a:avLst/>
          </a:prstGeom>
          <a:noFill/>
          <a:ln/>
        </p:spPr>
        <p:txBody>
          <a:bodyPr wrap="square" lIns="0" tIns="0" rIns="0" bIns="0" rtlCol="0" anchor="t">
            <a:normAutofit/>
          </a:bodyPr>
          <a:lstStyle/>
          <a:p>
            <a:pPr marL="0" indent="0" algn="l">
              <a:lnSpc>
                <a:spcPct val="125000"/>
              </a:lnSpc>
              <a:buNone/>
            </a:pPr>
            <a:r>
              <a:rPr lang="en-US" sz="1100" dirty="0">
                <a:solidFill>
                  <a:srgbClr val="454240"/>
                </a:solidFill>
                <a:latin typeface="DM Sans" pitchFamily="34" charset="0"/>
                <a:ea typeface="DM Sans" pitchFamily="34" charset="-122"/>
                <a:cs typeface="DM Sans" pitchFamily="34" charset="-120"/>
              </a:rPr>
              <a:t>Imagine you asked a colleague a hard question and they said </a:t>
            </a:r>
            <a:r>
              <a:rPr lang="en-US" sz="1100" i="1" dirty="0">
                <a:solidFill>
                  <a:srgbClr val="454240"/>
                </a:solidFill>
                <a:latin typeface="DM Sans" pitchFamily="34" charset="0"/>
                <a:ea typeface="DM Sans" pitchFamily="34" charset="-122"/>
                <a:cs typeface="DM Sans" pitchFamily="34" charset="-120"/>
              </a:rPr>
              <a:t>"Hmm, let me think for a moment."</a:t>
            </a:r>
            <a:r>
              <a:rPr lang="en-US" sz="1100" dirty="0">
                <a:solidFill>
                  <a:srgbClr val="454240"/>
                </a:solidFill>
                <a:latin typeface="DM Sans" pitchFamily="34" charset="0"/>
                <a:ea typeface="DM Sans" pitchFamily="34" charset="-122"/>
                <a:cs typeface="DM Sans" pitchFamily="34" charset="-120"/>
              </a:rPr>
              <a:t> Then they sat there silently for thirty seconds, working it out in their head, before speaking. That's what a reasoning model is doing. The thinking is real work — real tokens being generated — it just isn't shown to you.</a:t>
            </a:r>
            <a:endParaRPr lang="en-US" sz="1100" dirty="0"/>
          </a:p>
        </p:txBody>
      </p:sp>
      <p:pic>
        <p:nvPicPr>
          <p:cNvPr id="5" name="Image 0" descr="preencoded.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90300" y="2784177"/>
            <a:ext cx="3810897" cy="3290491"/>
          </a:xfrm>
          <a:prstGeom prst="rect">
            <a:avLst/>
          </a:prstGeom>
        </p:spPr>
      </p:pic>
      <p:sp>
        <p:nvSpPr>
          <p:cNvPr id="6" name="Text 3"/>
          <p:cNvSpPr/>
          <p:nvPr/>
        </p:nvSpPr>
        <p:spPr>
          <a:xfrm>
            <a:off x="6306249" y="5184286"/>
            <a:ext cx="1388438" cy="534943"/>
          </a:xfrm>
          <a:prstGeom prst="rect">
            <a:avLst/>
          </a:prstGeom>
          <a:noFill/>
          <a:ln/>
        </p:spPr>
        <p:txBody>
          <a:bodyPr wrap="square" lIns="0" tIns="0" rIns="0" bIns="0" rtlCol="0" anchor="t">
            <a:normAutofit/>
          </a:bodyPr>
          <a:lstStyle/>
          <a:p>
            <a:pPr marL="0" indent="0" algn="ctr">
              <a:lnSpc>
                <a:spcPct val="104000"/>
              </a:lnSpc>
              <a:buNone/>
            </a:pPr>
            <a:r>
              <a:rPr lang="en-US" sz="1650" dirty="0">
                <a:solidFill>
                  <a:srgbClr val="454240"/>
                </a:solidFill>
                <a:latin typeface="Libre Baskerville" pitchFamily="34" charset="0"/>
                <a:ea typeface="Libre Baskerville" pitchFamily="34" charset="-122"/>
                <a:cs typeface="Libre Baskerville" pitchFamily="34" charset="-120"/>
              </a:rPr>
              <a:t>Visible Answer</a:t>
            </a:r>
            <a:endParaRPr lang="en-US" sz="1650" dirty="0"/>
          </a:p>
        </p:txBody>
      </p:sp>
      <p:sp>
        <p:nvSpPr>
          <p:cNvPr id="7" name="Text 4"/>
          <p:cNvSpPr/>
          <p:nvPr/>
        </p:nvSpPr>
        <p:spPr>
          <a:xfrm>
            <a:off x="4527907" y="5184286"/>
            <a:ext cx="1388438" cy="534943"/>
          </a:xfrm>
          <a:prstGeom prst="rect">
            <a:avLst/>
          </a:prstGeom>
          <a:noFill/>
          <a:ln/>
        </p:spPr>
        <p:txBody>
          <a:bodyPr wrap="square" lIns="0" tIns="0" rIns="0" bIns="0" rtlCol="0" anchor="t">
            <a:normAutofit/>
          </a:bodyPr>
          <a:lstStyle/>
          <a:p>
            <a:pPr marL="0" indent="0" algn="ctr">
              <a:lnSpc>
                <a:spcPct val="104000"/>
              </a:lnSpc>
              <a:buNone/>
            </a:pPr>
            <a:r>
              <a:rPr lang="en-US" sz="1650" dirty="0">
                <a:solidFill>
                  <a:srgbClr val="454240"/>
                </a:solidFill>
                <a:latin typeface="Libre Baskerville" pitchFamily="34" charset="0"/>
                <a:ea typeface="Libre Baskerville" pitchFamily="34" charset="-122"/>
                <a:cs typeface="Libre Baskerville" pitchFamily="34" charset="-120"/>
              </a:rPr>
              <a:t>Hidden Thinking</a:t>
            </a:r>
            <a:endParaRPr lang="en-US" sz="1650" dirty="0"/>
          </a:p>
        </p:txBody>
      </p:sp>
      <p:sp>
        <p:nvSpPr>
          <p:cNvPr id="8" name="Text 5"/>
          <p:cNvSpPr/>
          <p:nvPr/>
        </p:nvSpPr>
        <p:spPr>
          <a:xfrm>
            <a:off x="1340809" y="6217047"/>
            <a:ext cx="10119563" cy="217091"/>
          </a:xfrm>
          <a:prstGeom prst="rect">
            <a:avLst/>
          </a:prstGeom>
          <a:noFill/>
          <a:ln/>
        </p:spPr>
        <p:txBody>
          <a:bodyPr wrap="none" lIns="0" tIns="0" rIns="0" bIns="0" rtlCol="0" anchor="t"/>
          <a:lstStyle/>
          <a:p>
            <a:pPr marL="0" indent="0" algn="l">
              <a:lnSpc>
                <a:spcPct val="125000"/>
              </a:lnSpc>
              <a:buNone/>
            </a:pPr>
            <a:r>
              <a:rPr lang="en-US" sz="1100" dirty="0">
                <a:solidFill>
                  <a:srgbClr val="454240"/>
                </a:solidFill>
                <a:latin typeface="DM Sans" pitchFamily="34" charset="0"/>
                <a:ea typeface="DM Sans" pitchFamily="34" charset="-122"/>
                <a:cs typeface="DM Sans" pitchFamily="34" charset="-120"/>
              </a:rPr>
              <a:t>The hidden thinking phase is genuine computation — not a pause, but active token generation that shapes the quality of the final answer.</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574" y="1702991"/>
            <a:ext cx="4744323" cy="516731"/>
          </a:xfrm>
          <a:prstGeom prst="rect">
            <a:avLst/>
          </a:prstGeom>
          <a:noFill/>
          <a:ln/>
        </p:spPr>
        <p:txBody>
          <a:bodyPr wrap="none" lIns="0" tIns="0" rIns="0" bIns="0" rtlCol="0" anchor="t"/>
          <a:lstStyle/>
          <a:p>
            <a:pPr marL="0" indent="0" algn="l">
              <a:lnSpc>
                <a:spcPct val="104000"/>
              </a:lnSpc>
              <a:buNone/>
            </a:pPr>
            <a:r>
              <a:rPr lang="en-US" sz="3250" dirty="0">
                <a:solidFill>
                  <a:srgbClr val="5C4E3D"/>
                </a:solidFill>
                <a:latin typeface="Libre Baskerville" pitchFamily="34" charset="0"/>
                <a:ea typeface="Libre Baskerville" pitchFamily="34" charset="-122"/>
                <a:cs typeface="Libre Baskerville" pitchFamily="34" charset="-120"/>
              </a:rPr>
              <a:t>Why This Works</a:t>
            </a:r>
            <a:endParaRPr lang="en-US" sz="3250" dirty="0"/>
          </a:p>
        </p:txBody>
      </p:sp>
      <p:sp>
        <p:nvSpPr>
          <p:cNvPr id="3" name="Text 1"/>
          <p:cNvSpPr/>
          <p:nvPr/>
        </p:nvSpPr>
        <p:spPr>
          <a:xfrm>
            <a:off x="661574" y="2550418"/>
            <a:ext cx="10868547"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It turns out that LLMs are much better at hard problems when they're allowed to "talk to themselves" first. By generating reasoning tokens, the model effectively gives itself a scratchpad.</a:t>
            </a:r>
            <a:endParaRPr lang="en-US" sz="1300" dirty="0"/>
          </a:p>
        </p:txBody>
      </p:sp>
      <p:sp>
        <p:nvSpPr>
          <p:cNvPr id="4" name="Shape 2"/>
          <p:cNvSpPr/>
          <p:nvPr/>
        </p:nvSpPr>
        <p:spPr>
          <a:xfrm>
            <a:off x="661574" y="3265686"/>
            <a:ext cx="10868547" cy="1174055"/>
          </a:xfrm>
          <a:prstGeom prst="roundRect">
            <a:avLst>
              <a:gd name="adj" fmla="val 5917"/>
            </a:avLst>
          </a:prstGeom>
          <a:solidFill>
            <a:srgbClr val="B6D6FC"/>
          </a:solidFill>
          <a:ln/>
        </p:spPr>
      </p:sp>
      <p:pic>
        <p:nvPicPr>
          <p:cNvPr id="5" name="Image 0" descr="preencoded.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26868" y="3505398"/>
            <a:ext cx="206667" cy="165298"/>
          </a:xfrm>
          <a:prstGeom prst="rect">
            <a:avLst/>
          </a:prstGeom>
        </p:spPr>
      </p:pic>
      <p:sp>
        <p:nvSpPr>
          <p:cNvPr id="6" name="Text 3"/>
          <p:cNvSpPr/>
          <p:nvPr/>
        </p:nvSpPr>
        <p:spPr>
          <a:xfrm>
            <a:off x="1198830" y="3455789"/>
            <a:ext cx="10165996" cy="793849"/>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000000"/>
                </a:solidFill>
                <a:latin typeface="DM Sans" pitchFamily="34" charset="0"/>
                <a:ea typeface="DM Sans" pitchFamily="34" charset="-122"/>
                <a:cs typeface="DM Sans" pitchFamily="34" charset="-120"/>
              </a:rPr>
              <a:t>Example reasoning trace: </a:t>
            </a:r>
            <a:r>
              <a:rPr lang="en-US" sz="1300" i="1" dirty="0">
                <a:solidFill>
                  <a:srgbClr val="000000"/>
                </a:solidFill>
                <a:latin typeface="DM Sans" pitchFamily="34" charset="0"/>
                <a:ea typeface="DM Sans" pitchFamily="34" charset="-122"/>
                <a:cs typeface="DM Sans" pitchFamily="34" charset="-120"/>
              </a:rPr>
              <a:t>"Let me check the holdings. EM equities means stocks in developing markets. The Vanguard FTSE EM ETF qualifies. The iShares EM bond fund does NOT, because it's bonds. Let me recompute..."</a:t>
            </a:r>
            <a:r>
              <a:rPr lang="en-US" sz="1300" dirty="0">
                <a:solidFill>
                  <a:srgbClr val="000000"/>
                </a:solidFill>
                <a:latin typeface="DM Sans" pitchFamily="34" charset="0"/>
                <a:ea typeface="DM Sans" pitchFamily="34" charset="-122"/>
                <a:cs typeface="DM Sans" pitchFamily="34" charset="-120"/>
              </a:rPr>
              <a:t> — each reasoning token sits in the context window and helps shape what comes next.</a:t>
            </a:r>
            <a:endParaRPr lang="en-US" sz="1300" dirty="0"/>
          </a:p>
        </p:txBody>
      </p:sp>
      <p:sp>
        <p:nvSpPr>
          <p:cNvPr id="7" name="Text 4"/>
          <p:cNvSpPr/>
          <p:nvPr/>
        </p:nvSpPr>
        <p:spPr>
          <a:xfrm>
            <a:off x="661574" y="4625777"/>
            <a:ext cx="10868547"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It's the same model architecture as before. Same attention, same next-word prediction. The only change is that the model has been </a:t>
            </a:r>
            <a:r>
              <a:rPr lang="en-US" sz="1300" b="1" dirty="0">
                <a:solidFill>
                  <a:srgbClr val="454240"/>
                </a:solidFill>
                <a:latin typeface="DM Sans" pitchFamily="34" charset="0"/>
                <a:ea typeface="DM Sans" pitchFamily="34" charset="-122"/>
                <a:cs typeface="DM Sans" pitchFamily="34" charset="-120"/>
              </a:rPr>
              <a:t>trained, during instruction tuning, to spend its first chunk of output on reasoning before giving the user-facing answer.</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661574" y="771227"/>
            <a:ext cx="938090" cy="323652"/>
          </a:xfrm>
          <a:prstGeom prst="roundRect">
            <a:avLst>
              <a:gd name="adj" fmla="val 17170"/>
            </a:avLst>
          </a:prstGeom>
          <a:noFill/>
          <a:ln w="6350">
            <a:solidFill>
              <a:srgbClr val="B88E23"/>
            </a:solidFill>
            <a:prstDash val="solid"/>
          </a:ln>
        </p:spPr>
      </p:sp>
      <p:sp>
        <p:nvSpPr>
          <p:cNvPr id="3" name="Text 1"/>
          <p:cNvSpPr/>
          <p:nvPr/>
        </p:nvSpPr>
        <p:spPr>
          <a:xfrm>
            <a:off x="767140" y="827187"/>
            <a:ext cx="1336542" cy="211733"/>
          </a:xfrm>
          <a:prstGeom prst="rect">
            <a:avLst/>
          </a:prstGeom>
          <a:noFill/>
          <a:ln/>
        </p:spPr>
        <p:txBody>
          <a:bodyPr wrap="none" lIns="0" tIns="0" rIns="0" bIns="0" rtlCol="0" anchor="t"/>
          <a:lstStyle/>
          <a:p>
            <a:pPr marL="0" indent="0" algn="l">
              <a:lnSpc>
                <a:spcPct val="133000"/>
              </a:lnSpc>
              <a:buNone/>
            </a:pPr>
            <a:r>
              <a:rPr lang="en-US" sz="1000" dirty="0">
                <a:solidFill>
                  <a:srgbClr val="B88E23"/>
                </a:solidFill>
                <a:latin typeface="DM Sans" pitchFamily="34" charset="0"/>
                <a:ea typeface="DM Sans" pitchFamily="34" charset="-122"/>
                <a:cs typeface="DM Sans" pitchFamily="34" charset="-120"/>
              </a:rPr>
              <a:t>TRADEOFFS</a:t>
            </a:r>
            <a:endParaRPr lang="en-US" sz="1000" dirty="0"/>
          </a:p>
        </p:txBody>
      </p:sp>
      <p:sp>
        <p:nvSpPr>
          <p:cNvPr id="4" name="Text 2"/>
          <p:cNvSpPr/>
          <p:nvPr/>
        </p:nvSpPr>
        <p:spPr>
          <a:xfrm>
            <a:off x="661574" y="1160959"/>
            <a:ext cx="8157264" cy="516731"/>
          </a:xfrm>
          <a:prstGeom prst="rect">
            <a:avLst/>
          </a:prstGeom>
          <a:noFill/>
          <a:ln/>
        </p:spPr>
        <p:txBody>
          <a:bodyPr wrap="none" lIns="0" tIns="0" rIns="0" bIns="0" rtlCol="0" anchor="t"/>
          <a:lstStyle/>
          <a:p>
            <a:pPr marL="0" indent="0" algn="l">
              <a:lnSpc>
                <a:spcPct val="104000"/>
              </a:lnSpc>
              <a:buNone/>
            </a:pPr>
            <a:r>
              <a:rPr lang="en-US" sz="3250" dirty="0">
                <a:solidFill>
                  <a:srgbClr val="5C4E3D"/>
                </a:solidFill>
                <a:latin typeface="Libre Baskerville" pitchFamily="34" charset="0"/>
                <a:ea typeface="Libre Baskerville" pitchFamily="34" charset="-122"/>
                <a:cs typeface="Libre Baskerville" pitchFamily="34" charset="-120"/>
              </a:rPr>
              <a:t>The Tradeoffs of Reasoning Models</a:t>
            </a:r>
            <a:endParaRPr lang="en-US" sz="3250" dirty="0"/>
          </a:p>
        </p:txBody>
      </p:sp>
      <p:sp>
        <p:nvSpPr>
          <p:cNvPr id="5" name="Shape 3"/>
          <p:cNvSpPr/>
          <p:nvPr/>
        </p:nvSpPr>
        <p:spPr>
          <a:xfrm>
            <a:off x="542515" y="1925737"/>
            <a:ext cx="5470686" cy="2614910"/>
          </a:xfrm>
          <a:prstGeom prst="roundRect">
            <a:avLst>
              <a:gd name="adj" fmla="val 4554"/>
            </a:avLst>
          </a:prstGeom>
          <a:solidFill>
            <a:srgbClr val="F2F2F2"/>
          </a:solidFill>
          <a:ln/>
        </p:spPr>
      </p:sp>
      <p:sp>
        <p:nvSpPr>
          <p:cNvPr id="6" name="Text 4"/>
          <p:cNvSpPr/>
          <p:nvPr/>
        </p:nvSpPr>
        <p:spPr>
          <a:xfrm>
            <a:off x="707809" y="2091035"/>
            <a:ext cx="2676954" cy="258465"/>
          </a:xfrm>
          <a:prstGeom prst="rect">
            <a:avLst/>
          </a:prstGeom>
          <a:noFill/>
          <a:ln/>
        </p:spPr>
        <p:txBody>
          <a:bodyPr wrap="none" lIns="0" tIns="0" rIns="0" bIns="0" rtlCol="0" anchor="t"/>
          <a:lstStyle/>
          <a:p>
            <a:pPr marL="0" indent="0" algn="l">
              <a:lnSpc>
                <a:spcPct val="104000"/>
              </a:lnSpc>
              <a:buNone/>
            </a:pPr>
            <a:r>
              <a:rPr lang="en-US" sz="1600" dirty="0">
                <a:solidFill>
                  <a:srgbClr val="5C4E3D"/>
                </a:solidFill>
                <a:latin typeface="Libre Baskerville" pitchFamily="34" charset="0"/>
                <a:ea typeface="Libre Baskerville" pitchFamily="34" charset="-122"/>
                <a:cs typeface="Libre Baskerville" pitchFamily="34" charset="-120"/>
              </a:rPr>
              <a:t>Where They Shine</a:t>
            </a:r>
            <a:endParaRPr lang="en-US" sz="1600" dirty="0"/>
          </a:p>
        </p:txBody>
      </p:sp>
      <p:sp>
        <p:nvSpPr>
          <p:cNvPr id="7" name="Text 5"/>
          <p:cNvSpPr/>
          <p:nvPr/>
        </p:nvSpPr>
        <p:spPr>
          <a:xfrm>
            <a:off x="707809" y="2514798"/>
            <a:ext cx="5140097" cy="1231999"/>
          </a:xfrm>
          <a:prstGeom prst="rect">
            <a:avLst/>
          </a:prstGeom>
          <a:noFill/>
          <a:ln/>
        </p:spPr>
        <p:txBody>
          <a:bodyPr wrap="square" lIns="0" tIns="0" rIns="0" bIns="0" rtlCol="0" anchor="t">
            <a:normAutofit/>
          </a:bodyPr>
          <a:lstStyle/>
          <a:p>
            <a:pPr marL="342900" indent="-342900" algn="l">
              <a:lnSpc>
                <a:spcPct val="133000"/>
              </a:lnSpc>
              <a:buSzPct val="100000"/>
              <a:buChar char="•"/>
            </a:pPr>
            <a:r>
              <a:rPr lang="en-US" sz="1300" dirty="0">
                <a:solidFill>
                  <a:srgbClr val="454240"/>
                </a:solidFill>
                <a:latin typeface="DM Sans" pitchFamily="34" charset="0"/>
                <a:ea typeface="DM Sans" pitchFamily="34" charset="-122"/>
                <a:cs typeface="DM Sans" pitchFamily="34" charset="-120"/>
              </a:rPr>
              <a:t>Mathematics and complex calculations</a:t>
            </a:r>
            <a:endParaRPr lang="en-US" sz="1300" dirty="0"/>
          </a:p>
          <a:p>
            <a:pPr marL="342900" indent="-342900" algn="l">
              <a:lnSpc>
                <a:spcPct val="133000"/>
              </a:lnSpc>
              <a:buSzPct val="100000"/>
              <a:buChar char="•"/>
            </a:pPr>
            <a:r>
              <a:rPr lang="en-US" sz="1300" dirty="0">
                <a:solidFill>
                  <a:srgbClr val="454240"/>
                </a:solidFill>
                <a:latin typeface="DM Sans" pitchFamily="34" charset="0"/>
                <a:ea typeface="DM Sans" pitchFamily="34" charset="-122"/>
                <a:cs typeface="DM Sans" pitchFamily="34" charset="-120"/>
              </a:rPr>
              <a:t>Code generation and debugging</a:t>
            </a:r>
            <a:endParaRPr lang="en-US" sz="1300" dirty="0"/>
          </a:p>
          <a:p>
            <a:pPr marL="342900" indent="-342900" algn="l">
              <a:lnSpc>
                <a:spcPct val="133000"/>
              </a:lnSpc>
              <a:buSzPct val="100000"/>
              <a:buChar char="•"/>
            </a:pPr>
            <a:r>
              <a:rPr lang="en-US" sz="1300" dirty="0">
                <a:solidFill>
                  <a:srgbClr val="454240"/>
                </a:solidFill>
                <a:latin typeface="DM Sans" pitchFamily="34" charset="0"/>
                <a:ea typeface="DM Sans" pitchFamily="34" charset="-122"/>
                <a:cs typeface="DM Sans" pitchFamily="34" charset="-120"/>
              </a:rPr>
              <a:t>Multi-step logic and planning</a:t>
            </a:r>
            <a:endParaRPr lang="en-US" sz="1300" dirty="0"/>
          </a:p>
          <a:p>
            <a:pPr marL="342900" indent="-342900" algn="l">
              <a:lnSpc>
                <a:spcPct val="133000"/>
              </a:lnSpc>
              <a:buSzPct val="100000"/>
              <a:buChar char="•"/>
            </a:pPr>
            <a:r>
              <a:rPr lang="en-US" sz="1300" dirty="0">
                <a:solidFill>
                  <a:srgbClr val="454240"/>
                </a:solidFill>
                <a:latin typeface="DM Sans" pitchFamily="34" charset="0"/>
                <a:ea typeface="DM Sans" pitchFamily="34" charset="-122"/>
                <a:cs typeface="DM Sans" pitchFamily="34" charset="-120"/>
              </a:rPr>
              <a:t>Complex analysis and edge cases</a:t>
            </a:r>
            <a:endParaRPr lang="en-US" sz="1300" dirty="0"/>
          </a:p>
        </p:txBody>
      </p:sp>
      <p:sp>
        <p:nvSpPr>
          <p:cNvPr id="8" name="Shape 6"/>
          <p:cNvSpPr/>
          <p:nvPr/>
        </p:nvSpPr>
        <p:spPr>
          <a:xfrm>
            <a:off x="6184844" y="1925737"/>
            <a:ext cx="5470686" cy="2614910"/>
          </a:xfrm>
          <a:prstGeom prst="roundRect">
            <a:avLst>
              <a:gd name="adj" fmla="val 4554"/>
            </a:avLst>
          </a:prstGeom>
          <a:solidFill>
            <a:srgbClr val="F2F2F2"/>
          </a:solidFill>
          <a:ln/>
        </p:spPr>
      </p:sp>
      <p:sp>
        <p:nvSpPr>
          <p:cNvPr id="9" name="Text 7"/>
          <p:cNvSpPr/>
          <p:nvPr/>
        </p:nvSpPr>
        <p:spPr>
          <a:xfrm>
            <a:off x="6350139" y="2091035"/>
            <a:ext cx="2676954" cy="258465"/>
          </a:xfrm>
          <a:prstGeom prst="rect">
            <a:avLst/>
          </a:prstGeom>
          <a:noFill/>
          <a:ln/>
        </p:spPr>
        <p:txBody>
          <a:bodyPr wrap="none" lIns="0" tIns="0" rIns="0" bIns="0" rtlCol="0" anchor="t"/>
          <a:lstStyle/>
          <a:p>
            <a:pPr marL="0" indent="0" algn="l">
              <a:lnSpc>
                <a:spcPct val="104000"/>
              </a:lnSpc>
              <a:buNone/>
            </a:pPr>
            <a:r>
              <a:rPr lang="en-US" sz="1600" dirty="0">
                <a:solidFill>
                  <a:srgbClr val="5C4E3D"/>
                </a:solidFill>
                <a:latin typeface="Libre Baskerville" pitchFamily="34" charset="0"/>
                <a:ea typeface="Libre Baskerville" pitchFamily="34" charset="-122"/>
                <a:cs typeface="Libre Baskerville" pitchFamily="34" charset="-120"/>
              </a:rPr>
              <a:t>The Costs</a:t>
            </a:r>
            <a:endParaRPr lang="en-US" sz="1600" dirty="0"/>
          </a:p>
        </p:txBody>
      </p:sp>
      <p:sp>
        <p:nvSpPr>
          <p:cNvPr id="10" name="Text 8"/>
          <p:cNvSpPr/>
          <p:nvPr/>
        </p:nvSpPr>
        <p:spPr>
          <a:xfrm>
            <a:off x="6350139" y="2514798"/>
            <a:ext cx="5140097" cy="1968004"/>
          </a:xfrm>
          <a:prstGeom prst="rect">
            <a:avLst/>
          </a:prstGeom>
          <a:noFill/>
          <a:ln/>
        </p:spPr>
        <p:txBody>
          <a:bodyPr wrap="square" lIns="0" tIns="0" rIns="0" bIns="0" rtlCol="0" anchor="t">
            <a:normAutofit/>
          </a:bodyPr>
          <a:lstStyle/>
          <a:p>
            <a:pPr marL="342900" indent="-342900" algn="l">
              <a:lnSpc>
                <a:spcPct val="133000"/>
              </a:lnSpc>
              <a:buSzPct val="100000"/>
              <a:buChar char="•"/>
            </a:pPr>
            <a:r>
              <a:rPr lang="en-US" sz="1300" b="1" dirty="0">
                <a:solidFill>
                  <a:srgbClr val="454240"/>
                </a:solidFill>
                <a:latin typeface="DM Sans" pitchFamily="34" charset="0"/>
                <a:ea typeface="DM Sans" pitchFamily="34" charset="-122"/>
                <a:cs typeface="DM Sans" pitchFamily="34" charset="-120"/>
              </a:rPr>
              <a:t>Much slower</a:t>
            </a:r>
            <a:r>
              <a:rPr lang="en-US" sz="1300" dirty="0">
                <a:solidFill>
                  <a:srgbClr val="454240"/>
                </a:solidFill>
                <a:latin typeface="DM Sans" pitchFamily="34" charset="0"/>
                <a:ea typeface="DM Sans" pitchFamily="34" charset="-122"/>
                <a:cs typeface="DM Sans" pitchFamily="34" charset="-120"/>
              </a:rPr>
              <a:t> — hidden thinking may take 10–60 seconds before the first user-visible word appears</a:t>
            </a:r>
            <a:endParaRPr lang="en-US" sz="1300" dirty="0"/>
          </a:p>
          <a:p>
            <a:pPr marL="342900" indent="-342900" algn="l">
              <a:lnSpc>
                <a:spcPct val="133000"/>
              </a:lnSpc>
              <a:buSzPct val="100000"/>
              <a:buChar char="•"/>
            </a:pPr>
            <a:r>
              <a:rPr lang="en-US" sz="1300" b="1" dirty="0">
                <a:solidFill>
                  <a:srgbClr val="454240"/>
                </a:solidFill>
                <a:latin typeface="DM Sans" pitchFamily="34" charset="0"/>
                <a:ea typeface="DM Sans" pitchFamily="34" charset="-122"/>
                <a:cs typeface="DM Sans" pitchFamily="34" charset="-120"/>
              </a:rPr>
              <a:t>More expensive</a:t>
            </a:r>
            <a:r>
              <a:rPr lang="en-US" sz="1300" dirty="0">
                <a:solidFill>
                  <a:srgbClr val="454240"/>
                </a:solidFill>
                <a:latin typeface="DM Sans" pitchFamily="34" charset="0"/>
                <a:ea typeface="DM Sans" pitchFamily="34" charset="-122"/>
                <a:cs typeface="DM Sans" pitchFamily="34" charset="-120"/>
              </a:rPr>
              <a:t> — hidden tokens are billed at output rates; a reasoning answer might consume 5,000–50,000 hidden tokens to produce a 200-token visible answer</a:t>
            </a:r>
            <a:endParaRPr lang="en-US" sz="1300" dirty="0"/>
          </a:p>
          <a:p>
            <a:pPr marL="342900" indent="-342900" algn="l">
              <a:lnSpc>
                <a:spcPct val="133000"/>
              </a:lnSpc>
              <a:buSzPct val="100000"/>
              <a:buChar char="•"/>
            </a:pPr>
            <a:r>
              <a:rPr lang="en-US" sz="1300" b="1" dirty="0">
                <a:solidFill>
                  <a:srgbClr val="454240"/>
                </a:solidFill>
                <a:latin typeface="DM Sans" pitchFamily="34" charset="0"/>
                <a:ea typeface="DM Sans" pitchFamily="34" charset="-122"/>
                <a:cs typeface="DM Sans" pitchFamily="34" charset="-120"/>
              </a:rPr>
              <a:t>Overkill for simple tasks</a:t>
            </a:r>
            <a:r>
              <a:rPr lang="en-US" sz="1300" dirty="0">
                <a:solidFill>
                  <a:srgbClr val="454240"/>
                </a:solidFill>
                <a:latin typeface="DM Sans" pitchFamily="34" charset="0"/>
                <a:ea typeface="DM Sans" pitchFamily="34" charset="-122"/>
                <a:cs typeface="DM Sans" pitchFamily="34" charset="-120"/>
              </a:rPr>
              <a:t> — asking "What's the capital of France?" wastes time and money</a:t>
            </a:r>
            <a:endParaRPr lang="en-US" sz="1300" dirty="0"/>
          </a:p>
        </p:txBody>
      </p:sp>
      <p:sp>
        <p:nvSpPr>
          <p:cNvPr id="11" name="Shape 9"/>
          <p:cNvSpPr/>
          <p:nvPr/>
        </p:nvSpPr>
        <p:spPr>
          <a:xfrm>
            <a:off x="661574" y="4726682"/>
            <a:ext cx="10868547" cy="1174055"/>
          </a:xfrm>
          <a:prstGeom prst="roundRect">
            <a:avLst>
              <a:gd name="adj" fmla="val 5917"/>
            </a:avLst>
          </a:prstGeom>
          <a:solidFill>
            <a:srgbClr val="CCCCCC"/>
          </a:solidFill>
          <a:ln/>
        </p:spPr>
      </p:sp>
      <p:pic>
        <p:nvPicPr>
          <p:cNvPr id="12" name="Image 0" descr="preencoded.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26868" y="4966395"/>
            <a:ext cx="206667" cy="165298"/>
          </a:xfrm>
          <a:prstGeom prst="rect">
            <a:avLst/>
          </a:prstGeom>
        </p:spPr>
      </p:pic>
      <p:sp>
        <p:nvSpPr>
          <p:cNvPr id="13" name="Text 10"/>
          <p:cNvSpPr/>
          <p:nvPr/>
        </p:nvSpPr>
        <p:spPr>
          <a:xfrm>
            <a:off x="1198830" y="4916785"/>
            <a:ext cx="10165996" cy="793849"/>
          </a:xfrm>
          <a:prstGeom prst="rect">
            <a:avLst/>
          </a:prstGeom>
          <a:noFill/>
          <a:ln/>
        </p:spPr>
        <p:txBody>
          <a:bodyPr wrap="square" lIns="0" tIns="0" rIns="0" bIns="0" rtlCol="0" anchor="t">
            <a:normAutofit/>
          </a:bodyPr>
          <a:lstStyle/>
          <a:p>
            <a:pPr marL="0" indent="0" algn="l">
              <a:lnSpc>
                <a:spcPct val="133000"/>
              </a:lnSpc>
              <a:buNone/>
            </a:pPr>
            <a:r>
              <a:rPr lang="en-US" sz="1300" b="1" dirty="0">
                <a:solidFill>
                  <a:srgbClr val="000000"/>
                </a:solidFill>
                <a:latin typeface="DM Sans" pitchFamily="34" charset="0"/>
                <a:ea typeface="DM Sans" pitchFamily="34" charset="-122"/>
                <a:cs typeface="DM Sans" pitchFamily="34" charset="-120"/>
              </a:rPr>
              <a:t>The practical rule:</a:t>
            </a:r>
            <a:r>
              <a:rPr lang="en-US" sz="1300" dirty="0">
                <a:solidFill>
                  <a:srgbClr val="000000"/>
                </a:solidFill>
                <a:latin typeface="DM Sans" pitchFamily="34" charset="0"/>
                <a:ea typeface="DM Sans" pitchFamily="34" charset="-122"/>
                <a:cs typeface="DM Sans" pitchFamily="34" charset="-120"/>
              </a:rPr>
              <a:t> Use reasoning models for hard problems that benefit from careful thinking (code, math, planning, complex analysis), and regular models for everyday tasks (summarisation, drafting, retrieval, conversation). Most modern products let you switch, or do it automatically.</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0" y="0"/>
            <a:ext cx="4571886" cy="6858000"/>
          </a:xfrm>
          <a:prstGeom prst="rect">
            <a:avLst/>
          </a:prstGeom>
        </p:spPr>
      </p:pic>
      <p:sp>
        <p:nvSpPr>
          <p:cNvPr id="3" name="Text 0"/>
          <p:cNvSpPr/>
          <p:nvPr/>
        </p:nvSpPr>
        <p:spPr>
          <a:xfrm>
            <a:off x="5233360" y="1405830"/>
            <a:ext cx="6296860" cy="1033463"/>
          </a:xfrm>
          <a:prstGeom prst="rect">
            <a:avLst/>
          </a:prstGeom>
          <a:noFill/>
          <a:ln/>
        </p:spPr>
        <p:txBody>
          <a:bodyPr wrap="square" lIns="0" tIns="0" rIns="0" bIns="0" rtlCol="0" anchor="t">
            <a:normAutofit/>
          </a:bodyPr>
          <a:lstStyle/>
          <a:p>
            <a:pPr marL="0" indent="0" algn="l">
              <a:lnSpc>
                <a:spcPct val="104000"/>
              </a:lnSpc>
              <a:buNone/>
            </a:pPr>
            <a:r>
              <a:rPr lang="en-US" sz="3250" dirty="0">
                <a:solidFill>
                  <a:srgbClr val="5C4E3D"/>
                </a:solidFill>
                <a:latin typeface="Libre Baskerville" pitchFamily="34" charset="0"/>
                <a:ea typeface="Libre Baskerville" pitchFamily="34" charset="-122"/>
                <a:cs typeface="Libre Baskerville" pitchFamily="34" charset="-120"/>
              </a:rPr>
              <a:t>What This Means for the Part 2 Picture</a:t>
            </a:r>
            <a:endParaRPr lang="en-US" sz="3250" dirty="0"/>
          </a:p>
        </p:txBody>
      </p:sp>
      <p:sp>
        <p:nvSpPr>
          <p:cNvPr id="4" name="Text 1"/>
          <p:cNvSpPr/>
          <p:nvPr/>
        </p:nvSpPr>
        <p:spPr>
          <a:xfrm>
            <a:off x="5233360" y="2687340"/>
            <a:ext cx="6296860"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The streaming-one-word-at-a-time picture from Part 2 is still correct mechanically — reasoning models are doing the same token-by-token prediction.</a:t>
            </a:r>
            <a:endParaRPr lang="en-US" sz="1300" dirty="0"/>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214311" y="3402608"/>
            <a:ext cx="3084832" cy="2049463"/>
          </a:xfrm>
          <a:prstGeom prst="rect">
            <a:avLst/>
          </a:prstGeom>
        </p:spPr>
      </p:pic>
      <p:sp>
        <p:nvSpPr>
          <p:cNvPr id="6" name="Text 2"/>
          <p:cNvSpPr/>
          <p:nvPr/>
        </p:nvSpPr>
        <p:spPr>
          <a:xfrm>
            <a:off x="5474853" y="3586956"/>
            <a:ext cx="2151902" cy="258465"/>
          </a:xfrm>
          <a:prstGeom prst="rect">
            <a:avLst/>
          </a:prstGeom>
          <a:noFill/>
          <a:ln/>
        </p:spPr>
        <p:txBody>
          <a:bodyPr wrap="none" lIns="0" tIns="0" rIns="0" bIns="0" rtlCol="0" anchor="t"/>
          <a:lstStyle/>
          <a:p>
            <a:pPr marL="0" indent="0" algn="l">
              <a:lnSpc>
                <a:spcPct val="104000"/>
              </a:lnSpc>
              <a:buNone/>
            </a:pPr>
            <a:r>
              <a:rPr lang="en-US" sz="1600" dirty="0">
                <a:solidFill>
                  <a:srgbClr val="454240"/>
                </a:solidFill>
                <a:latin typeface="Libre Baskerville" pitchFamily="34" charset="0"/>
                <a:ea typeface="Libre Baskerville" pitchFamily="34" charset="-122"/>
                <a:cs typeface="Libre Baskerville" pitchFamily="34" charset="-120"/>
              </a:rPr>
              <a:t>What stays the same</a:t>
            </a:r>
            <a:endParaRPr lang="en-US" sz="1600" dirty="0"/>
          </a:p>
        </p:txBody>
      </p:sp>
      <p:sp>
        <p:nvSpPr>
          <p:cNvPr id="7" name="Text 3"/>
          <p:cNvSpPr/>
          <p:nvPr/>
        </p:nvSpPr>
        <p:spPr>
          <a:xfrm>
            <a:off x="5474853" y="3944640"/>
            <a:ext cx="2639946" cy="1323082"/>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The model is producing tokens the whole time. Same attention mechanism, same next-word prediction, same architecture underneath.</a:t>
            </a:r>
            <a:endParaRPr lang="en-US" sz="1300" dirty="0"/>
          </a:p>
        </p:txBody>
      </p:sp>
      <p:pic>
        <p:nvPicPr>
          <p:cNvPr id="8"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445388" y="3402608"/>
            <a:ext cx="3084832" cy="2049463"/>
          </a:xfrm>
          <a:prstGeom prst="rect">
            <a:avLst/>
          </a:prstGeom>
        </p:spPr>
      </p:pic>
      <p:sp>
        <p:nvSpPr>
          <p:cNvPr id="9" name="Text 4"/>
          <p:cNvSpPr/>
          <p:nvPr/>
        </p:nvSpPr>
        <p:spPr>
          <a:xfrm>
            <a:off x="8705930" y="3586956"/>
            <a:ext cx="2067369" cy="258465"/>
          </a:xfrm>
          <a:prstGeom prst="rect">
            <a:avLst/>
          </a:prstGeom>
          <a:noFill/>
          <a:ln/>
        </p:spPr>
        <p:txBody>
          <a:bodyPr wrap="none" lIns="0" tIns="0" rIns="0" bIns="0" rtlCol="0" anchor="t"/>
          <a:lstStyle/>
          <a:p>
            <a:pPr marL="0" indent="0" algn="l">
              <a:lnSpc>
                <a:spcPct val="104000"/>
              </a:lnSpc>
              <a:buNone/>
            </a:pPr>
            <a:r>
              <a:rPr lang="en-US" sz="1600" dirty="0">
                <a:solidFill>
                  <a:srgbClr val="454240"/>
                </a:solidFill>
                <a:latin typeface="Libre Baskerville" pitchFamily="34" charset="0"/>
                <a:ea typeface="Libre Baskerville" pitchFamily="34" charset="-122"/>
                <a:cs typeface="Libre Baskerville" pitchFamily="34" charset="-120"/>
              </a:rPr>
              <a:t>What changes</a:t>
            </a:r>
            <a:endParaRPr lang="en-US" sz="1600" dirty="0"/>
          </a:p>
        </p:txBody>
      </p:sp>
      <p:sp>
        <p:nvSpPr>
          <p:cNvPr id="10" name="Text 5"/>
          <p:cNvSpPr/>
          <p:nvPr/>
        </p:nvSpPr>
        <p:spPr>
          <a:xfrm>
            <a:off x="8705930" y="3944640"/>
            <a:ext cx="2639946" cy="1323082"/>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The difference is purely about </a:t>
            </a:r>
            <a:r>
              <a:rPr lang="en-US" sz="1300" b="1" dirty="0">
                <a:solidFill>
                  <a:srgbClr val="454240"/>
                </a:solidFill>
                <a:latin typeface="DM Sans" pitchFamily="34" charset="0"/>
                <a:ea typeface="DM Sans" pitchFamily="34" charset="-122"/>
                <a:cs typeface="DM Sans" pitchFamily="34" charset="-120"/>
              </a:rPr>
              <a:t>which tokens get shown to the user</a:t>
            </a:r>
            <a:r>
              <a:rPr lang="en-US" sz="1300" dirty="0">
                <a:solidFill>
                  <a:srgbClr val="454240"/>
                </a:solidFill>
                <a:latin typeface="DM Sans" pitchFamily="34" charset="0"/>
                <a:ea typeface="DM Sans" pitchFamily="34" charset="-122"/>
                <a:cs typeface="DM Sans" pitchFamily="34" charset="-120"/>
              </a:rPr>
              <a:t>. The system hides the first batch — the reasoning tokens — and only surfaces the final answer.</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746503" y="497086"/>
            <a:ext cx="579522" cy="245566"/>
          </a:xfrm>
          <a:prstGeom prst="roundRect">
            <a:avLst>
              <a:gd name="adj" fmla="val 18935"/>
            </a:avLst>
          </a:prstGeom>
          <a:solidFill>
            <a:srgbClr val="F7EDD4"/>
          </a:solidFill>
          <a:ln/>
        </p:spPr>
      </p:sp>
      <p:sp>
        <p:nvSpPr>
          <p:cNvPr id="3" name="Text 1"/>
          <p:cNvSpPr/>
          <p:nvPr/>
        </p:nvSpPr>
        <p:spPr>
          <a:xfrm>
            <a:off x="829448" y="538559"/>
            <a:ext cx="1023217" cy="162620"/>
          </a:xfrm>
          <a:prstGeom prst="rect">
            <a:avLst/>
          </a:prstGeom>
          <a:noFill/>
          <a:ln/>
        </p:spPr>
        <p:txBody>
          <a:bodyPr wrap="none" lIns="0" tIns="0" rIns="0" bIns="0" rtlCol="0" anchor="t"/>
          <a:lstStyle/>
          <a:p>
            <a:pPr marL="0" indent="0" algn="l">
              <a:lnSpc>
                <a:spcPct val="122000"/>
              </a:lnSpc>
              <a:buNone/>
            </a:pPr>
            <a:r>
              <a:rPr lang="en-US" sz="850" dirty="0">
                <a:solidFill>
                  <a:srgbClr val="454240"/>
                </a:solidFill>
                <a:latin typeface="DM Sans" pitchFamily="34" charset="0"/>
                <a:ea typeface="DM Sans" pitchFamily="34" charset="-122"/>
                <a:cs typeface="DM Sans" pitchFamily="34" charset="-120"/>
              </a:rPr>
              <a:t>STEP 26</a:t>
            </a:r>
            <a:endParaRPr lang="en-US" sz="850" dirty="0"/>
          </a:p>
        </p:txBody>
      </p:sp>
      <p:sp>
        <p:nvSpPr>
          <p:cNvPr id="4" name="Text 2"/>
          <p:cNvSpPr/>
          <p:nvPr/>
        </p:nvSpPr>
        <p:spPr>
          <a:xfrm>
            <a:off x="746503" y="788888"/>
            <a:ext cx="8858524" cy="432395"/>
          </a:xfrm>
          <a:prstGeom prst="rect">
            <a:avLst/>
          </a:prstGeom>
          <a:noFill/>
          <a:ln/>
        </p:spPr>
        <p:txBody>
          <a:bodyPr wrap="none" lIns="0" tIns="0" rIns="0" bIns="0" rtlCol="0" anchor="t"/>
          <a:lstStyle/>
          <a:p>
            <a:pPr marL="0" indent="0" algn="l">
              <a:lnSpc>
                <a:spcPct val="104000"/>
              </a:lnSpc>
              <a:buNone/>
            </a:pPr>
            <a:r>
              <a:rPr lang="en-US" sz="2700" dirty="0">
                <a:solidFill>
                  <a:srgbClr val="5C4E3D"/>
                </a:solidFill>
                <a:latin typeface="Libre Baskerville" pitchFamily="34" charset="0"/>
                <a:ea typeface="Libre Baskerville" pitchFamily="34" charset="-122"/>
                <a:cs typeface="Libre Baskerville" pitchFamily="34" charset="-120"/>
              </a:rPr>
              <a:t>Multimodal: Images, Audio, PDFs, and Beyond</a:t>
            </a:r>
            <a:endParaRPr lang="en-US" sz="2700" dirty="0"/>
          </a:p>
        </p:txBody>
      </p:sp>
      <p:sp>
        <p:nvSpPr>
          <p:cNvPr id="5" name="Text 3"/>
          <p:cNvSpPr/>
          <p:nvPr/>
        </p:nvSpPr>
        <p:spPr>
          <a:xfrm>
            <a:off x="746503" y="1267520"/>
            <a:ext cx="2339321" cy="216098"/>
          </a:xfrm>
          <a:prstGeom prst="rect">
            <a:avLst/>
          </a:prstGeom>
          <a:noFill/>
          <a:ln/>
        </p:spPr>
        <p:txBody>
          <a:bodyPr wrap="none" lIns="0" tIns="0" rIns="0" bIns="0" rtlCol="0" anchor="t"/>
          <a:lstStyle/>
          <a:p>
            <a:pPr marL="0" indent="0" algn="l">
              <a:lnSpc>
                <a:spcPct val="104000"/>
              </a:lnSpc>
              <a:buNone/>
            </a:pPr>
            <a:r>
              <a:rPr lang="en-US" sz="1350" dirty="0">
                <a:solidFill>
                  <a:srgbClr val="5C4E3D"/>
                </a:solidFill>
                <a:latin typeface="Libre Baskerville" pitchFamily="34" charset="0"/>
                <a:ea typeface="Libre Baskerville" pitchFamily="34" charset="-122"/>
                <a:cs typeface="Libre Baskerville" pitchFamily="34" charset="-120"/>
              </a:rPr>
              <a:t>Beyond text</a:t>
            </a:r>
            <a:endParaRPr lang="en-US" sz="1350" dirty="0"/>
          </a:p>
        </p:txBody>
      </p:sp>
      <p:sp>
        <p:nvSpPr>
          <p:cNvPr id="6" name="Text 4"/>
          <p:cNvSpPr/>
          <p:nvPr/>
        </p:nvSpPr>
        <p:spPr>
          <a:xfrm>
            <a:off x="746503" y="1657251"/>
            <a:ext cx="10698689" cy="740073"/>
          </a:xfrm>
          <a:prstGeom prst="rect">
            <a:avLst/>
          </a:prstGeom>
          <a:noFill/>
          <a:ln/>
        </p:spPr>
        <p:txBody>
          <a:bodyPr wrap="square" lIns="0" tIns="0" rIns="0" bIns="0" rtlCol="0" anchor="t">
            <a:normAutofit/>
          </a:bodyPr>
          <a:lstStyle/>
          <a:p>
            <a:pPr marL="0" indent="0" algn="l">
              <a:lnSpc>
                <a:spcPct val="122000"/>
              </a:lnSpc>
              <a:spcAft>
                <a:spcPts val="1000"/>
              </a:spcAft>
              <a:buNone/>
            </a:pPr>
            <a:r>
              <a:rPr lang="en-US" sz="1050" dirty="0">
                <a:solidFill>
                  <a:srgbClr val="454240"/>
                </a:solidFill>
                <a:latin typeface="DM Sans" pitchFamily="34" charset="0"/>
                <a:ea typeface="DM Sans" pitchFamily="34" charset="-122"/>
                <a:cs typeface="DM Sans" pitchFamily="34" charset="-120"/>
              </a:rPr>
              <a:t>Every modern frontier model can handle more than text. You can paste a screenshot, upload a PDF, attach an audio file, even share a short video. The model "sees" or "hears" it and can talk about what's in it.</a:t>
            </a:r>
            <a:endParaRPr lang="en-US" sz="1050" dirty="0"/>
          </a:p>
          <a:p>
            <a:pPr marL="0" indent="0" algn="l">
              <a:lnSpc>
                <a:spcPct val="122000"/>
              </a:lnSpc>
              <a:buNone/>
            </a:pPr>
            <a:r>
              <a:rPr lang="en-US" sz="1050" dirty="0">
                <a:solidFill>
                  <a:srgbClr val="454240"/>
                </a:solidFill>
                <a:latin typeface="DM Sans" pitchFamily="34" charset="0"/>
                <a:ea typeface="DM Sans" pitchFamily="34" charset="-122"/>
                <a:cs typeface="DM Sans" pitchFamily="34" charset="-120"/>
              </a:rPr>
              <a:t>How? The answer is elegant — and connects directly back to Part 1.</a:t>
            </a:r>
            <a:endParaRPr lang="en-US" sz="1050" dirty="0"/>
          </a:p>
        </p:txBody>
      </p:sp>
      <p:sp>
        <p:nvSpPr>
          <p:cNvPr id="7" name="Text 5"/>
          <p:cNvSpPr/>
          <p:nvPr/>
        </p:nvSpPr>
        <p:spPr>
          <a:xfrm>
            <a:off x="746503" y="2570956"/>
            <a:ext cx="3045543" cy="216098"/>
          </a:xfrm>
          <a:prstGeom prst="rect">
            <a:avLst/>
          </a:prstGeom>
          <a:noFill/>
          <a:ln/>
        </p:spPr>
        <p:txBody>
          <a:bodyPr wrap="none" lIns="0" tIns="0" rIns="0" bIns="0" rtlCol="0" anchor="t"/>
          <a:lstStyle/>
          <a:p>
            <a:pPr marL="0" indent="0" algn="l">
              <a:lnSpc>
                <a:spcPct val="104000"/>
              </a:lnSpc>
              <a:buNone/>
            </a:pPr>
            <a:r>
              <a:rPr lang="en-US" sz="1350" dirty="0">
                <a:solidFill>
                  <a:srgbClr val="5C4E3D"/>
                </a:solidFill>
                <a:latin typeface="Libre Baskerville" pitchFamily="34" charset="0"/>
                <a:ea typeface="Libre Baskerville" pitchFamily="34" charset="-122"/>
                <a:cs typeface="Libre Baskerville" pitchFamily="34" charset="-120"/>
              </a:rPr>
              <a:t>Everything becomes tokens</a:t>
            </a:r>
            <a:endParaRPr lang="en-US" sz="1350" dirty="0"/>
          </a:p>
        </p:txBody>
      </p:sp>
      <p:sp>
        <p:nvSpPr>
          <p:cNvPr id="8" name="Text 6"/>
          <p:cNvSpPr/>
          <p:nvPr/>
        </p:nvSpPr>
        <p:spPr>
          <a:xfrm>
            <a:off x="746503" y="2960688"/>
            <a:ext cx="10698689" cy="406598"/>
          </a:xfrm>
          <a:prstGeom prst="rect">
            <a:avLst/>
          </a:prstGeom>
          <a:noFill/>
          <a:ln/>
        </p:spPr>
        <p:txBody>
          <a:bodyPr wrap="square" lIns="0" tIns="0" rIns="0" bIns="0" rtlCol="0" anchor="t">
            <a:normAutofit/>
          </a:bodyPr>
          <a:lstStyle/>
          <a:p>
            <a:pPr marL="0" indent="0" algn="l">
              <a:lnSpc>
                <a:spcPct val="122000"/>
              </a:lnSpc>
              <a:buNone/>
            </a:pPr>
            <a:r>
              <a:rPr lang="en-US" sz="1050" dirty="0">
                <a:solidFill>
                  <a:srgbClr val="454240"/>
                </a:solidFill>
                <a:latin typeface="DM Sans" pitchFamily="34" charset="0"/>
                <a:ea typeface="DM Sans" pitchFamily="34" charset="-122"/>
                <a:cs typeface="DM Sans" pitchFamily="34" charset="-120"/>
              </a:rPr>
              <a:t>Recall from Part 1: text is split into tokens, each token becomes an ID, each ID is looked up in an embedding table to produce a row of meaning-numbers. The same idea works for images, audio, and other media — just with different tokenisation rules:</a:t>
            </a:r>
            <a:endParaRPr lang="en-US" sz="1050" dirty="0"/>
          </a:p>
        </p:txBody>
      </p:sp>
      <p:sp>
        <p:nvSpPr>
          <p:cNvPr id="9" name="Shape 7"/>
          <p:cNvSpPr/>
          <p:nvPr/>
        </p:nvSpPr>
        <p:spPr>
          <a:xfrm>
            <a:off x="746503" y="3497461"/>
            <a:ext cx="3489039" cy="1918990"/>
          </a:xfrm>
          <a:prstGeom prst="roundRect">
            <a:avLst>
              <a:gd name="adj" fmla="val 3029"/>
            </a:avLst>
          </a:prstGeom>
          <a:solidFill>
            <a:srgbClr val="F7EDD4"/>
          </a:solidFill>
          <a:ln w="6350">
            <a:solidFill>
              <a:srgbClr val="DDD3BA"/>
            </a:solidFill>
            <a:prstDash val="solid"/>
          </a:ln>
        </p:spPr>
      </p:sp>
      <p:sp>
        <p:nvSpPr>
          <p:cNvPr id="10" name="Shape 8"/>
          <p:cNvSpPr/>
          <p:nvPr/>
        </p:nvSpPr>
        <p:spPr>
          <a:xfrm>
            <a:off x="891161" y="3642122"/>
            <a:ext cx="415121" cy="415131"/>
          </a:xfrm>
          <a:prstGeom prst="roundRect">
            <a:avLst>
              <a:gd name="adj" fmla="val 18353799"/>
            </a:avLst>
          </a:prstGeom>
          <a:solidFill>
            <a:srgbClr val="B88E23"/>
          </a:solidFill>
          <a:ln/>
        </p:spPr>
      </p:sp>
      <p:pic>
        <p:nvPicPr>
          <p:cNvPr id="11"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05358" y="3756223"/>
            <a:ext cx="186725" cy="186730"/>
          </a:xfrm>
          <a:prstGeom prst="rect">
            <a:avLst/>
          </a:prstGeom>
        </p:spPr>
      </p:pic>
      <p:sp>
        <p:nvSpPr>
          <p:cNvPr id="12" name="Text 9"/>
          <p:cNvSpPr/>
          <p:nvPr/>
        </p:nvSpPr>
        <p:spPr>
          <a:xfrm>
            <a:off x="891161" y="4173041"/>
            <a:ext cx="1729736" cy="216098"/>
          </a:xfrm>
          <a:prstGeom prst="rect">
            <a:avLst/>
          </a:prstGeom>
          <a:noFill/>
          <a:ln/>
        </p:spPr>
        <p:txBody>
          <a:bodyPr wrap="none" lIns="0" tIns="0" rIns="0" bIns="0" rtlCol="0" anchor="t"/>
          <a:lstStyle/>
          <a:p>
            <a:pPr marL="0" indent="0" algn="l">
              <a:lnSpc>
                <a:spcPct val="104000"/>
              </a:lnSpc>
              <a:buNone/>
            </a:pPr>
            <a:r>
              <a:rPr lang="en-US" sz="1350" dirty="0">
                <a:solidFill>
                  <a:srgbClr val="454240"/>
                </a:solidFill>
                <a:latin typeface="Libre Baskerville" pitchFamily="34" charset="0"/>
                <a:ea typeface="Libre Baskerville" pitchFamily="34" charset="-122"/>
                <a:cs typeface="Libre Baskerville" pitchFamily="34" charset="-120"/>
              </a:rPr>
              <a:t>Images</a:t>
            </a:r>
            <a:endParaRPr lang="en-US" sz="1350" dirty="0"/>
          </a:p>
        </p:txBody>
      </p:sp>
      <p:sp>
        <p:nvSpPr>
          <p:cNvPr id="13" name="Text 10"/>
          <p:cNvSpPr/>
          <p:nvPr/>
        </p:nvSpPr>
        <p:spPr>
          <a:xfrm>
            <a:off x="891161" y="4458593"/>
            <a:ext cx="3199725" cy="813197"/>
          </a:xfrm>
          <a:prstGeom prst="rect">
            <a:avLst/>
          </a:prstGeom>
          <a:noFill/>
          <a:ln/>
        </p:spPr>
        <p:txBody>
          <a:bodyPr wrap="square" lIns="0" tIns="0" rIns="0" bIns="0" rtlCol="0" anchor="t">
            <a:normAutofit/>
          </a:bodyPr>
          <a:lstStyle/>
          <a:p>
            <a:pPr marL="0" indent="0" algn="l">
              <a:lnSpc>
                <a:spcPct val="122000"/>
              </a:lnSpc>
              <a:buNone/>
            </a:pPr>
            <a:r>
              <a:rPr lang="en-US" sz="1050" dirty="0">
                <a:solidFill>
                  <a:srgbClr val="454240"/>
                </a:solidFill>
                <a:latin typeface="DM Sans" pitchFamily="34" charset="0"/>
                <a:ea typeface="DM Sans" pitchFamily="34" charset="-122"/>
                <a:cs typeface="DM Sans" pitchFamily="34" charset="-120"/>
              </a:rPr>
              <a:t>Split into small </a:t>
            </a:r>
            <a:r>
              <a:rPr lang="en-US" sz="1050" b="1" dirty="0">
                <a:solidFill>
                  <a:srgbClr val="454240"/>
                </a:solidFill>
                <a:latin typeface="DM Sans" pitchFamily="34" charset="0"/>
                <a:ea typeface="DM Sans" pitchFamily="34" charset="-122"/>
                <a:cs typeface="DM Sans" pitchFamily="34" charset="-120"/>
              </a:rPr>
              <a:t>patches</a:t>
            </a:r>
            <a:r>
              <a:rPr lang="en-US" sz="1050" dirty="0">
                <a:solidFill>
                  <a:srgbClr val="454240"/>
                </a:solidFill>
                <a:latin typeface="DM Sans" pitchFamily="34" charset="0"/>
                <a:ea typeface="DM Sans" pitchFamily="34" charset="-122"/>
                <a:cs typeface="DM Sans" pitchFamily="34" charset="-120"/>
              </a:rPr>
              <a:t> (typically 14×14 or 16×16 pixels). Each patch is converted into a row of numbers by a </a:t>
            </a:r>
            <a:r>
              <a:rPr lang="en-US" sz="1050" b="1" dirty="0">
                <a:solidFill>
                  <a:srgbClr val="454240"/>
                </a:solidFill>
                <a:latin typeface="DM Sans" pitchFamily="34" charset="0"/>
                <a:ea typeface="DM Sans" pitchFamily="34" charset="-122"/>
                <a:cs typeface="DM Sans" pitchFamily="34" charset="-120"/>
              </a:rPr>
              <a:t>vision encoder</a:t>
            </a:r>
            <a:r>
              <a:rPr lang="en-US" sz="1050" dirty="0">
                <a:solidFill>
                  <a:srgbClr val="454240"/>
                </a:solidFill>
                <a:latin typeface="DM Sans" pitchFamily="34" charset="0"/>
                <a:ea typeface="DM Sans" pitchFamily="34" charset="-122"/>
                <a:cs typeface="DM Sans" pitchFamily="34" charset="-120"/>
              </a:rPr>
              <a:t>. Those rows become tokens in the context window.</a:t>
            </a:r>
            <a:endParaRPr lang="en-US" sz="1050" dirty="0"/>
          </a:p>
        </p:txBody>
      </p:sp>
      <p:sp>
        <p:nvSpPr>
          <p:cNvPr id="14" name="Shape 11"/>
          <p:cNvSpPr/>
          <p:nvPr/>
        </p:nvSpPr>
        <p:spPr>
          <a:xfrm>
            <a:off x="4351328" y="3497461"/>
            <a:ext cx="3489039" cy="1918990"/>
          </a:xfrm>
          <a:prstGeom prst="roundRect">
            <a:avLst>
              <a:gd name="adj" fmla="val 3029"/>
            </a:avLst>
          </a:prstGeom>
          <a:solidFill>
            <a:srgbClr val="F7EDD4"/>
          </a:solidFill>
          <a:ln w="6350">
            <a:solidFill>
              <a:srgbClr val="DDD3BA"/>
            </a:solidFill>
            <a:prstDash val="solid"/>
          </a:ln>
        </p:spPr>
      </p:sp>
      <p:sp>
        <p:nvSpPr>
          <p:cNvPr id="15" name="Shape 12"/>
          <p:cNvSpPr/>
          <p:nvPr/>
        </p:nvSpPr>
        <p:spPr>
          <a:xfrm>
            <a:off x="4495985" y="3642122"/>
            <a:ext cx="415121" cy="415131"/>
          </a:xfrm>
          <a:prstGeom prst="roundRect">
            <a:avLst>
              <a:gd name="adj" fmla="val 18353799"/>
            </a:avLst>
          </a:prstGeom>
          <a:solidFill>
            <a:srgbClr val="B88E23"/>
          </a:solidFill>
          <a:ln/>
        </p:spPr>
      </p:sp>
      <p:pic>
        <p:nvPicPr>
          <p:cNvPr id="1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10183" y="3756223"/>
            <a:ext cx="186725" cy="186730"/>
          </a:xfrm>
          <a:prstGeom prst="rect">
            <a:avLst/>
          </a:prstGeom>
        </p:spPr>
      </p:pic>
      <p:sp>
        <p:nvSpPr>
          <p:cNvPr id="17" name="Text 13"/>
          <p:cNvSpPr/>
          <p:nvPr/>
        </p:nvSpPr>
        <p:spPr>
          <a:xfrm>
            <a:off x="4495985" y="4173041"/>
            <a:ext cx="1729736" cy="216098"/>
          </a:xfrm>
          <a:prstGeom prst="rect">
            <a:avLst/>
          </a:prstGeom>
          <a:noFill/>
          <a:ln/>
        </p:spPr>
        <p:txBody>
          <a:bodyPr wrap="none" lIns="0" tIns="0" rIns="0" bIns="0" rtlCol="0" anchor="t"/>
          <a:lstStyle/>
          <a:p>
            <a:pPr marL="0" indent="0" algn="l">
              <a:lnSpc>
                <a:spcPct val="104000"/>
              </a:lnSpc>
              <a:buNone/>
            </a:pPr>
            <a:r>
              <a:rPr lang="en-US" sz="1350" dirty="0">
                <a:solidFill>
                  <a:srgbClr val="454240"/>
                </a:solidFill>
                <a:latin typeface="Libre Baskerville" pitchFamily="34" charset="0"/>
                <a:ea typeface="Libre Baskerville" pitchFamily="34" charset="-122"/>
                <a:cs typeface="Libre Baskerville" pitchFamily="34" charset="-120"/>
              </a:rPr>
              <a:t>Audio</a:t>
            </a:r>
            <a:endParaRPr lang="en-US" sz="1350" dirty="0"/>
          </a:p>
        </p:txBody>
      </p:sp>
      <p:sp>
        <p:nvSpPr>
          <p:cNvPr id="18" name="Text 14"/>
          <p:cNvSpPr/>
          <p:nvPr/>
        </p:nvSpPr>
        <p:spPr>
          <a:xfrm>
            <a:off x="4495985" y="4458593"/>
            <a:ext cx="3199725" cy="813197"/>
          </a:xfrm>
          <a:prstGeom prst="rect">
            <a:avLst/>
          </a:prstGeom>
          <a:noFill/>
          <a:ln/>
        </p:spPr>
        <p:txBody>
          <a:bodyPr wrap="square" lIns="0" tIns="0" rIns="0" bIns="0" rtlCol="0" anchor="t">
            <a:normAutofit/>
          </a:bodyPr>
          <a:lstStyle/>
          <a:p>
            <a:pPr marL="0" indent="0" algn="l">
              <a:lnSpc>
                <a:spcPct val="122000"/>
              </a:lnSpc>
              <a:buNone/>
            </a:pPr>
            <a:r>
              <a:rPr lang="en-US" sz="1050" dirty="0">
                <a:solidFill>
                  <a:srgbClr val="454240"/>
                </a:solidFill>
                <a:latin typeface="DM Sans" pitchFamily="34" charset="0"/>
                <a:ea typeface="DM Sans" pitchFamily="34" charset="-122"/>
                <a:cs typeface="DM Sans" pitchFamily="34" charset="-120"/>
              </a:rPr>
              <a:t>Split into short </a:t>
            </a:r>
            <a:r>
              <a:rPr lang="en-US" sz="1050" b="1" dirty="0">
                <a:solidFill>
                  <a:srgbClr val="454240"/>
                </a:solidFill>
                <a:latin typeface="DM Sans" pitchFamily="34" charset="0"/>
                <a:ea typeface="DM Sans" pitchFamily="34" charset="-122"/>
                <a:cs typeface="DM Sans" pitchFamily="34" charset="-120"/>
              </a:rPr>
              <a:t>frames</a:t>
            </a:r>
            <a:r>
              <a:rPr lang="en-US" sz="1050" dirty="0">
                <a:solidFill>
                  <a:srgbClr val="454240"/>
                </a:solidFill>
                <a:latin typeface="DM Sans" pitchFamily="34" charset="0"/>
                <a:ea typeface="DM Sans" pitchFamily="34" charset="-122"/>
                <a:cs typeface="DM Sans" pitchFamily="34" charset="-120"/>
              </a:rPr>
              <a:t> (typically 25 milliseconds each). Each frame is converted into a row of numbers by an audio encoder. Those become tokens too.</a:t>
            </a:r>
            <a:endParaRPr lang="en-US" sz="1050" dirty="0"/>
          </a:p>
        </p:txBody>
      </p:sp>
      <p:sp>
        <p:nvSpPr>
          <p:cNvPr id="19" name="Shape 15"/>
          <p:cNvSpPr/>
          <p:nvPr/>
        </p:nvSpPr>
        <p:spPr>
          <a:xfrm>
            <a:off x="7956153" y="3497461"/>
            <a:ext cx="3489039" cy="1918990"/>
          </a:xfrm>
          <a:prstGeom prst="roundRect">
            <a:avLst>
              <a:gd name="adj" fmla="val 3029"/>
            </a:avLst>
          </a:prstGeom>
          <a:solidFill>
            <a:srgbClr val="F7EDD4"/>
          </a:solidFill>
          <a:ln w="6350">
            <a:solidFill>
              <a:srgbClr val="DDD3BA"/>
            </a:solidFill>
            <a:prstDash val="solid"/>
          </a:ln>
        </p:spPr>
      </p:sp>
      <p:sp>
        <p:nvSpPr>
          <p:cNvPr id="20" name="Shape 16"/>
          <p:cNvSpPr/>
          <p:nvPr/>
        </p:nvSpPr>
        <p:spPr>
          <a:xfrm>
            <a:off x="8100810" y="3642122"/>
            <a:ext cx="415121" cy="415131"/>
          </a:xfrm>
          <a:prstGeom prst="roundRect">
            <a:avLst>
              <a:gd name="adj" fmla="val 18353799"/>
            </a:avLst>
          </a:prstGeom>
          <a:solidFill>
            <a:srgbClr val="B88E23"/>
          </a:solidFill>
          <a:ln/>
        </p:spPr>
      </p:sp>
      <p:pic>
        <p:nvPicPr>
          <p:cNvPr id="21"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215008" y="3756223"/>
            <a:ext cx="186725" cy="186730"/>
          </a:xfrm>
          <a:prstGeom prst="rect">
            <a:avLst/>
          </a:prstGeom>
        </p:spPr>
      </p:pic>
      <p:sp>
        <p:nvSpPr>
          <p:cNvPr id="22" name="Text 17"/>
          <p:cNvSpPr/>
          <p:nvPr/>
        </p:nvSpPr>
        <p:spPr>
          <a:xfrm>
            <a:off x="8100810" y="4173041"/>
            <a:ext cx="1729736" cy="216098"/>
          </a:xfrm>
          <a:prstGeom prst="rect">
            <a:avLst/>
          </a:prstGeom>
          <a:noFill/>
          <a:ln/>
        </p:spPr>
        <p:txBody>
          <a:bodyPr wrap="none" lIns="0" tIns="0" rIns="0" bIns="0" rtlCol="0" anchor="t"/>
          <a:lstStyle/>
          <a:p>
            <a:pPr marL="0" indent="0" algn="l">
              <a:lnSpc>
                <a:spcPct val="104000"/>
              </a:lnSpc>
              <a:buNone/>
            </a:pPr>
            <a:r>
              <a:rPr lang="en-US" sz="1350" dirty="0">
                <a:solidFill>
                  <a:srgbClr val="454240"/>
                </a:solidFill>
                <a:latin typeface="Libre Baskerville" pitchFamily="34" charset="0"/>
                <a:ea typeface="Libre Baskerville" pitchFamily="34" charset="-122"/>
                <a:cs typeface="Libre Baskerville" pitchFamily="34" charset="-120"/>
              </a:rPr>
              <a:t>PDFs</a:t>
            </a:r>
            <a:endParaRPr lang="en-US" sz="1350" dirty="0"/>
          </a:p>
        </p:txBody>
      </p:sp>
      <p:sp>
        <p:nvSpPr>
          <p:cNvPr id="23" name="Text 18"/>
          <p:cNvSpPr/>
          <p:nvPr/>
        </p:nvSpPr>
        <p:spPr>
          <a:xfrm>
            <a:off x="8100810" y="4458593"/>
            <a:ext cx="3199725" cy="609898"/>
          </a:xfrm>
          <a:prstGeom prst="rect">
            <a:avLst/>
          </a:prstGeom>
          <a:noFill/>
          <a:ln/>
        </p:spPr>
        <p:txBody>
          <a:bodyPr wrap="square" lIns="0" tIns="0" rIns="0" bIns="0" rtlCol="0" anchor="t">
            <a:normAutofit/>
          </a:bodyPr>
          <a:lstStyle/>
          <a:p>
            <a:pPr marL="0" indent="0" algn="l">
              <a:lnSpc>
                <a:spcPct val="122000"/>
              </a:lnSpc>
              <a:buNone/>
            </a:pPr>
            <a:r>
              <a:rPr lang="en-US" sz="1050" dirty="0">
                <a:solidFill>
                  <a:srgbClr val="454240"/>
                </a:solidFill>
                <a:latin typeface="DM Sans" pitchFamily="34" charset="0"/>
                <a:ea typeface="DM Sans" pitchFamily="34" charset="-122"/>
                <a:cs typeface="DM Sans" pitchFamily="34" charset="-120"/>
              </a:rPr>
              <a:t>Usually a hybrid — text gets extracted and tokenised normally, and any embedded images or scanned pages are tokenised as images.</a:t>
            </a:r>
            <a:endParaRPr lang="en-US" sz="1050" dirty="0"/>
          </a:p>
        </p:txBody>
      </p:sp>
      <p:sp>
        <p:nvSpPr>
          <p:cNvPr id="24" name="Shape 19"/>
          <p:cNvSpPr/>
          <p:nvPr/>
        </p:nvSpPr>
        <p:spPr>
          <a:xfrm>
            <a:off x="746503" y="5546626"/>
            <a:ext cx="10698689" cy="684014"/>
          </a:xfrm>
          <a:prstGeom prst="roundRect">
            <a:avLst>
              <a:gd name="adj" fmla="val 8497"/>
            </a:avLst>
          </a:prstGeom>
          <a:solidFill>
            <a:srgbClr val="F3E4BF"/>
          </a:solidFill>
          <a:ln/>
        </p:spPr>
      </p:sp>
      <p:pic>
        <p:nvPicPr>
          <p:cNvPr id="25" name="Image 3" descr="preencoded.png"/>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884811" y="5738118"/>
            <a:ext cx="172934" cy="138311"/>
          </a:xfrm>
          <a:prstGeom prst="rect">
            <a:avLst/>
          </a:prstGeom>
        </p:spPr>
      </p:pic>
      <p:sp>
        <p:nvSpPr>
          <p:cNvPr id="26" name="Text 20"/>
          <p:cNvSpPr/>
          <p:nvPr/>
        </p:nvSpPr>
        <p:spPr>
          <a:xfrm>
            <a:off x="1196052" y="5685334"/>
            <a:ext cx="10110832" cy="406598"/>
          </a:xfrm>
          <a:prstGeom prst="rect">
            <a:avLst/>
          </a:prstGeom>
          <a:noFill/>
          <a:ln/>
        </p:spPr>
        <p:txBody>
          <a:bodyPr wrap="square" lIns="0" tIns="0" rIns="0" bIns="0" rtlCol="0" anchor="t">
            <a:normAutofit/>
          </a:bodyPr>
          <a:lstStyle/>
          <a:p>
            <a:pPr marL="0" indent="0" algn="l">
              <a:lnSpc>
                <a:spcPct val="122000"/>
              </a:lnSpc>
              <a:buNone/>
            </a:pPr>
            <a:r>
              <a:rPr lang="en-US" sz="1050" b="1" dirty="0">
                <a:solidFill>
                  <a:srgbClr val="000000"/>
                </a:solidFill>
                <a:latin typeface="DM Sans" pitchFamily="34" charset="0"/>
                <a:ea typeface="DM Sans" pitchFamily="34" charset="-122"/>
                <a:cs typeface="DM Sans" pitchFamily="34" charset="-120"/>
              </a:rPr>
              <a:t>The deep idea:</a:t>
            </a:r>
            <a:r>
              <a:rPr lang="en-US" sz="1050" dirty="0">
                <a:solidFill>
                  <a:srgbClr val="000000"/>
                </a:solidFill>
                <a:latin typeface="DM Sans" pitchFamily="34" charset="0"/>
                <a:ea typeface="DM Sans" pitchFamily="34" charset="-122"/>
                <a:cs typeface="DM Sans" pitchFamily="34" charset="-120"/>
              </a:rPr>
              <a:t> Once everything is "a row of numbers in the context window," the model doesn't care where those numbers came from. Attention works the same way across words, image patches, and audio frames — all in the same sentence of thought.</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574" y="1044773"/>
            <a:ext cx="8718332" cy="516731"/>
          </a:xfrm>
          <a:prstGeom prst="rect">
            <a:avLst/>
          </a:prstGeom>
          <a:noFill/>
          <a:ln/>
        </p:spPr>
        <p:txBody>
          <a:bodyPr wrap="none" lIns="0" tIns="0" rIns="0" bIns="0" rtlCol="0" anchor="t"/>
          <a:lstStyle/>
          <a:p>
            <a:pPr marL="0" indent="0" algn="l">
              <a:lnSpc>
                <a:spcPct val="104000"/>
              </a:lnSpc>
              <a:buNone/>
            </a:pPr>
            <a:r>
              <a:rPr lang="en-US" sz="3250" dirty="0">
                <a:solidFill>
                  <a:srgbClr val="5C4E3D"/>
                </a:solidFill>
                <a:latin typeface="Libre Baskerville" pitchFamily="34" charset="0"/>
                <a:ea typeface="Libre Baskerville" pitchFamily="34" charset="-122"/>
                <a:cs typeface="Libre Baskerville" pitchFamily="34" charset="-120"/>
              </a:rPr>
              <a:t>A Concrete Example: The PDF Upload</a:t>
            </a:r>
            <a:endParaRPr lang="en-US" sz="3250" dirty="0"/>
          </a:p>
        </p:txBody>
      </p:sp>
      <p:sp>
        <p:nvSpPr>
          <p:cNvPr id="3" name="Text 1"/>
          <p:cNvSpPr/>
          <p:nvPr/>
        </p:nvSpPr>
        <p:spPr>
          <a:xfrm>
            <a:off x="661574" y="1892201"/>
            <a:ext cx="11478132" cy="264616"/>
          </a:xfrm>
          <a:prstGeom prst="rect">
            <a:avLst/>
          </a:prstGeom>
          <a:noFill/>
          <a:ln/>
        </p:spPr>
        <p:txBody>
          <a:bodyPr wrap="none" lIns="0" tIns="0" rIns="0" bIns="0" rtlCol="0" anchor="t"/>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An advisor uploads a client's quarterly statement (a PDF) and asks: </a:t>
            </a:r>
            <a:r>
              <a:rPr lang="en-US" sz="1300" i="1" dirty="0">
                <a:solidFill>
                  <a:srgbClr val="454240"/>
                </a:solidFill>
                <a:latin typeface="DM Sans" pitchFamily="34" charset="0"/>
                <a:ea typeface="DM Sans" pitchFamily="34" charset="-122"/>
                <a:cs typeface="DM Sans" pitchFamily="34" charset="-120"/>
              </a:rPr>
              <a:t>"What's the EM equity exposure on page 3?"</a:t>
            </a:r>
            <a:endParaRPr lang="en-US" sz="1300" dirty="0"/>
          </a:p>
        </p:txBody>
      </p:sp>
      <p:sp>
        <p:nvSpPr>
          <p:cNvPr id="4" name="Shape 2"/>
          <p:cNvSpPr/>
          <p:nvPr/>
        </p:nvSpPr>
        <p:spPr>
          <a:xfrm>
            <a:off x="661574" y="2342852"/>
            <a:ext cx="3512653" cy="1784846"/>
          </a:xfrm>
          <a:prstGeom prst="roundRect">
            <a:avLst>
              <a:gd name="adj" fmla="val 3892"/>
            </a:avLst>
          </a:prstGeom>
          <a:solidFill>
            <a:srgbClr val="FFFDFA"/>
          </a:solidFill>
          <a:ln w="19050">
            <a:solidFill>
              <a:srgbClr val="DDD3BA"/>
            </a:solidFill>
            <a:prstDash val="solid"/>
          </a:ln>
        </p:spPr>
      </p:sp>
      <p:sp>
        <p:nvSpPr>
          <p:cNvPr id="5" name="Text 3"/>
          <p:cNvSpPr/>
          <p:nvPr/>
        </p:nvSpPr>
        <p:spPr>
          <a:xfrm>
            <a:off x="845918" y="2527201"/>
            <a:ext cx="2067369" cy="258465"/>
          </a:xfrm>
          <a:prstGeom prst="rect">
            <a:avLst/>
          </a:prstGeom>
          <a:noFill/>
          <a:ln/>
        </p:spPr>
        <p:txBody>
          <a:bodyPr wrap="none" lIns="0" tIns="0" rIns="0" bIns="0" rtlCol="0" anchor="t"/>
          <a:lstStyle/>
          <a:p>
            <a:pPr marL="0" indent="0" algn="l">
              <a:lnSpc>
                <a:spcPct val="104000"/>
              </a:lnSpc>
              <a:buNone/>
            </a:pPr>
            <a:r>
              <a:rPr lang="en-US" sz="1600" dirty="0">
                <a:solidFill>
                  <a:srgbClr val="454240"/>
                </a:solidFill>
                <a:latin typeface="Libre Baskerville" pitchFamily="34" charset="0"/>
                <a:ea typeface="Libre Baskerville" pitchFamily="34" charset="-122"/>
                <a:cs typeface="Libre Baskerville" pitchFamily="34" charset="-120"/>
              </a:rPr>
              <a:t>PDF Parsing</a:t>
            </a:r>
            <a:endParaRPr lang="en-US" sz="1600" dirty="0"/>
          </a:p>
        </p:txBody>
      </p:sp>
      <p:sp>
        <p:nvSpPr>
          <p:cNvPr id="6" name="Text 4"/>
          <p:cNvSpPr/>
          <p:nvPr/>
        </p:nvSpPr>
        <p:spPr>
          <a:xfrm>
            <a:off x="845918" y="2884884"/>
            <a:ext cx="3143965"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The PDF is parsed. Text on each page is tokenised normally.</a:t>
            </a:r>
            <a:endParaRPr lang="en-US" sz="1300" dirty="0"/>
          </a:p>
        </p:txBody>
      </p:sp>
      <p:sp>
        <p:nvSpPr>
          <p:cNvPr id="7" name="Shape 5"/>
          <p:cNvSpPr/>
          <p:nvPr/>
        </p:nvSpPr>
        <p:spPr>
          <a:xfrm>
            <a:off x="4339521" y="2342852"/>
            <a:ext cx="3512653" cy="1784846"/>
          </a:xfrm>
          <a:prstGeom prst="roundRect">
            <a:avLst>
              <a:gd name="adj" fmla="val 3892"/>
            </a:avLst>
          </a:prstGeom>
          <a:solidFill>
            <a:srgbClr val="FFFDFA"/>
          </a:solidFill>
          <a:ln w="19050">
            <a:solidFill>
              <a:srgbClr val="DDD3BA"/>
            </a:solidFill>
            <a:prstDash val="solid"/>
          </a:ln>
        </p:spPr>
      </p:sp>
      <p:sp>
        <p:nvSpPr>
          <p:cNvPr id="8" name="Text 6"/>
          <p:cNvSpPr/>
          <p:nvPr/>
        </p:nvSpPr>
        <p:spPr>
          <a:xfrm>
            <a:off x="4523865" y="2527201"/>
            <a:ext cx="2067369" cy="258465"/>
          </a:xfrm>
          <a:prstGeom prst="rect">
            <a:avLst/>
          </a:prstGeom>
          <a:noFill/>
          <a:ln/>
        </p:spPr>
        <p:txBody>
          <a:bodyPr wrap="none" lIns="0" tIns="0" rIns="0" bIns="0" rtlCol="0" anchor="t"/>
          <a:lstStyle/>
          <a:p>
            <a:pPr marL="0" indent="0" algn="l">
              <a:lnSpc>
                <a:spcPct val="104000"/>
              </a:lnSpc>
              <a:buNone/>
            </a:pPr>
            <a:r>
              <a:rPr lang="en-US" sz="1600" dirty="0">
                <a:solidFill>
                  <a:srgbClr val="454240"/>
                </a:solidFill>
                <a:latin typeface="Libre Baskerville" pitchFamily="34" charset="0"/>
                <a:ea typeface="Libre Baskerville" pitchFamily="34" charset="-122"/>
                <a:cs typeface="Libre Baskerville" pitchFamily="34" charset="-120"/>
              </a:rPr>
              <a:t>Vision Encoding</a:t>
            </a:r>
            <a:endParaRPr lang="en-US" sz="1600" dirty="0"/>
          </a:p>
        </p:txBody>
      </p:sp>
      <p:sp>
        <p:nvSpPr>
          <p:cNvPr id="9" name="Text 7"/>
          <p:cNvSpPr/>
          <p:nvPr/>
        </p:nvSpPr>
        <p:spPr>
          <a:xfrm>
            <a:off x="4523865" y="2884884"/>
            <a:ext cx="3143965" cy="793849"/>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Page 3 contains a pie chart. The chart image is split into patches and tokenised by the vision encoder.</a:t>
            </a:r>
            <a:endParaRPr lang="en-US" sz="1300" dirty="0"/>
          </a:p>
        </p:txBody>
      </p:sp>
      <p:sp>
        <p:nvSpPr>
          <p:cNvPr id="10" name="Shape 8"/>
          <p:cNvSpPr/>
          <p:nvPr/>
        </p:nvSpPr>
        <p:spPr>
          <a:xfrm>
            <a:off x="8017468" y="2342852"/>
            <a:ext cx="3512653" cy="1784846"/>
          </a:xfrm>
          <a:prstGeom prst="roundRect">
            <a:avLst>
              <a:gd name="adj" fmla="val 3892"/>
            </a:avLst>
          </a:prstGeom>
          <a:solidFill>
            <a:srgbClr val="FFFDFA"/>
          </a:solidFill>
          <a:ln w="19050">
            <a:solidFill>
              <a:srgbClr val="DDD3BA"/>
            </a:solidFill>
            <a:prstDash val="solid"/>
          </a:ln>
        </p:spPr>
      </p:sp>
      <p:sp>
        <p:nvSpPr>
          <p:cNvPr id="11" name="Text 9"/>
          <p:cNvSpPr/>
          <p:nvPr/>
        </p:nvSpPr>
        <p:spPr>
          <a:xfrm>
            <a:off x="8201812" y="2527201"/>
            <a:ext cx="2067369" cy="258465"/>
          </a:xfrm>
          <a:prstGeom prst="rect">
            <a:avLst/>
          </a:prstGeom>
          <a:noFill/>
          <a:ln/>
        </p:spPr>
        <p:txBody>
          <a:bodyPr wrap="none" lIns="0" tIns="0" rIns="0" bIns="0" rtlCol="0" anchor="t"/>
          <a:lstStyle/>
          <a:p>
            <a:pPr marL="0" indent="0" algn="l">
              <a:lnSpc>
                <a:spcPct val="104000"/>
              </a:lnSpc>
              <a:buNone/>
            </a:pPr>
            <a:r>
              <a:rPr lang="en-US" sz="1600" dirty="0">
                <a:solidFill>
                  <a:srgbClr val="454240"/>
                </a:solidFill>
                <a:latin typeface="Libre Baskerville" pitchFamily="34" charset="0"/>
                <a:ea typeface="Libre Baskerville" pitchFamily="34" charset="-122"/>
                <a:cs typeface="Libre Baskerville" pitchFamily="34" charset="-120"/>
              </a:rPr>
              <a:t>Context Assembly</a:t>
            </a:r>
            <a:endParaRPr lang="en-US" sz="1600" dirty="0"/>
          </a:p>
        </p:txBody>
      </p:sp>
      <p:sp>
        <p:nvSpPr>
          <p:cNvPr id="12" name="Text 10"/>
          <p:cNvSpPr/>
          <p:nvPr/>
        </p:nvSpPr>
        <p:spPr>
          <a:xfrm>
            <a:off x="8201812" y="2884884"/>
            <a:ext cx="3143965" cy="1058466"/>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All tokens — text from all pages, image patches from the chart — go into the context window. The user's question is added at the end.</a:t>
            </a:r>
            <a:endParaRPr lang="en-US" sz="1300" dirty="0"/>
          </a:p>
        </p:txBody>
      </p:sp>
      <p:sp>
        <p:nvSpPr>
          <p:cNvPr id="13" name="Shape 11"/>
          <p:cNvSpPr/>
          <p:nvPr/>
        </p:nvSpPr>
        <p:spPr>
          <a:xfrm>
            <a:off x="661574" y="4292997"/>
            <a:ext cx="5351626" cy="1520230"/>
          </a:xfrm>
          <a:prstGeom prst="roundRect">
            <a:avLst>
              <a:gd name="adj" fmla="val 4569"/>
            </a:avLst>
          </a:prstGeom>
          <a:solidFill>
            <a:srgbClr val="FFFDFA"/>
          </a:solidFill>
          <a:ln w="19050">
            <a:solidFill>
              <a:srgbClr val="DDD3BA"/>
            </a:solidFill>
            <a:prstDash val="solid"/>
          </a:ln>
        </p:spPr>
      </p:sp>
      <p:sp>
        <p:nvSpPr>
          <p:cNvPr id="14" name="Text 12"/>
          <p:cNvSpPr/>
          <p:nvPr/>
        </p:nvSpPr>
        <p:spPr>
          <a:xfrm>
            <a:off x="845918" y="4477345"/>
            <a:ext cx="2406887" cy="258465"/>
          </a:xfrm>
          <a:prstGeom prst="rect">
            <a:avLst/>
          </a:prstGeom>
          <a:noFill/>
          <a:ln/>
        </p:spPr>
        <p:txBody>
          <a:bodyPr wrap="none" lIns="0" tIns="0" rIns="0" bIns="0" rtlCol="0" anchor="t"/>
          <a:lstStyle/>
          <a:p>
            <a:pPr marL="0" indent="0" algn="l">
              <a:lnSpc>
                <a:spcPct val="104000"/>
              </a:lnSpc>
              <a:buNone/>
            </a:pPr>
            <a:r>
              <a:rPr lang="en-US" sz="1600" dirty="0">
                <a:solidFill>
                  <a:srgbClr val="454240"/>
                </a:solidFill>
                <a:latin typeface="Libre Baskerville" pitchFamily="34" charset="0"/>
                <a:ea typeface="Libre Baskerville" pitchFamily="34" charset="-122"/>
                <a:cs typeface="Libre Baskerville" pitchFamily="34" charset="-120"/>
              </a:rPr>
              <a:t>Cross-Modal Attention</a:t>
            </a:r>
            <a:endParaRPr lang="en-US" sz="1600" dirty="0"/>
          </a:p>
        </p:txBody>
      </p:sp>
      <p:sp>
        <p:nvSpPr>
          <p:cNvPr id="15" name="Text 13"/>
          <p:cNvSpPr/>
          <p:nvPr/>
        </p:nvSpPr>
        <p:spPr>
          <a:xfrm>
            <a:off x="845918" y="4835029"/>
            <a:ext cx="4982939" cy="793849"/>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The model uses attention across </a:t>
            </a:r>
            <a:r>
              <a:rPr lang="en-US" sz="1300" b="1" dirty="0">
                <a:solidFill>
                  <a:srgbClr val="454240"/>
                </a:solidFill>
                <a:latin typeface="DM Sans" pitchFamily="34" charset="0"/>
                <a:ea typeface="DM Sans" pitchFamily="34" charset="-122"/>
                <a:cs typeface="DM Sans" pitchFamily="34" charset="-120"/>
              </a:rPr>
              <a:t>everything</a:t>
            </a:r>
            <a:r>
              <a:rPr lang="en-US" sz="1300" dirty="0">
                <a:solidFill>
                  <a:srgbClr val="454240"/>
                </a:solidFill>
                <a:latin typeface="DM Sans" pitchFamily="34" charset="0"/>
                <a:ea typeface="DM Sans" pitchFamily="34" charset="-122"/>
                <a:cs typeface="DM Sans" pitchFamily="34" charset="-120"/>
              </a:rPr>
              <a:t>: text and image patches alike. When attending to "page 3," it focuses on image tokens from that page.</a:t>
            </a:r>
            <a:endParaRPr lang="en-US" sz="1300" dirty="0"/>
          </a:p>
        </p:txBody>
      </p:sp>
      <p:sp>
        <p:nvSpPr>
          <p:cNvPr id="16" name="Shape 14"/>
          <p:cNvSpPr/>
          <p:nvPr/>
        </p:nvSpPr>
        <p:spPr>
          <a:xfrm>
            <a:off x="6178495" y="4292997"/>
            <a:ext cx="5351626" cy="1520230"/>
          </a:xfrm>
          <a:prstGeom prst="roundRect">
            <a:avLst>
              <a:gd name="adj" fmla="val 4569"/>
            </a:avLst>
          </a:prstGeom>
          <a:solidFill>
            <a:srgbClr val="FFFDFA"/>
          </a:solidFill>
          <a:ln w="19050">
            <a:solidFill>
              <a:srgbClr val="DDD3BA"/>
            </a:solidFill>
            <a:prstDash val="solid"/>
          </a:ln>
        </p:spPr>
      </p:sp>
      <p:sp>
        <p:nvSpPr>
          <p:cNvPr id="17" name="Text 15"/>
          <p:cNvSpPr/>
          <p:nvPr/>
        </p:nvSpPr>
        <p:spPr>
          <a:xfrm>
            <a:off x="6362838" y="4477345"/>
            <a:ext cx="2067369" cy="258465"/>
          </a:xfrm>
          <a:prstGeom prst="rect">
            <a:avLst/>
          </a:prstGeom>
          <a:noFill/>
          <a:ln/>
        </p:spPr>
        <p:txBody>
          <a:bodyPr wrap="none" lIns="0" tIns="0" rIns="0" bIns="0" rtlCol="0" anchor="t"/>
          <a:lstStyle/>
          <a:p>
            <a:pPr marL="0" indent="0" algn="l">
              <a:lnSpc>
                <a:spcPct val="104000"/>
              </a:lnSpc>
              <a:buNone/>
            </a:pPr>
            <a:r>
              <a:rPr lang="en-US" sz="1600" dirty="0">
                <a:solidFill>
                  <a:srgbClr val="454240"/>
                </a:solidFill>
                <a:latin typeface="Libre Baskerville" pitchFamily="34" charset="0"/>
                <a:ea typeface="Libre Baskerville" pitchFamily="34" charset="-122"/>
                <a:cs typeface="Libre Baskerville" pitchFamily="34" charset="-120"/>
              </a:rPr>
              <a:t>Answer Generation</a:t>
            </a:r>
            <a:endParaRPr lang="en-US" sz="1600" dirty="0"/>
          </a:p>
        </p:txBody>
      </p:sp>
      <p:sp>
        <p:nvSpPr>
          <p:cNvPr id="18" name="Text 16"/>
          <p:cNvSpPr/>
          <p:nvPr/>
        </p:nvSpPr>
        <p:spPr>
          <a:xfrm>
            <a:off x="6362838" y="4835029"/>
            <a:ext cx="4982939"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The model emits its answer — possibly with a tool call to verify the number against the portfolio system.</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619809" y="0"/>
            <a:ext cx="4571886" cy="6858000"/>
          </a:xfrm>
          <a:prstGeom prst="rect">
            <a:avLst/>
          </a:prstGeom>
        </p:spPr>
      </p:pic>
      <p:sp>
        <p:nvSpPr>
          <p:cNvPr id="3" name="Text 0"/>
          <p:cNvSpPr/>
          <p:nvPr/>
        </p:nvSpPr>
        <p:spPr>
          <a:xfrm>
            <a:off x="651156" y="631627"/>
            <a:ext cx="6050605" cy="483295"/>
          </a:xfrm>
          <a:prstGeom prst="rect">
            <a:avLst/>
          </a:prstGeom>
          <a:noFill/>
          <a:ln/>
        </p:spPr>
        <p:txBody>
          <a:bodyPr wrap="none" lIns="0" tIns="0" rIns="0" bIns="0" rtlCol="0" anchor="t"/>
          <a:lstStyle/>
          <a:p>
            <a:pPr marL="0" indent="0" algn="l">
              <a:lnSpc>
                <a:spcPct val="104000"/>
              </a:lnSpc>
              <a:buNone/>
            </a:pPr>
            <a:r>
              <a:rPr lang="en-US" sz="3000" dirty="0">
                <a:solidFill>
                  <a:srgbClr val="5C4E3D"/>
                </a:solidFill>
                <a:latin typeface="Libre Baskerville" pitchFamily="34" charset="0"/>
                <a:ea typeface="Libre Baskerville" pitchFamily="34" charset="-122"/>
                <a:cs typeface="Libre Baskerville" pitchFamily="34" charset="-120"/>
              </a:rPr>
              <a:t>The Limits Worth Knowing</a:t>
            </a:r>
            <a:endParaRPr lang="en-US" sz="3000" dirty="0"/>
          </a:p>
        </p:txBody>
      </p:sp>
      <p:pic>
        <p:nvPicPr>
          <p:cNvPr id="4"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32107" y="1331813"/>
            <a:ext cx="6336546" cy="1154509"/>
          </a:xfrm>
          <a:prstGeom prst="rect">
            <a:avLst/>
          </a:prstGeom>
        </p:spPr>
      </p:pic>
      <p:sp>
        <p:nvSpPr>
          <p:cNvPr id="5" name="Text 1"/>
          <p:cNvSpPr/>
          <p:nvPr/>
        </p:nvSpPr>
        <p:spPr>
          <a:xfrm>
            <a:off x="881933" y="1505446"/>
            <a:ext cx="3100112" cy="241697"/>
          </a:xfrm>
          <a:prstGeom prst="rect">
            <a:avLst/>
          </a:prstGeom>
          <a:noFill/>
          <a:ln/>
        </p:spPr>
        <p:txBody>
          <a:bodyPr wrap="none" lIns="0" tIns="0" rIns="0" bIns="0" rtlCol="0" anchor="t"/>
          <a:lstStyle/>
          <a:p>
            <a:pPr marL="0" indent="0" algn="l">
              <a:lnSpc>
                <a:spcPct val="104000"/>
              </a:lnSpc>
              <a:buNone/>
            </a:pPr>
            <a:r>
              <a:rPr lang="en-US" sz="1500" dirty="0">
                <a:solidFill>
                  <a:srgbClr val="454240"/>
                </a:solidFill>
                <a:latin typeface="Libre Baskerville" pitchFamily="34" charset="0"/>
                <a:ea typeface="Libre Baskerville" pitchFamily="34" charset="-122"/>
                <a:cs typeface="Libre Baskerville" pitchFamily="34" charset="-120"/>
              </a:rPr>
              <a:t>Images consume a lot of tokens</a:t>
            </a:r>
            <a:endParaRPr lang="en-US" sz="1500" dirty="0"/>
          </a:p>
        </p:txBody>
      </p:sp>
      <p:sp>
        <p:nvSpPr>
          <p:cNvPr id="6" name="Text 2"/>
          <p:cNvSpPr/>
          <p:nvPr/>
        </p:nvSpPr>
        <p:spPr>
          <a:xfrm>
            <a:off x="881933" y="1833860"/>
            <a:ext cx="5913091" cy="478830"/>
          </a:xfrm>
          <a:prstGeom prst="rect">
            <a:avLst/>
          </a:prstGeom>
          <a:noFill/>
          <a:ln/>
        </p:spPr>
        <p:txBody>
          <a:bodyPr wrap="square" lIns="0" tIns="0" rIns="0" bIns="0" rtlCol="0" anchor="t">
            <a:normAutofit/>
          </a:bodyPr>
          <a:lstStyle/>
          <a:p>
            <a:pPr marL="0" indent="0" algn="l">
              <a:lnSpc>
                <a:spcPct val="129000"/>
              </a:lnSpc>
              <a:buNone/>
            </a:pPr>
            <a:r>
              <a:rPr lang="en-US" sz="1200" dirty="0">
                <a:solidFill>
                  <a:srgbClr val="454240"/>
                </a:solidFill>
                <a:latin typeface="DM Sans" pitchFamily="34" charset="0"/>
                <a:ea typeface="DM Sans" pitchFamily="34" charset="-122"/>
                <a:cs typeface="DM Sans" pitchFamily="34" charset="-120"/>
              </a:rPr>
              <a:t>A single high-resolution image might be 1,000–3,000 tokens. A 20-page PDF with charts can easily eat 20,000+ tokens of your context window.</a:t>
            </a:r>
            <a:endParaRPr lang="en-US" sz="1200" dirty="0"/>
          </a:p>
        </p:txBody>
      </p:sp>
      <p:pic>
        <p:nvPicPr>
          <p:cNvPr id="7"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32107" y="2630884"/>
            <a:ext cx="6336546" cy="1154509"/>
          </a:xfrm>
          <a:prstGeom prst="rect">
            <a:avLst/>
          </a:prstGeom>
        </p:spPr>
      </p:pic>
      <p:sp>
        <p:nvSpPr>
          <p:cNvPr id="8" name="Text 3"/>
          <p:cNvSpPr/>
          <p:nvPr/>
        </p:nvSpPr>
        <p:spPr>
          <a:xfrm>
            <a:off x="881933" y="2804517"/>
            <a:ext cx="2915569" cy="241697"/>
          </a:xfrm>
          <a:prstGeom prst="rect">
            <a:avLst/>
          </a:prstGeom>
          <a:noFill/>
          <a:ln/>
        </p:spPr>
        <p:txBody>
          <a:bodyPr wrap="none" lIns="0" tIns="0" rIns="0" bIns="0" rtlCol="0" anchor="t"/>
          <a:lstStyle/>
          <a:p>
            <a:pPr marL="0" indent="0" algn="l">
              <a:lnSpc>
                <a:spcPct val="104000"/>
              </a:lnSpc>
              <a:buNone/>
            </a:pPr>
            <a:r>
              <a:rPr lang="en-US" sz="1500" dirty="0">
                <a:solidFill>
                  <a:srgbClr val="454240"/>
                </a:solidFill>
                <a:latin typeface="Libre Baskerville" pitchFamily="34" charset="0"/>
                <a:ea typeface="Libre Baskerville" pitchFamily="34" charset="-122"/>
                <a:cs typeface="Libre Baskerville" pitchFamily="34" charset="-120"/>
              </a:rPr>
              <a:t>Vision is still weaker than text</a:t>
            </a:r>
            <a:endParaRPr lang="en-US" sz="1500" dirty="0"/>
          </a:p>
        </p:txBody>
      </p:sp>
      <p:sp>
        <p:nvSpPr>
          <p:cNvPr id="9" name="Text 4"/>
          <p:cNvSpPr/>
          <p:nvPr/>
        </p:nvSpPr>
        <p:spPr>
          <a:xfrm>
            <a:off x="881933" y="3132931"/>
            <a:ext cx="5913091" cy="478830"/>
          </a:xfrm>
          <a:prstGeom prst="rect">
            <a:avLst/>
          </a:prstGeom>
          <a:noFill/>
          <a:ln/>
        </p:spPr>
        <p:txBody>
          <a:bodyPr wrap="square" lIns="0" tIns="0" rIns="0" bIns="0" rtlCol="0" anchor="t">
            <a:normAutofit/>
          </a:bodyPr>
          <a:lstStyle/>
          <a:p>
            <a:pPr marL="0" indent="0" algn="l">
              <a:lnSpc>
                <a:spcPct val="129000"/>
              </a:lnSpc>
              <a:buNone/>
            </a:pPr>
            <a:r>
              <a:rPr lang="en-US" sz="1200" dirty="0">
                <a:solidFill>
                  <a:srgbClr val="454240"/>
                </a:solidFill>
                <a:latin typeface="DM Sans" pitchFamily="34" charset="0"/>
                <a:ea typeface="DM Sans" pitchFamily="34" charset="-122"/>
                <a:cs typeface="DM Sans" pitchFamily="34" charset="-120"/>
              </a:rPr>
              <a:t>Models often misread small numbers in tables, mistake similar logos, or hallucinate details in busy images. Don't trust extracted numbers without verification.</a:t>
            </a:r>
            <a:endParaRPr lang="en-US" sz="1200" dirty="0"/>
          </a:p>
        </p:txBody>
      </p:sp>
      <p:pic>
        <p:nvPicPr>
          <p:cNvPr id="10" name="Image 3"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32107" y="3929955"/>
            <a:ext cx="6336546" cy="915095"/>
          </a:xfrm>
          <a:prstGeom prst="rect">
            <a:avLst/>
          </a:prstGeom>
        </p:spPr>
      </p:pic>
      <p:sp>
        <p:nvSpPr>
          <p:cNvPr id="11" name="Text 5"/>
          <p:cNvSpPr/>
          <p:nvPr/>
        </p:nvSpPr>
        <p:spPr>
          <a:xfrm>
            <a:off x="881933" y="4103588"/>
            <a:ext cx="4389625" cy="241697"/>
          </a:xfrm>
          <a:prstGeom prst="rect">
            <a:avLst/>
          </a:prstGeom>
          <a:noFill/>
          <a:ln/>
        </p:spPr>
        <p:txBody>
          <a:bodyPr wrap="none" lIns="0" tIns="0" rIns="0" bIns="0" rtlCol="0" anchor="t"/>
          <a:lstStyle/>
          <a:p>
            <a:pPr marL="0" indent="0" algn="l">
              <a:lnSpc>
                <a:spcPct val="104000"/>
              </a:lnSpc>
              <a:buNone/>
            </a:pPr>
            <a:r>
              <a:rPr lang="en-US" sz="1500" dirty="0">
                <a:solidFill>
                  <a:srgbClr val="454240"/>
                </a:solidFill>
                <a:latin typeface="Libre Baskerville" pitchFamily="34" charset="0"/>
                <a:ea typeface="Libre Baskerville" pitchFamily="34" charset="-122"/>
                <a:cs typeface="Libre Baskerville" pitchFamily="34" charset="-120"/>
              </a:rPr>
              <a:t>Audio and video are even more token-heavy</a:t>
            </a:r>
            <a:endParaRPr lang="en-US" sz="1500" dirty="0"/>
          </a:p>
        </p:txBody>
      </p:sp>
      <p:sp>
        <p:nvSpPr>
          <p:cNvPr id="12" name="Text 6"/>
          <p:cNvSpPr/>
          <p:nvPr/>
        </p:nvSpPr>
        <p:spPr>
          <a:xfrm>
            <a:off x="881933" y="4432002"/>
            <a:ext cx="5913091" cy="239415"/>
          </a:xfrm>
          <a:prstGeom prst="rect">
            <a:avLst/>
          </a:prstGeom>
          <a:noFill/>
          <a:ln/>
        </p:spPr>
        <p:txBody>
          <a:bodyPr wrap="none" lIns="0" tIns="0" rIns="0" bIns="0" rtlCol="0" anchor="t"/>
          <a:lstStyle/>
          <a:p>
            <a:pPr marL="0" indent="0" algn="l">
              <a:lnSpc>
                <a:spcPct val="129000"/>
              </a:lnSpc>
              <a:buNone/>
            </a:pPr>
            <a:r>
              <a:rPr lang="en-US" sz="1200" dirty="0">
                <a:solidFill>
                  <a:srgbClr val="454240"/>
                </a:solidFill>
                <a:latin typeface="DM Sans" pitchFamily="34" charset="0"/>
                <a:ea typeface="DM Sans" pitchFamily="34" charset="-122"/>
                <a:cs typeface="DM Sans" pitchFamily="34" charset="-120"/>
              </a:rPr>
              <a:t>A one-minute audio clip might be 1,500 tokens. A one-minute video, far more.</a:t>
            </a:r>
            <a:endParaRPr lang="en-US" sz="1200" dirty="0"/>
          </a:p>
        </p:txBody>
      </p:sp>
      <p:sp>
        <p:nvSpPr>
          <p:cNvPr id="13" name="Shape 7"/>
          <p:cNvSpPr/>
          <p:nvPr/>
        </p:nvSpPr>
        <p:spPr>
          <a:xfrm>
            <a:off x="651156" y="5007769"/>
            <a:ext cx="6317497" cy="1055787"/>
          </a:xfrm>
          <a:prstGeom prst="roundRect">
            <a:avLst>
              <a:gd name="adj" fmla="val 6153"/>
            </a:avLst>
          </a:prstGeom>
          <a:solidFill>
            <a:srgbClr val="F2F2F2"/>
          </a:solidFill>
          <a:ln/>
        </p:spPr>
      </p:sp>
      <p:pic>
        <p:nvPicPr>
          <p:cNvPr id="14" name="Image 4" descr="preencoded.png"/>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805735" y="5224363"/>
            <a:ext cx="193273" cy="154583"/>
          </a:xfrm>
          <a:prstGeom prst="rect">
            <a:avLst/>
          </a:prstGeom>
        </p:spPr>
      </p:pic>
      <p:sp>
        <p:nvSpPr>
          <p:cNvPr id="15" name="Text 8"/>
          <p:cNvSpPr/>
          <p:nvPr/>
        </p:nvSpPr>
        <p:spPr>
          <a:xfrm>
            <a:off x="1153588" y="5176540"/>
            <a:ext cx="5660487" cy="718245"/>
          </a:xfrm>
          <a:prstGeom prst="rect">
            <a:avLst/>
          </a:prstGeom>
          <a:noFill/>
          <a:ln/>
        </p:spPr>
        <p:txBody>
          <a:bodyPr wrap="square" lIns="0" tIns="0" rIns="0" bIns="0" rtlCol="0" anchor="t">
            <a:normAutofit/>
          </a:bodyPr>
          <a:lstStyle/>
          <a:p>
            <a:pPr marL="0" indent="0" algn="l">
              <a:lnSpc>
                <a:spcPct val="129000"/>
              </a:lnSpc>
              <a:buNone/>
            </a:pPr>
            <a:r>
              <a:rPr lang="en-US" sz="1200" b="1" dirty="0">
                <a:solidFill>
                  <a:srgbClr val="000000"/>
                </a:solidFill>
                <a:latin typeface="DM Sans" pitchFamily="34" charset="0"/>
                <a:ea typeface="DM Sans" pitchFamily="34" charset="-122"/>
                <a:cs typeface="DM Sans" pitchFamily="34" charset="-120"/>
              </a:rPr>
              <a:t>The mental model:</a:t>
            </a:r>
            <a:r>
              <a:rPr lang="en-US" sz="1200" dirty="0">
                <a:solidFill>
                  <a:srgbClr val="000000"/>
                </a:solidFill>
                <a:latin typeface="DM Sans" pitchFamily="34" charset="0"/>
                <a:ea typeface="DM Sans" pitchFamily="34" charset="-122"/>
                <a:cs typeface="DM Sans" pitchFamily="34" charset="-120"/>
              </a:rPr>
              <a:t> When you upload anything, ask yourself </a:t>
            </a:r>
            <a:r>
              <a:rPr lang="en-US" sz="1200" i="1" dirty="0">
                <a:solidFill>
                  <a:srgbClr val="000000"/>
                </a:solidFill>
                <a:latin typeface="DM Sans" pitchFamily="34" charset="0"/>
                <a:ea typeface="DM Sans" pitchFamily="34" charset="-122"/>
                <a:cs typeface="DM Sans" pitchFamily="34" charset="-120"/>
              </a:rPr>
              <a:t>"How is this getting converted to tokens, and how many?"</a:t>
            </a:r>
            <a:r>
              <a:rPr lang="en-US" sz="1200" dirty="0">
                <a:solidFill>
                  <a:srgbClr val="000000"/>
                </a:solidFill>
                <a:latin typeface="DM Sans" pitchFamily="34" charset="0"/>
                <a:ea typeface="DM Sans" pitchFamily="34" charset="-122"/>
                <a:cs typeface="DM Sans" pitchFamily="34" charset="-120"/>
              </a:rPr>
              <a:t> The answer drives both cost and accuracy.</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2190001" y="354310"/>
            <a:ext cx="487350" cy="202009"/>
          </a:xfrm>
          <a:prstGeom prst="roundRect">
            <a:avLst>
              <a:gd name="adj" fmla="val 19772"/>
            </a:avLst>
          </a:prstGeom>
          <a:solidFill>
            <a:srgbClr val="F7EDD4"/>
          </a:solidFill>
          <a:ln/>
        </p:spPr>
      </p:sp>
      <p:sp>
        <p:nvSpPr>
          <p:cNvPr id="3" name="Text 1"/>
          <p:cNvSpPr/>
          <p:nvPr/>
        </p:nvSpPr>
        <p:spPr>
          <a:xfrm>
            <a:off x="2261238" y="389930"/>
            <a:ext cx="954460" cy="130770"/>
          </a:xfrm>
          <a:prstGeom prst="rect">
            <a:avLst/>
          </a:prstGeom>
          <a:noFill/>
          <a:ln/>
        </p:spPr>
        <p:txBody>
          <a:bodyPr wrap="none" lIns="0" tIns="0" rIns="0" bIns="0" rtlCol="0" anchor="t"/>
          <a:lstStyle/>
          <a:p>
            <a:pPr marL="0" indent="0" algn="l">
              <a:lnSpc>
                <a:spcPct val="115000"/>
              </a:lnSpc>
              <a:buNone/>
            </a:pPr>
            <a:r>
              <a:rPr lang="en-US" sz="700" dirty="0">
                <a:solidFill>
                  <a:srgbClr val="454240"/>
                </a:solidFill>
                <a:latin typeface="DM Sans" pitchFamily="34" charset="0"/>
                <a:ea typeface="DM Sans" pitchFamily="34" charset="-122"/>
                <a:cs typeface="DM Sans" pitchFamily="34" charset="-120"/>
              </a:rPr>
              <a:t>STEP 27</a:t>
            </a:r>
            <a:endParaRPr lang="en-US" sz="700" dirty="0"/>
          </a:p>
        </p:txBody>
      </p:sp>
      <p:sp>
        <p:nvSpPr>
          <p:cNvPr id="4" name="Text 2"/>
          <p:cNvSpPr/>
          <p:nvPr/>
        </p:nvSpPr>
        <p:spPr>
          <a:xfrm>
            <a:off x="2190001" y="590451"/>
            <a:ext cx="7811694" cy="742752"/>
          </a:xfrm>
          <a:prstGeom prst="rect">
            <a:avLst/>
          </a:prstGeom>
          <a:noFill/>
          <a:ln/>
        </p:spPr>
        <p:txBody>
          <a:bodyPr wrap="square" lIns="0" tIns="0" rIns="0" bIns="0" rtlCol="0" anchor="t">
            <a:normAutofit/>
          </a:bodyPr>
          <a:lstStyle/>
          <a:p>
            <a:pPr marL="0" indent="0" algn="l">
              <a:lnSpc>
                <a:spcPct val="104000"/>
              </a:lnSpc>
              <a:buNone/>
            </a:pPr>
            <a:r>
              <a:rPr lang="en-US" sz="2300" dirty="0">
                <a:solidFill>
                  <a:srgbClr val="5C4E3D"/>
                </a:solidFill>
                <a:latin typeface="Libre Baskerville" pitchFamily="34" charset="0"/>
                <a:ea typeface="Libre Baskerville" pitchFamily="34" charset="-122"/>
                <a:cs typeface="Libre Baskerville" pitchFamily="34" charset="-120"/>
              </a:rPr>
              <a:t>The Customisation Question: Prompt, RAG, or Fine-Tune?</a:t>
            </a:r>
            <a:endParaRPr lang="en-US" sz="2300" dirty="0"/>
          </a:p>
        </p:txBody>
      </p:sp>
      <p:sp>
        <p:nvSpPr>
          <p:cNvPr id="5" name="Text 3"/>
          <p:cNvSpPr/>
          <p:nvPr/>
        </p:nvSpPr>
        <p:spPr>
          <a:xfrm>
            <a:off x="2190001" y="1461294"/>
            <a:ext cx="7811694" cy="586284"/>
          </a:xfrm>
          <a:prstGeom prst="rect">
            <a:avLst/>
          </a:prstGeom>
          <a:noFill/>
          <a:ln/>
        </p:spPr>
        <p:txBody>
          <a:bodyPr wrap="square" lIns="0" tIns="0" rIns="0" bIns="0" rtlCol="0" anchor="t">
            <a:normAutofit/>
          </a:bodyPr>
          <a:lstStyle/>
          <a:p>
            <a:pPr marL="0" indent="0" algn="l">
              <a:lnSpc>
                <a:spcPct val="115000"/>
              </a:lnSpc>
              <a:buNone/>
            </a:pPr>
            <a:r>
              <a:rPr lang="en-US" sz="900" dirty="0">
                <a:solidFill>
                  <a:srgbClr val="454240"/>
                </a:solidFill>
                <a:latin typeface="DM Sans" pitchFamily="34" charset="0"/>
                <a:ea typeface="DM Sans" pitchFamily="34" charset="-122"/>
                <a:cs typeface="DM Sans" pitchFamily="34" charset="-120"/>
              </a:rPr>
              <a:t>This is the most common business question about LLMs. </a:t>
            </a:r>
            <a:r>
              <a:rPr lang="en-US" sz="900" i="1" dirty="0">
                <a:solidFill>
                  <a:srgbClr val="454240"/>
                </a:solidFill>
                <a:latin typeface="DM Sans" pitchFamily="34" charset="0"/>
                <a:ea typeface="DM Sans" pitchFamily="34" charset="-122"/>
                <a:cs typeface="DM Sans" pitchFamily="34" charset="-120"/>
              </a:rPr>
              <a:t>"We have proprietary data and a specialised use case. How do we make the model good at our specific job?"</a:t>
            </a:r>
            <a:endParaRPr lang="en-US" sz="900" dirty="0"/>
          </a:p>
          <a:p>
            <a:pPr marL="0" indent="0" algn="l">
              <a:lnSpc>
                <a:spcPct val="115000"/>
              </a:lnSpc>
              <a:buNone/>
            </a:pPr>
            <a:r>
              <a:rPr lang="en-US" sz="900" dirty="0">
                <a:solidFill>
                  <a:srgbClr val="454240"/>
                </a:solidFill>
                <a:latin typeface="DM Sans" pitchFamily="34" charset="0"/>
                <a:ea typeface="DM Sans" pitchFamily="34" charset="-122"/>
                <a:cs typeface="DM Sans" pitchFamily="34" charset="-120"/>
              </a:rPr>
              <a:t>There are three answers, and they work at very different layers, costs, and timescales.</a:t>
            </a:r>
            <a:endParaRPr lang="en-US" sz="900" dirty="0"/>
          </a:p>
        </p:txBody>
      </p:sp>
      <p:pic>
        <p:nvPicPr>
          <p:cNvPr id="6" name="Image 0" descr="preencoded.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190001" y="2143621"/>
            <a:ext cx="7811694" cy="436006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0" y="0"/>
            <a:ext cx="4571886" cy="6858000"/>
          </a:xfrm>
          <a:prstGeom prst="rect">
            <a:avLst/>
          </a:prstGeom>
        </p:spPr>
      </p:pic>
      <p:sp>
        <p:nvSpPr>
          <p:cNvPr id="3" name="Text 0"/>
          <p:cNvSpPr/>
          <p:nvPr/>
        </p:nvSpPr>
        <p:spPr>
          <a:xfrm>
            <a:off x="5233360" y="882749"/>
            <a:ext cx="6702654" cy="490934"/>
          </a:xfrm>
          <a:prstGeom prst="rect">
            <a:avLst/>
          </a:prstGeom>
          <a:noFill/>
          <a:ln/>
        </p:spPr>
        <p:txBody>
          <a:bodyPr wrap="none" lIns="0" tIns="0" rIns="0" bIns="0" rtlCol="0" anchor="t"/>
          <a:lstStyle/>
          <a:p>
            <a:pPr marL="0" indent="0" algn="l">
              <a:lnSpc>
                <a:spcPct val="104000"/>
              </a:lnSpc>
              <a:buNone/>
            </a:pPr>
            <a:r>
              <a:rPr lang="en-US" sz="3050" dirty="0">
                <a:solidFill>
                  <a:srgbClr val="5C4E3D"/>
                </a:solidFill>
                <a:latin typeface="Libre Baskerville" pitchFamily="34" charset="0"/>
                <a:ea typeface="Libre Baskerville" pitchFamily="34" charset="-122"/>
                <a:cs typeface="Libre Baskerville" pitchFamily="34" charset="-120"/>
              </a:rPr>
              <a:t>Option 1: Prompt Engineering</a:t>
            </a:r>
            <a:endParaRPr lang="en-US" sz="3050" dirty="0"/>
          </a:p>
        </p:txBody>
      </p:sp>
      <p:sp>
        <p:nvSpPr>
          <p:cNvPr id="4" name="Shape 1"/>
          <p:cNvSpPr/>
          <p:nvPr/>
        </p:nvSpPr>
        <p:spPr>
          <a:xfrm>
            <a:off x="5120155" y="1597521"/>
            <a:ext cx="3183156" cy="2959298"/>
          </a:xfrm>
          <a:prstGeom prst="roundRect">
            <a:avLst>
              <a:gd name="adj" fmla="val 3823"/>
            </a:avLst>
          </a:prstGeom>
          <a:solidFill>
            <a:srgbClr val="F2F2F2"/>
          </a:solidFill>
          <a:ln/>
        </p:spPr>
      </p:sp>
      <p:sp>
        <p:nvSpPr>
          <p:cNvPr id="5" name="Text 2"/>
          <p:cNvSpPr/>
          <p:nvPr/>
        </p:nvSpPr>
        <p:spPr>
          <a:xfrm>
            <a:off x="5277214" y="1746746"/>
            <a:ext cx="2573571" cy="245566"/>
          </a:xfrm>
          <a:prstGeom prst="rect">
            <a:avLst/>
          </a:prstGeom>
          <a:noFill/>
          <a:ln/>
        </p:spPr>
        <p:txBody>
          <a:bodyPr wrap="none" lIns="0" tIns="0" rIns="0" bIns="0" rtlCol="0" anchor="t"/>
          <a:lstStyle/>
          <a:p>
            <a:pPr marL="0" indent="0" algn="l">
              <a:lnSpc>
                <a:spcPct val="104000"/>
              </a:lnSpc>
              <a:buNone/>
            </a:pPr>
            <a:r>
              <a:rPr lang="en-US" sz="1500" dirty="0">
                <a:solidFill>
                  <a:srgbClr val="5C4E3D"/>
                </a:solidFill>
                <a:latin typeface="Libre Baskerville" pitchFamily="34" charset="0"/>
                <a:ea typeface="Libre Baskerville" pitchFamily="34" charset="-122"/>
                <a:cs typeface="Libre Baskerville" pitchFamily="34" charset="-120"/>
              </a:rPr>
              <a:t>What it is</a:t>
            </a:r>
            <a:endParaRPr lang="en-US" sz="1500" dirty="0"/>
          </a:p>
        </p:txBody>
      </p:sp>
      <p:sp>
        <p:nvSpPr>
          <p:cNvPr id="6" name="Text 3"/>
          <p:cNvSpPr/>
          <p:nvPr/>
        </p:nvSpPr>
        <p:spPr>
          <a:xfrm>
            <a:off x="5277214" y="2141538"/>
            <a:ext cx="2869037" cy="1471017"/>
          </a:xfrm>
          <a:prstGeom prst="rect">
            <a:avLst/>
          </a:prstGeom>
          <a:noFill/>
          <a:ln/>
        </p:spPr>
        <p:txBody>
          <a:bodyPr wrap="square" lIns="0" tIns="0" rIns="0" bIns="0" rtlCol="0" anchor="t">
            <a:normAutofit/>
          </a:bodyPr>
          <a:lstStyle/>
          <a:p>
            <a:pPr marL="0" indent="0" algn="l">
              <a:lnSpc>
                <a:spcPct val="130000"/>
              </a:lnSpc>
              <a:buNone/>
            </a:pPr>
            <a:r>
              <a:rPr lang="en-US" sz="1200" dirty="0">
                <a:solidFill>
                  <a:srgbClr val="454240"/>
                </a:solidFill>
                <a:latin typeface="DM Sans" pitchFamily="34" charset="0"/>
                <a:ea typeface="DM Sans" pitchFamily="34" charset="-122"/>
                <a:cs typeface="DM Sans" pitchFamily="34" charset="-120"/>
              </a:rPr>
              <a:t>Write a very good system prompt. Include examples of ideal outputs (called </a:t>
            </a:r>
            <a:r>
              <a:rPr lang="en-US" sz="1200" b="1" dirty="0">
                <a:solidFill>
                  <a:srgbClr val="454240"/>
                </a:solidFill>
                <a:latin typeface="DM Sans" pitchFamily="34" charset="0"/>
                <a:ea typeface="DM Sans" pitchFamily="34" charset="-122"/>
                <a:cs typeface="DM Sans" pitchFamily="34" charset="-120"/>
              </a:rPr>
              <a:t>few-shot examples</a:t>
            </a:r>
            <a:r>
              <a:rPr lang="en-US" sz="1200" dirty="0">
                <a:solidFill>
                  <a:srgbClr val="454240"/>
                </a:solidFill>
                <a:latin typeface="DM Sans" pitchFamily="34" charset="0"/>
                <a:ea typeface="DM Sans" pitchFamily="34" charset="-122"/>
                <a:cs typeface="DM Sans" pitchFamily="34" charset="-120"/>
              </a:rPr>
              <a:t>). Structure the inputs carefully. That's it — you change </a:t>
            </a:r>
            <a:r>
              <a:rPr lang="en-US" sz="1200" i="1" dirty="0">
                <a:solidFill>
                  <a:srgbClr val="454240"/>
                </a:solidFill>
                <a:latin typeface="DM Sans" pitchFamily="34" charset="0"/>
                <a:ea typeface="DM Sans" pitchFamily="34" charset="-122"/>
                <a:cs typeface="DM Sans" pitchFamily="34" charset="-120"/>
              </a:rPr>
              <a:t>what you say to the model</a:t>
            </a:r>
            <a:r>
              <a:rPr lang="en-US" sz="1200" dirty="0">
                <a:solidFill>
                  <a:srgbClr val="454240"/>
                </a:solidFill>
                <a:latin typeface="DM Sans" pitchFamily="34" charset="0"/>
                <a:ea typeface="DM Sans" pitchFamily="34" charset="-122"/>
                <a:cs typeface="DM Sans" pitchFamily="34" charset="-120"/>
              </a:rPr>
              <a:t>, not the model itself.</a:t>
            </a:r>
            <a:endParaRPr lang="en-US" sz="1200" dirty="0"/>
          </a:p>
        </p:txBody>
      </p:sp>
      <p:sp>
        <p:nvSpPr>
          <p:cNvPr id="7" name="Shape 4"/>
          <p:cNvSpPr/>
          <p:nvPr/>
        </p:nvSpPr>
        <p:spPr>
          <a:xfrm>
            <a:off x="8466620" y="1597521"/>
            <a:ext cx="3183156" cy="2959298"/>
          </a:xfrm>
          <a:prstGeom prst="roundRect">
            <a:avLst>
              <a:gd name="adj" fmla="val 3823"/>
            </a:avLst>
          </a:prstGeom>
          <a:solidFill>
            <a:srgbClr val="F2F2F2"/>
          </a:solidFill>
          <a:ln/>
        </p:spPr>
      </p:sp>
      <p:sp>
        <p:nvSpPr>
          <p:cNvPr id="8" name="Text 5"/>
          <p:cNvSpPr/>
          <p:nvPr/>
        </p:nvSpPr>
        <p:spPr>
          <a:xfrm>
            <a:off x="8623680" y="1746746"/>
            <a:ext cx="2573571" cy="245566"/>
          </a:xfrm>
          <a:prstGeom prst="rect">
            <a:avLst/>
          </a:prstGeom>
          <a:noFill/>
          <a:ln/>
        </p:spPr>
        <p:txBody>
          <a:bodyPr wrap="none" lIns="0" tIns="0" rIns="0" bIns="0" rtlCol="0" anchor="t"/>
          <a:lstStyle/>
          <a:p>
            <a:pPr marL="0" indent="0" algn="l">
              <a:lnSpc>
                <a:spcPct val="104000"/>
              </a:lnSpc>
              <a:buNone/>
            </a:pPr>
            <a:r>
              <a:rPr lang="en-US" sz="1500" dirty="0">
                <a:solidFill>
                  <a:srgbClr val="5C4E3D"/>
                </a:solidFill>
                <a:latin typeface="Libre Baskerville" pitchFamily="34" charset="0"/>
                <a:ea typeface="Libre Baskerville" pitchFamily="34" charset="-122"/>
                <a:cs typeface="Libre Baskerville" pitchFamily="34" charset="-120"/>
              </a:rPr>
              <a:t>Key characteristics</a:t>
            </a:r>
            <a:endParaRPr lang="en-US" sz="1500" dirty="0"/>
          </a:p>
        </p:txBody>
      </p:sp>
      <p:sp>
        <p:nvSpPr>
          <p:cNvPr id="9" name="Text 6"/>
          <p:cNvSpPr/>
          <p:nvPr/>
        </p:nvSpPr>
        <p:spPr>
          <a:xfrm>
            <a:off x="8623680" y="2141538"/>
            <a:ext cx="2869037" cy="2363093"/>
          </a:xfrm>
          <a:prstGeom prst="rect">
            <a:avLst/>
          </a:prstGeom>
          <a:noFill/>
          <a:ln/>
        </p:spPr>
        <p:txBody>
          <a:bodyPr wrap="square" lIns="0" tIns="0" rIns="0" bIns="0" rtlCol="0" anchor="t">
            <a:normAutofit/>
          </a:bodyPr>
          <a:lstStyle/>
          <a:p>
            <a:pPr marL="342900" indent="-342900" algn="l">
              <a:lnSpc>
                <a:spcPct val="130000"/>
              </a:lnSpc>
              <a:buSzPct val="100000"/>
              <a:buChar char="•"/>
            </a:pPr>
            <a:r>
              <a:rPr lang="en-US" sz="1200" b="1" dirty="0">
                <a:solidFill>
                  <a:srgbClr val="454240"/>
                </a:solidFill>
                <a:latin typeface="DM Sans" pitchFamily="34" charset="0"/>
                <a:ea typeface="DM Sans" pitchFamily="34" charset="-122"/>
                <a:cs typeface="DM Sans" pitchFamily="34" charset="-120"/>
              </a:rPr>
              <a:t>Cost:</a:t>
            </a:r>
            <a:r>
              <a:rPr lang="en-US" sz="1200" dirty="0">
                <a:solidFill>
                  <a:srgbClr val="454240"/>
                </a:solidFill>
                <a:latin typeface="DM Sans" pitchFamily="34" charset="0"/>
                <a:ea typeface="DM Sans" pitchFamily="34" charset="-122"/>
                <a:cs typeface="DM Sans" pitchFamily="34" charset="-120"/>
              </a:rPr>
              <a:t> Almost zero — you're paying for the extra tokens in the prompt</a:t>
            </a:r>
            <a:endParaRPr lang="en-US" sz="1200" dirty="0"/>
          </a:p>
          <a:p>
            <a:pPr marL="342900" indent="-342900" algn="l">
              <a:lnSpc>
                <a:spcPct val="130000"/>
              </a:lnSpc>
              <a:buSzPct val="100000"/>
              <a:buChar char="•"/>
            </a:pPr>
            <a:r>
              <a:rPr lang="en-US" sz="1200" b="1" dirty="0">
                <a:solidFill>
                  <a:srgbClr val="454240"/>
                </a:solidFill>
                <a:latin typeface="DM Sans" pitchFamily="34" charset="0"/>
                <a:ea typeface="DM Sans" pitchFamily="34" charset="-122"/>
                <a:cs typeface="DM Sans" pitchFamily="34" charset="-120"/>
              </a:rPr>
              <a:t>Speed to deploy:</a:t>
            </a:r>
            <a:r>
              <a:rPr lang="en-US" sz="1200" dirty="0">
                <a:solidFill>
                  <a:srgbClr val="454240"/>
                </a:solidFill>
                <a:latin typeface="DM Sans" pitchFamily="34" charset="0"/>
                <a:ea typeface="DM Sans" pitchFamily="34" charset="-122"/>
                <a:cs typeface="DM Sans" pitchFamily="34" charset="-120"/>
              </a:rPr>
              <a:t> Minutes — edit a string</a:t>
            </a:r>
            <a:endParaRPr lang="en-US" sz="1200" dirty="0"/>
          </a:p>
          <a:p>
            <a:pPr marL="342900" indent="-342900" algn="l">
              <a:lnSpc>
                <a:spcPct val="130000"/>
              </a:lnSpc>
              <a:buSzPct val="100000"/>
              <a:buChar char="•"/>
            </a:pPr>
            <a:r>
              <a:rPr lang="en-US" sz="1200" b="1" dirty="0">
                <a:solidFill>
                  <a:srgbClr val="454240"/>
                </a:solidFill>
                <a:latin typeface="DM Sans" pitchFamily="34" charset="0"/>
                <a:ea typeface="DM Sans" pitchFamily="34" charset="-122"/>
                <a:cs typeface="DM Sans" pitchFamily="34" charset="-120"/>
              </a:rPr>
              <a:t>Best for:</a:t>
            </a:r>
            <a:r>
              <a:rPr lang="en-US" sz="1200" dirty="0">
                <a:solidFill>
                  <a:srgbClr val="454240"/>
                </a:solidFill>
                <a:latin typeface="DM Sans" pitchFamily="34" charset="0"/>
                <a:ea typeface="DM Sans" pitchFamily="34" charset="-122"/>
                <a:cs typeface="DM Sans" pitchFamily="34" charset="-120"/>
              </a:rPr>
              <a:t> Behaviour, tone, format, simple rules</a:t>
            </a:r>
            <a:endParaRPr lang="en-US" sz="1200" dirty="0"/>
          </a:p>
          <a:p>
            <a:pPr marL="342900" indent="-342900" algn="l">
              <a:lnSpc>
                <a:spcPct val="130000"/>
              </a:lnSpc>
              <a:buSzPct val="100000"/>
              <a:buChar char="•"/>
            </a:pPr>
            <a:r>
              <a:rPr lang="en-US" sz="1200" b="1" dirty="0">
                <a:solidFill>
                  <a:srgbClr val="454240"/>
                </a:solidFill>
                <a:latin typeface="DM Sans" pitchFamily="34" charset="0"/>
                <a:ea typeface="DM Sans" pitchFamily="34" charset="-122"/>
                <a:cs typeface="DM Sans" pitchFamily="34" charset="-120"/>
              </a:rPr>
              <a:t>Limits:</a:t>
            </a:r>
            <a:r>
              <a:rPr lang="en-US" sz="1200" dirty="0">
                <a:solidFill>
                  <a:srgbClr val="454240"/>
                </a:solidFill>
                <a:latin typeface="DM Sans" pitchFamily="34" charset="0"/>
                <a:ea typeface="DM Sans" pitchFamily="34" charset="-122"/>
                <a:cs typeface="DM Sans" pitchFamily="34" charset="-120"/>
              </a:rPr>
              <a:t> Can't add new knowledge; can't fix fundamental capability gaps</a:t>
            </a:r>
            <a:endParaRPr lang="en-US" sz="1200" dirty="0"/>
          </a:p>
        </p:txBody>
      </p:sp>
      <p:sp>
        <p:nvSpPr>
          <p:cNvPr id="10" name="Shape 7"/>
          <p:cNvSpPr/>
          <p:nvPr/>
        </p:nvSpPr>
        <p:spPr>
          <a:xfrm>
            <a:off x="5233360" y="4724698"/>
            <a:ext cx="6296860" cy="1082576"/>
          </a:xfrm>
          <a:prstGeom prst="roundRect">
            <a:avLst>
              <a:gd name="adj" fmla="val 6096"/>
            </a:avLst>
          </a:prstGeom>
          <a:solidFill>
            <a:srgbClr val="B6D6FC"/>
          </a:solidFill>
          <a:ln/>
        </p:spPr>
      </p:sp>
      <p:pic>
        <p:nvPicPr>
          <p:cNvPr id="11" name="Image 1" descr="preencoded.png"/>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390420" y="4948535"/>
            <a:ext cx="196349" cy="157063"/>
          </a:xfrm>
          <a:prstGeom prst="rect">
            <a:avLst/>
          </a:prstGeom>
        </p:spPr>
      </p:pic>
      <p:sp>
        <p:nvSpPr>
          <p:cNvPr id="12" name="Text 8"/>
          <p:cNvSpPr/>
          <p:nvPr/>
        </p:nvSpPr>
        <p:spPr>
          <a:xfrm>
            <a:off x="5743828" y="4898231"/>
            <a:ext cx="5629333" cy="735509"/>
          </a:xfrm>
          <a:prstGeom prst="rect">
            <a:avLst/>
          </a:prstGeom>
          <a:noFill/>
          <a:ln/>
        </p:spPr>
        <p:txBody>
          <a:bodyPr wrap="square" lIns="0" tIns="0" rIns="0" bIns="0" rtlCol="0" anchor="t">
            <a:normAutofit/>
          </a:bodyPr>
          <a:lstStyle/>
          <a:p>
            <a:pPr marL="0" indent="0" algn="l">
              <a:lnSpc>
                <a:spcPct val="130000"/>
              </a:lnSpc>
              <a:buNone/>
            </a:pPr>
            <a:r>
              <a:rPr lang="en-US" sz="1200" b="1" dirty="0">
                <a:solidFill>
                  <a:srgbClr val="000000"/>
                </a:solidFill>
                <a:latin typeface="DM Sans" pitchFamily="34" charset="0"/>
                <a:ea typeface="DM Sans" pitchFamily="34" charset="-122"/>
                <a:cs typeface="DM Sans" pitchFamily="34" charset="-120"/>
              </a:rPr>
              <a:t>Example:</a:t>
            </a:r>
            <a:r>
              <a:rPr lang="en-US" sz="1200" dirty="0">
                <a:solidFill>
                  <a:srgbClr val="000000"/>
                </a:solidFill>
                <a:latin typeface="DM Sans" pitchFamily="34" charset="0"/>
                <a:ea typeface="DM Sans" pitchFamily="34" charset="-122"/>
                <a:cs typeface="DM Sans" pitchFamily="34" charset="-120"/>
              </a:rPr>
              <a:t> Getting our wealth assistant to match the firm's tone of voice. </a:t>
            </a:r>
            <a:r>
              <a:rPr lang="en-US" sz="1200" i="1" dirty="0">
                <a:solidFill>
                  <a:srgbClr val="000000"/>
                </a:solidFill>
                <a:latin typeface="DM Sans" pitchFamily="34" charset="0"/>
                <a:ea typeface="DM Sans" pitchFamily="34" charset="-122"/>
                <a:cs typeface="DM Sans" pitchFamily="34" charset="-120"/>
              </a:rPr>
              <a:t>"Always round to 1 decimal. Never give tax advice. Respond in this JSON structure."</a:t>
            </a:r>
            <a:r>
              <a:rPr lang="en-US" sz="1200" dirty="0">
                <a:solidFill>
                  <a:srgbClr val="000000"/>
                </a:solidFill>
                <a:latin typeface="DM Sans" pitchFamily="34" charset="0"/>
                <a:ea typeface="DM Sans" pitchFamily="34" charset="-122"/>
                <a:cs typeface="DM Sans" pitchFamily="34" charset="-120"/>
              </a:rPr>
              <a:t> Pure prompt-engineering territory.</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619809" y="0"/>
            <a:ext cx="4571886" cy="6858000"/>
          </a:xfrm>
          <a:prstGeom prst="rect">
            <a:avLst/>
          </a:prstGeom>
        </p:spPr>
      </p:pic>
      <p:sp>
        <p:nvSpPr>
          <p:cNvPr id="3" name="Text 0"/>
          <p:cNvSpPr/>
          <p:nvPr/>
        </p:nvSpPr>
        <p:spPr>
          <a:xfrm>
            <a:off x="661475" y="637282"/>
            <a:ext cx="6296860" cy="981869"/>
          </a:xfrm>
          <a:prstGeom prst="rect">
            <a:avLst/>
          </a:prstGeom>
          <a:noFill/>
          <a:ln/>
        </p:spPr>
        <p:txBody>
          <a:bodyPr wrap="square" lIns="0" tIns="0" rIns="0" bIns="0" rtlCol="0" anchor="t">
            <a:normAutofit/>
          </a:bodyPr>
          <a:lstStyle/>
          <a:p>
            <a:pPr marL="0" indent="0" algn="l">
              <a:lnSpc>
                <a:spcPct val="104000"/>
              </a:lnSpc>
              <a:buNone/>
            </a:pPr>
            <a:r>
              <a:rPr lang="en-US" sz="3050" dirty="0">
                <a:solidFill>
                  <a:srgbClr val="5C4E3D"/>
                </a:solidFill>
                <a:latin typeface="Libre Baskerville" pitchFamily="34" charset="0"/>
                <a:ea typeface="Libre Baskerville" pitchFamily="34" charset="-122"/>
                <a:cs typeface="Libre Baskerville" pitchFamily="34" charset="-120"/>
              </a:rPr>
              <a:t>Option 2: RAG (Retrieval-Augmented Generation)</a:t>
            </a:r>
            <a:endParaRPr lang="en-US" sz="3050" dirty="0"/>
          </a:p>
        </p:txBody>
      </p:sp>
      <p:sp>
        <p:nvSpPr>
          <p:cNvPr id="4" name="Shape 1"/>
          <p:cNvSpPr/>
          <p:nvPr/>
        </p:nvSpPr>
        <p:spPr>
          <a:xfrm>
            <a:off x="548269" y="1842988"/>
            <a:ext cx="2181071" cy="3204468"/>
          </a:xfrm>
          <a:prstGeom prst="roundRect">
            <a:avLst>
              <a:gd name="adj" fmla="val 5187"/>
            </a:avLst>
          </a:prstGeom>
          <a:solidFill>
            <a:srgbClr val="F2F2F2"/>
          </a:solidFill>
          <a:ln/>
        </p:spPr>
      </p:sp>
      <p:sp>
        <p:nvSpPr>
          <p:cNvPr id="5" name="Text 2"/>
          <p:cNvSpPr/>
          <p:nvPr/>
        </p:nvSpPr>
        <p:spPr>
          <a:xfrm>
            <a:off x="705328" y="1992213"/>
            <a:ext cx="2476537" cy="245566"/>
          </a:xfrm>
          <a:prstGeom prst="rect">
            <a:avLst/>
          </a:prstGeom>
          <a:noFill/>
          <a:ln/>
        </p:spPr>
        <p:txBody>
          <a:bodyPr wrap="none" lIns="0" tIns="0" rIns="0" bIns="0" rtlCol="0" anchor="t"/>
          <a:lstStyle/>
          <a:p>
            <a:pPr marL="0" indent="0" algn="l">
              <a:lnSpc>
                <a:spcPct val="104000"/>
              </a:lnSpc>
              <a:buNone/>
            </a:pPr>
            <a:r>
              <a:rPr lang="en-US" sz="1500" dirty="0">
                <a:solidFill>
                  <a:srgbClr val="5C4E3D"/>
                </a:solidFill>
                <a:latin typeface="Libre Baskerville" pitchFamily="34" charset="0"/>
                <a:ea typeface="Libre Baskerville" pitchFamily="34" charset="-122"/>
                <a:cs typeface="Libre Baskerville" pitchFamily="34" charset="-120"/>
              </a:rPr>
              <a:t>What it is</a:t>
            </a:r>
            <a:endParaRPr lang="en-US" sz="1500" dirty="0"/>
          </a:p>
        </p:txBody>
      </p:sp>
      <p:sp>
        <p:nvSpPr>
          <p:cNvPr id="6" name="Text 3"/>
          <p:cNvSpPr/>
          <p:nvPr/>
        </p:nvSpPr>
        <p:spPr>
          <a:xfrm>
            <a:off x="705328" y="2387005"/>
            <a:ext cx="1866953" cy="1225848"/>
          </a:xfrm>
          <a:prstGeom prst="rect">
            <a:avLst/>
          </a:prstGeom>
          <a:noFill/>
          <a:ln/>
        </p:spPr>
        <p:txBody>
          <a:bodyPr wrap="square" lIns="0" tIns="0" rIns="0" bIns="0" rtlCol="0" anchor="t">
            <a:normAutofit/>
          </a:bodyPr>
          <a:lstStyle/>
          <a:p>
            <a:pPr marL="0" indent="0" algn="l">
              <a:lnSpc>
                <a:spcPct val="130000"/>
              </a:lnSpc>
              <a:buNone/>
            </a:pPr>
            <a:r>
              <a:rPr lang="en-US" sz="1200" dirty="0">
                <a:solidFill>
                  <a:srgbClr val="454240"/>
                </a:solidFill>
                <a:latin typeface="DM Sans" pitchFamily="34" charset="0"/>
                <a:ea typeface="DM Sans" pitchFamily="34" charset="-122"/>
                <a:cs typeface="DM Sans" pitchFamily="34" charset="-120"/>
              </a:rPr>
              <a:t>Put your knowledge into a vector database; retrieve relevant chunks per query; inject them into the prompt.</a:t>
            </a:r>
            <a:endParaRPr lang="en-US" sz="1200" dirty="0"/>
          </a:p>
        </p:txBody>
      </p:sp>
      <p:sp>
        <p:nvSpPr>
          <p:cNvPr id="7" name="Shape 4"/>
          <p:cNvSpPr/>
          <p:nvPr/>
        </p:nvSpPr>
        <p:spPr>
          <a:xfrm>
            <a:off x="2892650" y="1842988"/>
            <a:ext cx="4185141" cy="3204468"/>
          </a:xfrm>
          <a:prstGeom prst="roundRect">
            <a:avLst>
              <a:gd name="adj" fmla="val 3530"/>
            </a:avLst>
          </a:prstGeom>
          <a:solidFill>
            <a:srgbClr val="F2F2F2"/>
          </a:solidFill>
          <a:ln/>
        </p:spPr>
      </p:sp>
      <p:sp>
        <p:nvSpPr>
          <p:cNvPr id="8" name="Text 5"/>
          <p:cNvSpPr/>
          <p:nvPr/>
        </p:nvSpPr>
        <p:spPr>
          <a:xfrm>
            <a:off x="3049710" y="1992213"/>
            <a:ext cx="2573571" cy="245566"/>
          </a:xfrm>
          <a:prstGeom prst="rect">
            <a:avLst/>
          </a:prstGeom>
          <a:noFill/>
          <a:ln/>
        </p:spPr>
        <p:txBody>
          <a:bodyPr wrap="none" lIns="0" tIns="0" rIns="0" bIns="0" rtlCol="0" anchor="t"/>
          <a:lstStyle/>
          <a:p>
            <a:pPr marL="0" indent="0" algn="l">
              <a:lnSpc>
                <a:spcPct val="104000"/>
              </a:lnSpc>
              <a:buNone/>
            </a:pPr>
            <a:r>
              <a:rPr lang="en-US" sz="1500" dirty="0">
                <a:solidFill>
                  <a:srgbClr val="5C4E3D"/>
                </a:solidFill>
                <a:latin typeface="Libre Baskerville" pitchFamily="34" charset="0"/>
                <a:ea typeface="Libre Baskerville" pitchFamily="34" charset="-122"/>
                <a:cs typeface="Libre Baskerville" pitchFamily="34" charset="-120"/>
              </a:rPr>
              <a:t>Key characteristics</a:t>
            </a:r>
            <a:endParaRPr lang="en-US" sz="1500" dirty="0"/>
          </a:p>
        </p:txBody>
      </p:sp>
      <p:sp>
        <p:nvSpPr>
          <p:cNvPr id="9" name="Text 6"/>
          <p:cNvSpPr/>
          <p:nvPr/>
        </p:nvSpPr>
        <p:spPr>
          <a:xfrm>
            <a:off x="3049710" y="2387005"/>
            <a:ext cx="3871022" cy="2608262"/>
          </a:xfrm>
          <a:prstGeom prst="rect">
            <a:avLst/>
          </a:prstGeom>
          <a:noFill/>
          <a:ln/>
        </p:spPr>
        <p:txBody>
          <a:bodyPr wrap="square" lIns="0" tIns="0" rIns="0" bIns="0" rtlCol="0" anchor="t">
            <a:normAutofit/>
          </a:bodyPr>
          <a:lstStyle/>
          <a:p>
            <a:pPr marL="342900" indent="-342900" algn="l">
              <a:lnSpc>
                <a:spcPct val="130000"/>
              </a:lnSpc>
              <a:buSzPct val="100000"/>
              <a:buChar char="•"/>
            </a:pPr>
            <a:r>
              <a:rPr lang="en-US" sz="1200" b="1" dirty="0">
                <a:solidFill>
                  <a:srgbClr val="454240"/>
                </a:solidFill>
                <a:latin typeface="DM Sans" pitchFamily="34" charset="0"/>
                <a:ea typeface="DM Sans" pitchFamily="34" charset="-122"/>
                <a:cs typeface="DM Sans" pitchFamily="34" charset="-120"/>
              </a:rPr>
              <a:t>Cost:</a:t>
            </a:r>
            <a:r>
              <a:rPr lang="en-US" sz="1200" dirty="0">
                <a:solidFill>
                  <a:srgbClr val="454240"/>
                </a:solidFill>
                <a:latin typeface="DM Sans" pitchFamily="34" charset="0"/>
                <a:ea typeface="DM Sans" pitchFamily="34" charset="-122"/>
                <a:cs typeface="DM Sans" pitchFamily="34" charset="-120"/>
              </a:rPr>
              <a:t> Moderate — pay for embedding documents once, storing them, and extra input tokens per query</a:t>
            </a:r>
            <a:endParaRPr lang="en-US" sz="1200" dirty="0"/>
          </a:p>
          <a:p>
            <a:pPr marL="342900" indent="-342900" algn="l">
              <a:lnSpc>
                <a:spcPct val="130000"/>
              </a:lnSpc>
              <a:buSzPct val="100000"/>
              <a:buChar char="•"/>
            </a:pPr>
            <a:r>
              <a:rPr lang="en-US" sz="1200" b="1" dirty="0">
                <a:solidFill>
                  <a:srgbClr val="454240"/>
                </a:solidFill>
                <a:latin typeface="DM Sans" pitchFamily="34" charset="0"/>
                <a:ea typeface="DM Sans" pitchFamily="34" charset="-122"/>
                <a:cs typeface="DM Sans" pitchFamily="34" charset="-120"/>
              </a:rPr>
              <a:t>Speed to deploy:</a:t>
            </a:r>
            <a:r>
              <a:rPr lang="en-US" sz="1200" dirty="0">
                <a:solidFill>
                  <a:srgbClr val="454240"/>
                </a:solidFill>
                <a:latin typeface="DM Sans" pitchFamily="34" charset="0"/>
                <a:ea typeface="DM Sans" pitchFamily="34" charset="-122"/>
                <a:cs typeface="DM Sans" pitchFamily="34" charset="-120"/>
              </a:rPr>
              <a:t> Days to weeks — you need a pipeline that indexes documents and stays fresh</a:t>
            </a:r>
            <a:endParaRPr lang="en-US" sz="1200" dirty="0"/>
          </a:p>
          <a:p>
            <a:pPr marL="342900" indent="-342900" algn="l">
              <a:lnSpc>
                <a:spcPct val="130000"/>
              </a:lnSpc>
              <a:buSzPct val="100000"/>
              <a:buChar char="•"/>
            </a:pPr>
            <a:r>
              <a:rPr lang="en-US" sz="1200" b="1" dirty="0">
                <a:solidFill>
                  <a:srgbClr val="454240"/>
                </a:solidFill>
                <a:latin typeface="DM Sans" pitchFamily="34" charset="0"/>
                <a:ea typeface="DM Sans" pitchFamily="34" charset="-122"/>
                <a:cs typeface="DM Sans" pitchFamily="34" charset="-120"/>
              </a:rPr>
              <a:t>Best for:</a:t>
            </a:r>
            <a:r>
              <a:rPr lang="en-US" sz="1200" dirty="0">
                <a:solidFill>
                  <a:srgbClr val="454240"/>
                </a:solidFill>
                <a:latin typeface="DM Sans" pitchFamily="34" charset="0"/>
                <a:ea typeface="DM Sans" pitchFamily="34" charset="-122"/>
                <a:cs typeface="DM Sans" pitchFamily="34" charset="-120"/>
              </a:rPr>
              <a:t> Letting the model use specific, evolving, or proprietary knowledge</a:t>
            </a:r>
            <a:endParaRPr lang="en-US" sz="1200" dirty="0"/>
          </a:p>
          <a:p>
            <a:pPr marL="342900" indent="-342900" algn="l">
              <a:lnSpc>
                <a:spcPct val="130000"/>
              </a:lnSpc>
              <a:buSzPct val="100000"/>
              <a:buChar char="•"/>
            </a:pPr>
            <a:r>
              <a:rPr lang="en-US" sz="1200" b="1" dirty="0">
                <a:solidFill>
                  <a:srgbClr val="454240"/>
                </a:solidFill>
                <a:latin typeface="DM Sans" pitchFamily="34" charset="0"/>
                <a:ea typeface="DM Sans" pitchFamily="34" charset="-122"/>
                <a:cs typeface="DM Sans" pitchFamily="34" charset="-120"/>
              </a:rPr>
              <a:t>Limits:</a:t>
            </a:r>
            <a:r>
              <a:rPr lang="en-US" sz="1200" dirty="0">
                <a:solidFill>
                  <a:srgbClr val="454240"/>
                </a:solidFill>
                <a:latin typeface="DM Sans" pitchFamily="34" charset="0"/>
                <a:ea typeface="DM Sans" pitchFamily="34" charset="-122"/>
                <a:cs typeface="DM Sans" pitchFamily="34" charset="-120"/>
              </a:rPr>
              <a:t> Quality depends entirely on retrieval; failure modes include bad chunking, stale indexes, misses</a:t>
            </a:r>
            <a:endParaRPr lang="en-US" sz="1200" dirty="0"/>
          </a:p>
        </p:txBody>
      </p:sp>
      <p:sp>
        <p:nvSpPr>
          <p:cNvPr id="10" name="Shape 7"/>
          <p:cNvSpPr/>
          <p:nvPr/>
        </p:nvSpPr>
        <p:spPr>
          <a:xfrm>
            <a:off x="661475" y="5215334"/>
            <a:ext cx="6296860" cy="837406"/>
          </a:xfrm>
          <a:prstGeom prst="roundRect">
            <a:avLst>
              <a:gd name="adj" fmla="val 7880"/>
            </a:avLst>
          </a:prstGeom>
          <a:solidFill>
            <a:srgbClr val="B6D6FC"/>
          </a:solidFill>
          <a:ln/>
        </p:spPr>
      </p:sp>
      <p:pic>
        <p:nvPicPr>
          <p:cNvPr id="11" name="Image 1" descr="preencoded.png"/>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818534" y="5439172"/>
            <a:ext cx="196349" cy="157063"/>
          </a:xfrm>
          <a:prstGeom prst="rect">
            <a:avLst/>
          </a:prstGeom>
        </p:spPr>
      </p:pic>
      <p:sp>
        <p:nvSpPr>
          <p:cNvPr id="12" name="Text 8"/>
          <p:cNvSpPr/>
          <p:nvPr/>
        </p:nvSpPr>
        <p:spPr>
          <a:xfrm>
            <a:off x="1171943" y="5388868"/>
            <a:ext cx="5629333" cy="490339"/>
          </a:xfrm>
          <a:prstGeom prst="rect">
            <a:avLst/>
          </a:prstGeom>
          <a:noFill/>
          <a:ln/>
        </p:spPr>
        <p:txBody>
          <a:bodyPr wrap="square" lIns="0" tIns="0" rIns="0" bIns="0" rtlCol="0" anchor="t">
            <a:normAutofit/>
          </a:bodyPr>
          <a:lstStyle/>
          <a:p>
            <a:pPr marL="0" indent="0" algn="l">
              <a:lnSpc>
                <a:spcPct val="130000"/>
              </a:lnSpc>
              <a:buNone/>
            </a:pPr>
            <a:r>
              <a:rPr lang="en-US" sz="1200" b="1" dirty="0">
                <a:solidFill>
                  <a:srgbClr val="000000"/>
                </a:solidFill>
                <a:latin typeface="DM Sans" pitchFamily="34" charset="0"/>
                <a:ea typeface="DM Sans" pitchFamily="34" charset="-122"/>
                <a:cs typeface="DM Sans" pitchFamily="34" charset="-120"/>
              </a:rPr>
              <a:t>Example:</a:t>
            </a:r>
            <a:r>
              <a:rPr lang="en-US" sz="1200" dirty="0">
                <a:solidFill>
                  <a:srgbClr val="000000"/>
                </a:solidFill>
                <a:latin typeface="DM Sans" pitchFamily="34" charset="0"/>
                <a:ea typeface="DM Sans" pitchFamily="34" charset="-122"/>
                <a:cs typeface="DM Sans" pitchFamily="34" charset="-120"/>
              </a:rPr>
              <a:t> Making our assistant aware of the firm's house views, current product lineup, and compliance rules. Classic RAG territory.</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661574" y="498574"/>
            <a:ext cx="5146844" cy="490934"/>
          </a:xfrm>
          <a:prstGeom prst="rect">
            <a:avLst/>
          </a:prstGeom>
          <a:noFill/>
          <a:ln/>
        </p:spPr>
        <p:txBody>
          <a:bodyPr wrap="none" lIns="0" tIns="0" rIns="0" bIns="0" rtlCol="0" anchor="t"/>
          <a:lstStyle/>
          <a:p>
            <a:pPr marL="0" indent="0" algn="l">
              <a:lnSpc>
                <a:spcPct val="104000"/>
              </a:lnSpc>
              <a:buNone/>
            </a:pPr>
            <a:r>
              <a:rPr lang="en-US" sz="3050" dirty="0">
                <a:solidFill>
                  <a:srgbClr val="5C4E3D"/>
                </a:solidFill>
                <a:latin typeface="Libre Baskerville" pitchFamily="34" charset="0"/>
                <a:ea typeface="Libre Baskerville" pitchFamily="34" charset="-122"/>
                <a:cs typeface="Libre Baskerville" pitchFamily="34" charset="-120"/>
              </a:rPr>
              <a:t>Option 3: Fine-Tuning</a:t>
            </a:r>
            <a:endParaRPr lang="en-US" sz="3050" dirty="0"/>
          </a:p>
        </p:txBody>
      </p:sp>
      <p:sp>
        <p:nvSpPr>
          <p:cNvPr id="3" name="Text 1"/>
          <p:cNvSpPr/>
          <p:nvPr/>
        </p:nvSpPr>
        <p:spPr>
          <a:xfrm>
            <a:off x="661574" y="1287959"/>
            <a:ext cx="10868547" cy="735509"/>
          </a:xfrm>
          <a:prstGeom prst="rect">
            <a:avLst/>
          </a:prstGeom>
          <a:noFill/>
          <a:ln/>
        </p:spPr>
        <p:txBody>
          <a:bodyPr wrap="square" lIns="0" tIns="0" rIns="0" bIns="0" rtlCol="0" anchor="t">
            <a:normAutofit/>
          </a:bodyPr>
          <a:lstStyle/>
          <a:p>
            <a:pPr marL="0" indent="0" algn="l">
              <a:lnSpc>
                <a:spcPct val="130000"/>
              </a:lnSpc>
              <a:buNone/>
            </a:pPr>
            <a:r>
              <a:rPr lang="en-US" sz="1200" b="1" dirty="0">
                <a:solidFill>
                  <a:srgbClr val="454240"/>
                </a:solidFill>
                <a:latin typeface="DM Sans" pitchFamily="34" charset="0"/>
                <a:ea typeface="DM Sans" pitchFamily="34" charset="-122"/>
                <a:cs typeface="DM Sans" pitchFamily="34" charset="-120"/>
              </a:rPr>
              <a:t>What it is:</a:t>
            </a:r>
            <a:r>
              <a:rPr lang="en-US" sz="1200" dirty="0">
                <a:solidFill>
                  <a:srgbClr val="454240"/>
                </a:solidFill>
                <a:latin typeface="DM Sans" pitchFamily="34" charset="0"/>
                <a:ea typeface="DM Sans" pitchFamily="34" charset="-122"/>
                <a:cs typeface="DM Sans" pitchFamily="34" charset="-120"/>
              </a:rPr>
              <a:t> Actually modify the model itself. Take a pre-trained model and run additional training on it using your own examples — usually thousands of input/output pairs showing the behaviour you want. The model's weights shift. The result is a new model, derived from the original but tailored to your task.</a:t>
            </a:r>
            <a:endParaRPr lang="en-US" sz="120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42525" y="2191345"/>
            <a:ext cx="5378712" cy="1422797"/>
          </a:xfrm>
          <a:prstGeom prst="rect">
            <a:avLst/>
          </a:prstGeom>
        </p:spPr>
      </p:pic>
      <p:sp>
        <p:nvSpPr>
          <p:cNvPr id="5" name="Text 2"/>
          <p:cNvSpPr/>
          <p:nvPr/>
        </p:nvSpPr>
        <p:spPr>
          <a:xfrm>
            <a:off x="894832" y="2367459"/>
            <a:ext cx="1963986" cy="245566"/>
          </a:xfrm>
          <a:prstGeom prst="rect">
            <a:avLst/>
          </a:prstGeom>
          <a:noFill/>
          <a:ln/>
        </p:spPr>
        <p:txBody>
          <a:bodyPr wrap="none" lIns="0" tIns="0" rIns="0" bIns="0" rtlCol="0" anchor="t"/>
          <a:lstStyle/>
          <a:p>
            <a:pPr marL="0" indent="0" algn="l">
              <a:lnSpc>
                <a:spcPct val="104000"/>
              </a:lnSpc>
              <a:buNone/>
            </a:pPr>
            <a:r>
              <a:rPr lang="en-US" sz="1500" dirty="0">
                <a:solidFill>
                  <a:srgbClr val="454240"/>
                </a:solidFill>
                <a:latin typeface="Libre Baskerville" pitchFamily="34" charset="0"/>
                <a:ea typeface="Libre Baskerville" pitchFamily="34" charset="-122"/>
                <a:cs typeface="Libre Baskerville" pitchFamily="34" charset="-120"/>
              </a:rPr>
              <a:t>Cost</a:t>
            </a:r>
            <a:endParaRPr lang="en-US" sz="1500" dirty="0"/>
          </a:p>
        </p:txBody>
      </p:sp>
      <p:sp>
        <p:nvSpPr>
          <p:cNvPr id="6" name="Text 3"/>
          <p:cNvSpPr/>
          <p:nvPr/>
        </p:nvSpPr>
        <p:spPr>
          <a:xfrm>
            <a:off x="894832" y="2702520"/>
            <a:ext cx="4950296" cy="735509"/>
          </a:xfrm>
          <a:prstGeom prst="rect">
            <a:avLst/>
          </a:prstGeom>
          <a:noFill/>
          <a:ln/>
        </p:spPr>
        <p:txBody>
          <a:bodyPr wrap="square" lIns="0" tIns="0" rIns="0" bIns="0" rtlCol="0" anchor="t">
            <a:normAutofit/>
          </a:bodyPr>
          <a:lstStyle/>
          <a:p>
            <a:pPr marL="0" indent="0" algn="l">
              <a:lnSpc>
                <a:spcPct val="130000"/>
              </a:lnSpc>
              <a:buNone/>
            </a:pPr>
            <a:r>
              <a:rPr lang="en-US" sz="1200" dirty="0">
                <a:solidFill>
                  <a:srgbClr val="454240"/>
                </a:solidFill>
                <a:latin typeface="DM Sans" pitchFamily="34" charset="0"/>
                <a:ea typeface="DM Sans" pitchFamily="34" charset="-122"/>
                <a:cs typeface="DM Sans" pitchFamily="34" charset="-120"/>
              </a:rPr>
              <a:t>High. Thousands to hundreds of thousands of dollars per training run, depending on model size. Plus a higher per-token rate at inference time.</a:t>
            </a:r>
            <a:endParaRPr lang="en-US" sz="1200" dirty="0"/>
          </a:p>
        </p:txBody>
      </p:sp>
      <p:pic>
        <p:nvPicPr>
          <p:cNvPr id="7"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151409" y="2191345"/>
            <a:ext cx="5378712" cy="1422797"/>
          </a:xfrm>
          <a:prstGeom prst="rect">
            <a:avLst/>
          </a:prstGeom>
        </p:spPr>
      </p:pic>
      <p:sp>
        <p:nvSpPr>
          <p:cNvPr id="8" name="Text 4"/>
          <p:cNvSpPr/>
          <p:nvPr/>
        </p:nvSpPr>
        <p:spPr>
          <a:xfrm>
            <a:off x="6403716" y="2367459"/>
            <a:ext cx="1963986" cy="245566"/>
          </a:xfrm>
          <a:prstGeom prst="rect">
            <a:avLst/>
          </a:prstGeom>
          <a:noFill/>
          <a:ln/>
        </p:spPr>
        <p:txBody>
          <a:bodyPr wrap="none" lIns="0" tIns="0" rIns="0" bIns="0" rtlCol="0" anchor="t"/>
          <a:lstStyle/>
          <a:p>
            <a:pPr marL="0" indent="0" algn="l">
              <a:lnSpc>
                <a:spcPct val="104000"/>
              </a:lnSpc>
              <a:buNone/>
            </a:pPr>
            <a:r>
              <a:rPr lang="en-US" sz="1500" dirty="0">
                <a:solidFill>
                  <a:srgbClr val="454240"/>
                </a:solidFill>
                <a:latin typeface="Libre Baskerville" pitchFamily="34" charset="0"/>
                <a:ea typeface="Libre Baskerville" pitchFamily="34" charset="-122"/>
                <a:cs typeface="Libre Baskerville" pitchFamily="34" charset="-120"/>
              </a:rPr>
              <a:t>Speed to deploy</a:t>
            </a:r>
            <a:endParaRPr lang="en-US" sz="1500" dirty="0"/>
          </a:p>
        </p:txBody>
      </p:sp>
      <p:sp>
        <p:nvSpPr>
          <p:cNvPr id="9" name="Text 5"/>
          <p:cNvSpPr/>
          <p:nvPr/>
        </p:nvSpPr>
        <p:spPr>
          <a:xfrm>
            <a:off x="6403716" y="2702520"/>
            <a:ext cx="4950296" cy="490339"/>
          </a:xfrm>
          <a:prstGeom prst="rect">
            <a:avLst/>
          </a:prstGeom>
          <a:noFill/>
          <a:ln/>
        </p:spPr>
        <p:txBody>
          <a:bodyPr wrap="square" lIns="0" tIns="0" rIns="0" bIns="0" rtlCol="0" anchor="t">
            <a:normAutofit/>
          </a:bodyPr>
          <a:lstStyle/>
          <a:p>
            <a:pPr marL="0" indent="0" algn="l">
              <a:lnSpc>
                <a:spcPct val="130000"/>
              </a:lnSpc>
              <a:buNone/>
            </a:pPr>
            <a:r>
              <a:rPr lang="en-US" sz="1200" dirty="0">
                <a:solidFill>
                  <a:srgbClr val="454240"/>
                </a:solidFill>
                <a:latin typeface="DM Sans" pitchFamily="34" charset="0"/>
                <a:ea typeface="DM Sans" pitchFamily="34" charset="-122"/>
                <a:cs typeface="DM Sans" pitchFamily="34" charset="-120"/>
              </a:rPr>
              <a:t>Weeks to months. You need a high-quality dataset, training infrastructure, and an evaluation process.</a:t>
            </a:r>
            <a:endParaRPr lang="en-US" sz="1200" dirty="0"/>
          </a:p>
        </p:txBody>
      </p:sp>
      <p:pic>
        <p:nvPicPr>
          <p:cNvPr id="10"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42525" y="3763367"/>
            <a:ext cx="5378712" cy="1422797"/>
          </a:xfrm>
          <a:prstGeom prst="rect">
            <a:avLst/>
          </a:prstGeom>
        </p:spPr>
      </p:pic>
      <p:sp>
        <p:nvSpPr>
          <p:cNvPr id="11" name="Text 6"/>
          <p:cNvSpPr/>
          <p:nvPr/>
        </p:nvSpPr>
        <p:spPr>
          <a:xfrm>
            <a:off x="894832" y="3939480"/>
            <a:ext cx="1963986" cy="245566"/>
          </a:xfrm>
          <a:prstGeom prst="rect">
            <a:avLst/>
          </a:prstGeom>
          <a:noFill/>
          <a:ln/>
        </p:spPr>
        <p:txBody>
          <a:bodyPr wrap="none" lIns="0" tIns="0" rIns="0" bIns="0" rtlCol="0" anchor="t"/>
          <a:lstStyle/>
          <a:p>
            <a:pPr marL="0" indent="0" algn="l">
              <a:lnSpc>
                <a:spcPct val="104000"/>
              </a:lnSpc>
              <a:buNone/>
            </a:pPr>
            <a:r>
              <a:rPr lang="en-US" sz="1500" dirty="0">
                <a:solidFill>
                  <a:srgbClr val="454240"/>
                </a:solidFill>
                <a:latin typeface="Libre Baskerville" pitchFamily="34" charset="0"/>
                <a:ea typeface="Libre Baskerville" pitchFamily="34" charset="-122"/>
                <a:cs typeface="Libre Baskerville" pitchFamily="34" charset="-120"/>
              </a:rPr>
              <a:t>Best for</a:t>
            </a:r>
            <a:endParaRPr lang="en-US" sz="1500" dirty="0"/>
          </a:p>
        </p:txBody>
      </p:sp>
      <p:sp>
        <p:nvSpPr>
          <p:cNvPr id="12" name="Text 7"/>
          <p:cNvSpPr/>
          <p:nvPr/>
        </p:nvSpPr>
        <p:spPr>
          <a:xfrm>
            <a:off x="894832" y="4274542"/>
            <a:ext cx="4950296" cy="735509"/>
          </a:xfrm>
          <a:prstGeom prst="rect">
            <a:avLst/>
          </a:prstGeom>
          <a:noFill/>
          <a:ln/>
        </p:spPr>
        <p:txBody>
          <a:bodyPr wrap="square" lIns="0" tIns="0" rIns="0" bIns="0" rtlCol="0" anchor="t">
            <a:normAutofit/>
          </a:bodyPr>
          <a:lstStyle/>
          <a:p>
            <a:pPr marL="0" indent="0" algn="l">
              <a:lnSpc>
                <a:spcPct val="130000"/>
              </a:lnSpc>
              <a:buNone/>
            </a:pPr>
            <a:r>
              <a:rPr lang="en-US" sz="1200" dirty="0">
                <a:solidFill>
                  <a:srgbClr val="454240"/>
                </a:solidFill>
                <a:latin typeface="DM Sans" pitchFamily="34" charset="0"/>
                <a:ea typeface="DM Sans" pitchFamily="34" charset="-122"/>
                <a:cs typeface="DM Sans" pitchFamily="34" charset="-120"/>
              </a:rPr>
              <a:t>Specialised tasks where the </a:t>
            </a:r>
            <a:r>
              <a:rPr lang="en-US" sz="1200" i="1" dirty="0">
                <a:solidFill>
                  <a:srgbClr val="454240"/>
                </a:solidFill>
                <a:latin typeface="DM Sans" pitchFamily="34" charset="0"/>
                <a:ea typeface="DM Sans" pitchFamily="34" charset="-122"/>
                <a:cs typeface="DM Sans" pitchFamily="34" charset="-120"/>
              </a:rPr>
              <a:t>style</a:t>
            </a:r>
            <a:r>
              <a:rPr lang="en-US" sz="1200" dirty="0">
                <a:solidFill>
                  <a:srgbClr val="454240"/>
                </a:solidFill>
                <a:latin typeface="DM Sans" pitchFamily="34" charset="0"/>
                <a:ea typeface="DM Sans" pitchFamily="34" charset="-122"/>
                <a:cs typeface="DM Sans" pitchFamily="34" charset="-120"/>
              </a:rPr>
              <a:t> or </a:t>
            </a:r>
            <a:r>
              <a:rPr lang="en-US" sz="1200" i="1" dirty="0">
                <a:solidFill>
                  <a:srgbClr val="454240"/>
                </a:solidFill>
                <a:latin typeface="DM Sans" pitchFamily="34" charset="0"/>
                <a:ea typeface="DM Sans" pitchFamily="34" charset="-122"/>
                <a:cs typeface="DM Sans" pitchFamily="34" charset="-120"/>
              </a:rPr>
              <a:t>format</a:t>
            </a:r>
            <a:r>
              <a:rPr lang="en-US" sz="1200" dirty="0">
                <a:solidFill>
                  <a:srgbClr val="454240"/>
                </a:solidFill>
                <a:latin typeface="DM Sans" pitchFamily="34" charset="0"/>
                <a:ea typeface="DM Sans" pitchFamily="34" charset="-122"/>
                <a:cs typeface="DM Sans" pitchFamily="34" charset="-120"/>
              </a:rPr>
              <a:t> of output matters and is hard to specify in a prompt. Or where you need behaviour that even the best prompt can't reliably achieve.</a:t>
            </a:r>
            <a:endParaRPr lang="en-US" sz="1200" dirty="0"/>
          </a:p>
        </p:txBody>
      </p:sp>
      <p:pic>
        <p:nvPicPr>
          <p:cNvPr id="13" name="Image 3"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151409" y="3763367"/>
            <a:ext cx="5378712" cy="1422797"/>
          </a:xfrm>
          <a:prstGeom prst="rect">
            <a:avLst/>
          </a:prstGeom>
        </p:spPr>
      </p:pic>
      <p:sp>
        <p:nvSpPr>
          <p:cNvPr id="14" name="Text 8"/>
          <p:cNvSpPr/>
          <p:nvPr/>
        </p:nvSpPr>
        <p:spPr>
          <a:xfrm>
            <a:off x="6403716" y="3939480"/>
            <a:ext cx="1963986" cy="245566"/>
          </a:xfrm>
          <a:prstGeom prst="rect">
            <a:avLst/>
          </a:prstGeom>
          <a:noFill/>
          <a:ln/>
        </p:spPr>
        <p:txBody>
          <a:bodyPr wrap="none" lIns="0" tIns="0" rIns="0" bIns="0" rtlCol="0" anchor="t"/>
          <a:lstStyle/>
          <a:p>
            <a:pPr marL="0" indent="0" algn="l">
              <a:lnSpc>
                <a:spcPct val="104000"/>
              </a:lnSpc>
              <a:buNone/>
            </a:pPr>
            <a:r>
              <a:rPr lang="en-US" sz="1500" dirty="0">
                <a:solidFill>
                  <a:srgbClr val="454240"/>
                </a:solidFill>
                <a:latin typeface="Libre Baskerville" pitchFamily="34" charset="0"/>
                <a:ea typeface="Libre Baskerville" pitchFamily="34" charset="-122"/>
                <a:cs typeface="Libre Baskerville" pitchFamily="34" charset="-120"/>
              </a:rPr>
              <a:t>Limits</a:t>
            </a:r>
            <a:endParaRPr lang="en-US" sz="1500" dirty="0"/>
          </a:p>
        </p:txBody>
      </p:sp>
      <p:sp>
        <p:nvSpPr>
          <p:cNvPr id="15" name="Text 9"/>
          <p:cNvSpPr/>
          <p:nvPr/>
        </p:nvSpPr>
        <p:spPr>
          <a:xfrm>
            <a:off x="6403716" y="4274542"/>
            <a:ext cx="4950296" cy="735509"/>
          </a:xfrm>
          <a:prstGeom prst="rect">
            <a:avLst/>
          </a:prstGeom>
          <a:noFill/>
          <a:ln/>
        </p:spPr>
        <p:txBody>
          <a:bodyPr wrap="square" lIns="0" tIns="0" rIns="0" bIns="0" rtlCol="0" anchor="t">
            <a:normAutofit/>
          </a:bodyPr>
          <a:lstStyle/>
          <a:p>
            <a:pPr marL="0" indent="0" algn="l">
              <a:lnSpc>
                <a:spcPct val="130000"/>
              </a:lnSpc>
              <a:buNone/>
            </a:pPr>
            <a:r>
              <a:rPr lang="en-US" sz="1200" dirty="0">
                <a:solidFill>
                  <a:srgbClr val="454240"/>
                </a:solidFill>
                <a:latin typeface="DM Sans" pitchFamily="34" charset="0"/>
                <a:ea typeface="DM Sans" pitchFamily="34" charset="-122"/>
                <a:cs typeface="DM Sans" pitchFamily="34" charset="-120"/>
              </a:rPr>
              <a:t>Brittle to maintain. Fine-tuning doesn't reliably add facts — it shapes behaviour. Trying to teach facts via fine-tuning usually produces a model that hallucinates them confidently.</a:t>
            </a:r>
            <a:endParaRPr lang="en-US" sz="1200" dirty="0"/>
          </a:p>
        </p:txBody>
      </p:sp>
      <p:sp>
        <p:nvSpPr>
          <p:cNvPr id="16" name="Shape 10"/>
          <p:cNvSpPr/>
          <p:nvPr/>
        </p:nvSpPr>
        <p:spPr>
          <a:xfrm>
            <a:off x="661574" y="5354042"/>
            <a:ext cx="10868547" cy="837406"/>
          </a:xfrm>
          <a:prstGeom prst="roundRect">
            <a:avLst>
              <a:gd name="adj" fmla="val 7880"/>
            </a:avLst>
          </a:prstGeom>
          <a:solidFill>
            <a:srgbClr val="B6D6FC"/>
          </a:solidFill>
          <a:ln/>
        </p:spPr>
      </p:sp>
      <p:pic>
        <p:nvPicPr>
          <p:cNvPr id="17" name="Image 4" descr="preencoded.png"/>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818633" y="5577880"/>
            <a:ext cx="196349" cy="157063"/>
          </a:xfrm>
          <a:prstGeom prst="rect">
            <a:avLst/>
          </a:prstGeom>
        </p:spPr>
      </p:pic>
      <p:sp>
        <p:nvSpPr>
          <p:cNvPr id="18" name="Text 11"/>
          <p:cNvSpPr/>
          <p:nvPr/>
        </p:nvSpPr>
        <p:spPr>
          <a:xfrm>
            <a:off x="1172042" y="5527576"/>
            <a:ext cx="10201020" cy="490339"/>
          </a:xfrm>
          <a:prstGeom prst="rect">
            <a:avLst/>
          </a:prstGeom>
          <a:noFill/>
          <a:ln/>
        </p:spPr>
        <p:txBody>
          <a:bodyPr wrap="square" lIns="0" tIns="0" rIns="0" bIns="0" rtlCol="0" anchor="t">
            <a:normAutofit/>
          </a:bodyPr>
          <a:lstStyle/>
          <a:p>
            <a:pPr marL="0" indent="0" algn="l">
              <a:lnSpc>
                <a:spcPct val="130000"/>
              </a:lnSpc>
              <a:buNone/>
            </a:pPr>
            <a:r>
              <a:rPr lang="en-US" sz="1200" b="1" dirty="0">
                <a:solidFill>
                  <a:srgbClr val="000000"/>
                </a:solidFill>
                <a:latin typeface="DM Sans" pitchFamily="34" charset="0"/>
                <a:ea typeface="DM Sans" pitchFamily="34" charset="-122"/>
                <a:cs typeface="DM Sans" pitchFamily="34" charset="-120"/>
              </a:rPr>
              <a:t>Example:</a:t>
            </a:r>
            <a:r>
              <a:rPr lang="en-US" sz="1200" dirty="0">
                <a:solidFill>
                  <a:srgbClr val="000000"/>
                </a:solidFill>
                <a:latin typeface="DM Sans" pitchFamily="34" charset="0"/>
                <a:ea typeface="DM Sans" pitchFamily="34" charset="-122"/>
                <a:cs typeface="DM Sans" pitchFamily="34" charset="-120"/>
              </a:rPr>
              <a:t> Training a model to draft regulatory filings in your firm's exact format and language — but probably </a:t>
            </a:r>
            <a:r>
              <a:rPr lang="en-US" sz="1200" i="1" dirty="0">
                <a:solidFill>
                  <a:srgbClr val="000000"/>
                </a:solidFill>
                <a:latin typeface="DM Sans" pitchFamily="34" charset="0"/>
                <a:ea typeface="DM Sans" pitchFamily="34" charset="-122"/>
                <a:cs typeface="DM Sans" pitchFamily="34" charset="-120"/>
              </a:rPr>
              <a:t>also</a:t>
            </a:r>
            <a:r>
              <a:rPr lang="en-US" sz="1200" dirty="0">
                <a:solidFill>
                  <a:srgbClr val="000000"/>
                </a:solidFill>
                <a:latin typeface="DM Sans" pitchFamily="34" charset="0"/>
                <a:ea typeface="DM Sans" pitchFamily="34" charset="-122"/>
                <a:cs typeface="DM Sans" pitchFamily="34" charset="-120"/>
              </a:rPr>
              <a:t> needs RAG for the current numbers.</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661574" y="1363365"/>
            <a:ext cx="10781336" cy="516731"/>
          </a:xfrm>
          <a:prstGeom prst="rect">
            <a:avLst/>
          </a:prstGeom>
          <a:noFill/>
          <a:ln/>
        </p:spPr>
        <p:txBody>
          <a:bodyPr wrap="none" lIns="0" tIns="0" rIns="0" bIns="0" rtlCol="0" anchor="t"/>
          <a:lstStyle/>
          <a:p>
            <a:pPr marL="0" indent="0" algn="l">
              <a:lnSpc>
                <a:spcPct val="104000"/>
              </a:lnSpc>
              <a:buNone/>
            </a:pPr>
            <a:r>
              <a:rPr lang="en-US" sz="3250" dirty="0">
                <a:solidFill>
                  <a:srgbClr val="5C4E3D"/>
                </a:solidFill>
                <a:latin typeface="Libre Baskerville" pitchFamily="34" charset="0"/>
                <a:ea typeface="Libre Baskerville" pitchFamily="34" charset="-122"/>
                <a:cs typeface="Libre Baskerville" pitchFamily="34" charset="-120"/>
              </a:rPr>
              <a:t>A Decision Rule: The Right Order of Operations</a:t>
            </a:r>
            <a:endParaRPr lang="en-US" sz="3250" dirty="0"/>
          </a:p>
        </p:txBody>
      </p:sp>
      <p:sp>
        <p:nvSpPr>
          <p:cNvPr id="3" name="Shape 1"/>
          <p:cNvSpPr/>
          <p:nvPr/>
        </p:nvSpPr>
        <p:spPr>
          <a:xfrm>
            <a:off x="661574" y="2210792"/>
            <a:ext cx="372061" cy="372070"/>
          </a:xfrm>
          <a:prstGeom prst="roundRect">
            <a:avLst>
              <a:gd name="adj" fmla="val 18670"/>
            </a:avLst>
          </a:prstGeom>
          <a:solidFill>
            <a:srgbClr val="F7EDD4"/>
          </a:solidFill>
          <a:ln w="6350">
            <a:solidFill>
              <a:srgbClr val="DDD3BA"/>
            </a:solidFill>
            <a:prstDash val="solid"/>
          </a:ln>
        </p:spPr>
      </p:sp>
      <p:sp>
        <p:nvSpPr>
          <p:cNvPr id="4" name="Text 2"/>
          <p:cNvSpPr/>
          <p:nvPr/>
        </p:nvSpPr>
        <p:spPr>
          <a:xfrm>
            <a:off x="723584" y="2241798"/>
            <a:ext cx="248041" cy="310059"/>
          </a:xfrm>
          <a:prstGeom prst="rect">
            <a:avLst/>
          </a:prstGeom>
          <a:noFill/>
          <a:ln/>
        </p:spPr>
        <p:txBody>
          <a:bodyPr wrap="none" lIns="0" tIns="0" rIns="0" bIns="0" rtlCol="0" anchor="ctr"/>
          <a:lstStyle/>
          <a:p>
            <a:pPr marL="0" indent="0" algn="ctr">
              <a:lnSpc>
                <a:spcPct val="100000"/>
              </a:lnSpc>
              <a:buNone/>
            </a:pPr>
            <a:r>
              <a:rPr lang="en-US" sz="1950" dirty="0">
                <a:solidFill>
                  <a:srgbClr val="454240"/>
                </a:solidFill>
                <a:latin typeface="Libre Baskerville" pitchFamily="34" charset="0"/>
                <a:ea typeface="Libre Baskerville" pitchFamily="34" charset="-122"/>
                <a:cs typeface="Libre Baskerville" pitchFamily="34" charset="-120"/>
              </a:rPr>
              <a:t>1</a:t>
            </a:r>
            <a:endParaRPr lang="en-US" sz="1950" dirty="0"/>
          </a:p>
        </p:txBody>
      </p:sp>
      <p:sp>
        <p:nvSpPr>
          <p:cNvPr id="5" name="Text 3"/>
          <p:cNvSpPr/>
          <p:nvPr/>
        </p:nvSpPr>
        <p:spPr>
          <a:xfrm>
            <a:off x="1198929" y="2267645"/>
            <a:ext cx="2947715" cy="516930"/>
          </a:xfrm>
          <a:prstGeom prst="rect">
            <a:avLst/>
          </a:prstGeom>
          <a:noFill/>
          <a:ln/>
        </p:spPr>
        <p:txBody>
          <a:bodyPr wrap="square" lIns="0" tIns="0" rIns="0" bIns="0" rtlCol="0" anchor="t">
            <a:normAutofit/>
          </a:bodyPr>
          <a:lstStyle/>
          <a:p>
            <a:pPr marL="0" indent="0" algn="l">
              <a:lnSpc>
                <a:spcPct val="104000"/>
              </a:lnSpc>
              <a:buNone/>
            </a:pPr>
            <a:r>
              <a:rPr lang="en-US" sz="1600" dirty="0">
                <a:solidFill>
                  <a:srgbClr val="454240"/>
                </a:solidFill>
                <a:latin typeface="Libre Baskerville" pitchFamily="34" charset="0"/>
                <a:ea typeface="Libre Baskerville" pitchFamily="34" charset="-122"/>
                <a:cs typeface="Libre Baskerville" pitchFamily="34" charset="-120"/>
              </a:rPr>
              <a:t>Start with Prompt Engineering</a:t>
            </a:r>
            <a:endParaRPr lang="en-US" sz="1600" dirty="0"/>
          </a:p>
        </p:txBody>
      </p:sp>
      <p:sp>
        <p:nvSpPr>
          <p:cNvPr id="6" name="Text 4"/>
          <p:cNvSpPr/>
          <p:nvPr/>
        </p:nvSpPr>
        <p:spPr>
          <a:xfrm>
            <a:off x="1198929" y="2883793"/>
            <a:ext cx="2947715"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Always. It's free, fast, and you'll be surprised how far it goes.</a:t>
            </a:r>
            <a:endParaRPr lang="en-US" sz="1300" dirty="0"/>
          </a:p>
        </p:txBody>
      </p:sp>
      <p:sp>
        <p:nvSpPr>
          <p:cNvPr id="7" name="Shape 5"/>
          <p:cNvSpPr/>
          <p:nvPr/>
        </p:nvSpPr>
        <p:spPr>
          <a:xfrm>
            <a:off x="4353312" y="2210792"/>
            <a:ext cx="372061" cy="372070"/>
          </a:xfrm>
          <a:prstGeom prst="roundRect">
            <a:avLst>
              <a:gd name="adj" fmla="val 18670"/>
            </a:avLst>
          </a:prstGeom>
          <a:solidFill>
            <a:srgbClr val="F7EDD4"/>
          </a:solidFill>
          <a:ln w="6350">
            <a:solidFill>
              <a:srgbClr val="DDD3BA"/>
            </a:solidFill>
            <a:prstDash val="solid"/>
          </a:ln>
        </p:spPr>
      </p:sp>
      <p:sp>
        <p:nvSpPr>
          <p:cNvPr id="8" name="Text 6"/>
          <p:cNvSpPr/>
          <p:nvPr/>
        </p:nvSpPr>
        <p:spPr>
          <a:xfrm>
            <a:off x="4415322" y="2241798"/>
            <a:ext cx="248041" cy="310059"/>
          </a:xfrm>
          <a:prstGeom prst="rect">
            <a:avLst/>
          </a:prstGeom>
          <a:noFill/>
          <a:ln/>
        </p:spPr>
        <p:txBody>
          <a:bodyPr wrap="none" lIns="0" tIns="0" rIns="0" bIns="0" rtlCol="0" anchor="ctr"/>
          <a:lstStyle/>
          <a:p>
            <a:pPr marL="0" indent="0" algn="ctr">
              <a:lnSpc>
                <a:spcPct val="100000"/>
              </a:lnSpc>
              <a:buNone/>
            </a:pPr>
            <a:r>
              <a:rPr lang="en-US" sz="1950" dirty="0">
                <a:solidFill>
                  <a:srgbClr val="454240"/>
                </a:solidFill>
                <a:latin typeface="Libre Baskerville" pitchFamily="34" charset="0"/>
                <a:ea typeface="Libre Baskerville" pitchFamily="34" charset="-122"/>
                <a:cs typeface="Libre Baskerville" pitchFamily="34" charset="-120"/>
              </a:rPr>
              <a:t>2</a:t>
            </a:r>
            <a:endParaRPr lang="en-US" sz="1950" dirty="0"/>
          </a:p>
        </p:txBody>
      </p:sp>
      <p:sp>
        <p:nvSpPr>
          <p:cNvPr id="9" name="Text 7"/>
          <p:cNvSpPr/>
          <p:nvPr/>
        </p:nvSpPr>
        <p:spPr>
          <a:xfrm>
            <a:off x="4890667" y="2267645"/>
            <a:ext cx="2067369" cy="258465"/>
          </a:xfrm>
          <a:prstGeom prst="rect">
            <a:avLst/>
          </a:prstGeom>
          <a:noFill/>
          <a:ln/>
        </p:spPr>
        <p:txBody>
          <a:bodyPr wrap="none" lIns="0" tIns="0" rIns="0" bIns="0" rtlCol="0" anchor="t"/>
          <a:lstStyle/>
          <a:p>
            <a:pPr marL="0" indent="0" algn="l">
              <a:lnSpc>
                <a:spcPct val="104000"/>
              </a:lnSpc>
              <a:buNone/>
            </a:pPr>
            <a:r>
              <a:rPr lang="en-US" sz="1600" dirty="0">
                <a:solidFill>
                  <a:srgbClr val="454240"/>
                </a:solidFill>
                <a:latin typeface="Libre Baskerville" pitchFamily="34" charset="0"/>
                <a:ea typeface="Libre Baskerville" pitchFamily="34" charset="-122"/>
                <a:cs typeface="Libre Baskerville" pitchFamily="34" charset="-120"/>
              </a:rPr>
              <a:t>Add RAG</a:t>
            </a:r>
            <a:endParaRPr lang="en-US" sz="1600" dirty="0"/>
          </a:p>
        </p:txBody>
      </p:sp>
      <p:sp>
        <p:nvSpPr>
          <p:cNvPr id="10" name="Text 8"/>
          <p:cNvSpPr/>
          <p:nvPr/>
        </p:nvSpPr>
        <p:spPr>
          <a:xfrm>
            <a:off x="4890667" y="2625328"/>
            <a:ext cx="2947715" cy="793849"/>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When the model needs knowledge it doesn't have, especially knowledge that changes over time.</a:t>
            </a:r>
            <a:endParaRPr lang="en-US" sz="1300" dirty="0"/>
          </a:p>
        </p:txBody>
      </p:sp>
      <p:sp>
        <p:nvSpPr>
          <p:cNvPr id="11" name="Shape 9"/>
          <p:cNvSpPr/>
          <p:nvPr/>
        </p:nvSpPr>
        <p:spPr>
          <a:xfrm>
            <a:off x="8045050" y="2210792"/>
            <a:ext cx="372061" cy="372070"/>
          </a:xfrm>
          <a:prstGeom prst="roundRect">
            <a:avLst>
              <a:gd name="adj" fmla="val 18670"/>
            </a:avLst>
          </a:prstGeom>
          <a:solidFill>
            <a:srgbClr val="F7EDD4"/>
          </a:solidFill>
          <a:ln w="6350">
            <a:solidFill>
              <a:srgbClr val="DDD3BA"/>
            </a:solidFill>
            <a:prstDash val="solid"/>
          </a:ln>
        </p:spPr>
      </p:sp>
      <p:sp>
        <p:nvSpPr>
          <p:cNvPr id="12" name="Text 10"/>
          <p:cNvSpPr/>
          <p:nvPr/>
        </p:nvSpPr>
        <p:spPr>
          <a:xfrm>
            <a:off x="8107060" y="2241798"/>
            <a:ext cx="248041" cy="310059"/>
          </a:xfrm>
          <a:prstGeom prst="rect">
            <a:avLst/>
          </a:prstGeom>
          <a:noFill/>
          <a:ln/>
        </p:spPr>
        <p:txBody>
          <a:bodyPr wrap="none" lIns="0" tIns="0" rIns="0" bIns="0" rtlCol="0" anchor="ctr"/>
          <a:lstStyle/>
          <a:p>
            <a:pPr marL="0" indent="0" algn="ctr">
              <a:lnSpc>
                <a:spcPct val="100000"/>
              </a:lnSpc>
              <a:buNone/>
            </a:pPr>
            <a:r>
              <a:rPr lang="en-US" sz="1950" dirty="0">
                <a:solidFill>
                  <a:srgbClr val="454240"/>
                </a:solidFill>
                <a:latin typeface="Libre Baskerville" pitchFamily="34" charset="0"/>
                <a:ea typeface="Libre Baskerville" pitchFamily="34" charset="-122"/>
                <a:cs typeface="Libre Baskerville" pitchFamily="34" charset="-120"/>
              </a:rPr>
              <a:t>3</a:t>
            </a:r>
            <a:endParaRPr lang="en-US" sz="1950" dirty="0"/>
          </a:p>
        </p:txBody>
      </p:sp>
      <p:sp>
        <p:nvSpPr>
          <p:cNvPr id="13" name="Text 11"/>
          <p:cNvSpPr/>
          <p:nvPr/>
        </p:nvSpPr>
        <p:spPr>
          <a:xfrm>
            <a:off x="8582406" y="2267645"/>
            <a:ext cx="2338527" cy="258465"/>
          </a:xfrm>
          <a:prstGeom prst="rect">
            <a:avLst/>
          </a:prstGeom>
          <a:noFill/>
          <a:ln/>
        </p:spPr>
        <p:txBody>
          <a:bodyPr wrap="none" lIns="0" tIns="0" rIns="0" bIns="0" rtlCol="0" anchor="t"/>
          <a:lstStyle/>
          <a:p>
            <a:pPr marL="0" indent="0" algn="l">
              <a:lnSpc>
                <a:spcPct val="104000"/>
              </a:lnSpc>
              <a:buNone/>
            </a:pPr>
            <a:r>
              <a:rPr lang="en-US" sz="1600" dirty="0">
                <a:solidFill>
                  <a:srgbClr val="454240"/>
                </a:solidFill>
                <a:latin typeface="Libre Baskerville" pitchFamily="34" charset="0"/>
                <a:ea typeface="Libre Baskerville" pitchFamily="34" charset="-122"/>
                <a:cs typeface="Libre Baskerville" pitchFamily="34" charset="-120"/>
              </a:rPr>
              <a:t>Consider Fine-Tuning</a:t>
            </a:r>
            <a:endParaRPr lang="en-US" sz="1600" dirty="0"/>
          </a:p>
        </p:txBody>
      </p:sp>
      <p:sp>
        <p:nvSpPr>
          <p:cNvPr id="14" name="Text 12"/>
          <p:cNvSpPr/>
          <p:nvPr/>
        </p:nvSpPr>
        <p:spPr>
          <a:xfrm>
            <a:off x="8582406" y="2625328"/>
            <a:ext cx="2947715" cy="1323082"/>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Only when prompting and RAG together aren't enough — usually because you need a very specific behavioural pattern and have a stable, high-quality dataset to train on.</a:t>
            </a:r>
            <a:endParaRPr lang="en-US" sz="1300" dirty="0"/>
          </a:p>
        </p:txBody>
      </p:sp>
      <p:sp>
        <p:nvSpPr>
          <p:cNvPr id="15" name="Shape 13"/>
          <p:cNvSpPr/>
          <p:nvPr/>
        </p:nvSpPr>
        <p:spPr>
          <a:xfrm>
            <a:off x="661574" y="4134445"/>
            <a:ext cx="10868547" cy="1174055"/>
          </a:xfrm>
          <a:prstGeom prst="roundRect">
            <a:avLst>
              <a:gd name="adj" fmla="val 5917"/>
            </a:avLst>
          </a:prstGeom>
          <a:solidFill>
            <a:srgbClr val="FCF2B5"/>
          </a:solidFill>
          <a:ln/>
        </p:spPr>
      </p:sp>
      <p:pic>
        <p:nvPicPr>
          <p:cNvPr id="16" name="Image 0" descr="preencoded.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26868" y="4374158"/>
            <a:ext cx="206667" cy="165298"/>
          </a:xfrm>
          <a:prstGeom prst="rect">
            <a:avLst/>
          </a:prstGeom>
        </p:spPr>
      </p:pic>
      <p:sp>
        <p:nvSpPr>
          <p:cNvPr id="17" name="Text 14"/>
          <p:cNvSpPr/>
          <p:nvPr/>
        </p:nvSpPr>
        <p:spPr>
          <a:xfrm>
            <a:off x="1198830" y="4324548"/>
            <a:ext cx="10165996" cy="793849"/>
          </a:xfrm>
          <a:prstGeom prst="rect">
            <a:avLst/>
          </a:prstGeom>
          <a:noFill/>
          <a:ln/>
        </p:spPr>
        <p:txBody>
          <a:bodyPr wrap="square" lIns="0" tIns="0" rIns="0" bIns="0" rtlCol="0" anchor="t">
            <a:normAutofit/>
          </a:bodyPr>
          <a:lstStyle/>
          <a:p>
            <a:pPr marL="0" indent="0" algn="l">
              <a:lnSpc>
                <a:spcPct val="133000"/>
              </a:lnSpc>
              <a:buNone/>
            </a:pPr>
            <a:r>
              <a:rPr lang="en-US" sz="1300" b="1" dirty="0">
                <a:solidFill>
                  <a:srgbClr val="000000"/>
                </a:solidFill>
                <a:latin typeface="DM Sans" pitchFamily="34" charset="0"/>
                <a:ea typeface="DM Sans" pitchFamily="34" charset="-122"/>
                <a:cs typeface="DM Sans" pitchFamily="34" charset="-120"/>
              </a:rPr>
              <a:t>The rookie mistake:</a:t>
            </a:r>
            <a:r>
              <a:rPr lang="en-US" sz="1300" dirty="0">
                <a:solidFill>
                  <a:srgbClr val="000000"/>
                </a:solidFill>
                <a:latin typeface="DM Sans" pitchFamily="34" charset="0"/>
                <a:ea typeface="DM Sans" pitchFamily="34" charset="-122"/>
                <a:cs typeface="DM Sans" pitchFamily="34" charset="-120"/>
              </a:rPr>
              <a:t> Reaching for fine-tuning first, because it sounds the most sophisticated. It's almost always the wrong starting point. Fine-tuning is the most expensive, least flexible, and most brittle option. In practice, most enterprise LLM systems are 90% prompting + RAG + tools, and 10% fine-tuning where it really pays off.</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1935213" y="355898"/>
            <a:ext cx="526541" cy="218877"/>
          </a:xfrm>
          <a:prstGeom prst="roundRect">
            <a:avLst>
              <a:gd name="adj" fmla="val 19439"/>
            </a:avLst>
          </a:prstGeom>
          <a:solidFill>
            <a:srgbClr val="F7EDD4"/>
          </a:solidFill>
          <a:ln/>
        </p:spPr>
      </p:sp>
      <p:sp>
        <p:nvSpPr>
          <p:cNvPr id="3" name="Text 1"/>
          <p:cNvSpPr/>
          <p:nvPr/>
        </p:nvSpPr>
        <p:spPr>
          <a:xfrm>
            <a:off x="2011114" y="393799"/>
            <a:ext cx="984325" cy="143073"/>
          </a:xfrm>
          <a:prstGeom prst="rect">
            <a:avLst/>
          </a:prstGeom>
          <a:noFill/>
          <a:ln/>
        </p:spPr>
        <p:txBody>
          <a:bodyPr wrap="none" lIns="0" tIns="0" rIns="0" bIns="0" rtlCol="0" anchor="t"/>
          <a:lstStyle/>
          <a:p>
            <a:pPr marL="0" indent="0" algn="l">
              <a:lnSpc>
                <a:spcPct val="118000"/>
              </a:lnSpc>
              <a:buNone/>
            </a:pPr>
            <a:r>
              <a:rPr lang="en-US" sz="750" dirty="0">
                <a:solidFill>
                  <a:srgbClr val="454240"/>
                </a:solidFill>
                <a:latin typeface="DM Sans" pitchFamily="34" charset="0"/>
                <a:ea typeface="DM Sans" pitchFamily="34" charset="-122"/>
                <a:cs typeface="DM Sans" pitchFamily="34" charset="-120"/>
              </a:rPr>
              <a:t>STEP 28</a:t>
            </a:r>
            <a:endParaRPr lang="en-US" sz="750" dirty="0"/>
          </a:p>
        </p:txBody>
      </p:sp>
      <p:sp>
        <p:nvSpPr>
          <p:cNvPr id="4" name="Text 2"/>
          <p:cNvSpPr/>
          <p:nvPr/>
        </p:nvSpPr>
        <p:spPr>
          <a:xfrm>
            <a:off x="1935213" y="613470"/>
            <a:ext cx="7426735" cy="395684"/>
          </a:xfrm>
          <a:prstGeom prst="rect">
            <a:avLst/>
          </a:prstGeom>
          <a:noFill/>
          <a:ln/>
        </p:spPr>
        <p:txBody>
          <a:bodyPr wrap="none" lIns="0" tIns="0" rIns="0" bIns="0" rtlCol="0" anchor="t"/>
          <a:lstStyle/>
          <a:p>
            <a:pPr marL="0" indent="0" algn="l">
              <a:lnSpc>
                <a:spcPct val="104000"/>
              </a:lnSpc>
              <a:buNone/>
            </a:pPr>
            <a:r>
              <a:rPr lang="en-US" sz="2450" dirty="0">
                <a:solidFill>
                  <a:srgbClr val="5C4E3D"/>
                </a:solidFill>
                <a:latin typeface="Libre Baskerville" pitchFamily="34" charset="0"/>
                <a:ea typeface="Libre Baskerville" pitchFamily="34" charset="-122"/>
                <a:cs typeface="Libre Baskerville" pitchFamily="34" charset="-120"/>
              </a:rPr>
              <a:t>Model Size, Speed, and the Routing Game</a:t>
            </a:r>
            <a:endParaRPr lang="en-US" sz="2450" dirty="0"/>
          </a:p>
        </p:txBody>
      </p:sp>
      <p:sp>
        <p:nvSpPr>
          <p:cNvPr id="5" name="Text 3"/>
          <p:cNvSpPr/>
          <p:nvPr/>
        </p:nvSpPr>
        <p:spPr>
          <a:xfrm>
            <a:off x="1935213" y="1047849"/>
            <a:ext cx="2602443" cy="197743"/>
          </a:xfrm>
          <a:prstGeom prst="rect">
            <a:avLst/>
          </a:prstGeom>
          <a:noFill/>
          <a:ln/>
        </p:spPr>
        <p:txBody>
          <a:bodyPr wrap="none" lIns="0" tIns="0" rIns="0" bIns="0" rtlCol="0" anchor="t"/>
          <a:lstStyle/>
          <a:p>
            <a:pPr marL="0" indent="0" algn="l">
              <a:lnSpc>
                <a:spcPct val="104000"/>
              </a:lnSpc>
              <a:buNone/>
            </a:pPr>
            <a:r>
              <a:rPr lang="en-US" sz="1200" dirty="0">
                <a:solidFill>
                  <a:srgbClr val="5C4E3D"/>
                </a:solidFill>
                <a:latin typeface="Libre Baskerville" pitchFamily="34" charset="0"/>
                <a:ea typeface="Libre Baskerville" pitchFamily="34" charset="-122"/>
                <a:cs typeface="Libre Baskerville" pitchFamily="34" charset="-120"/>
              </a:rPr>
              <a:t>Bigger isn't always better</a:t>
            </a:r>
            <a:endParaRPr lang="en-US" sz="1200" dirty="0"/>
          </a:p>
        </p:txBody>
      </p:sp>
      <p:sp>
        <p:nvSpPr>
          <p:cNvPr id="6" name="Text 4"/>
          <p:cNvSpPr/>
          <p:nvPr/>
        </p:nvSpPr>
        <p:spPr>
          <a:xfrm>
            <a:off x="1935213" y="1390948"/>
            <a:ext cx="8321169" cy="357584"/>
          </a:xfrm>
          <a:prstGeom prst="rect">
            <a:avLst/>
          </a:prstGeom>
          <a:noFill/>
          <a:ln/>
        </p:spPr>
        <p:txBody>
          <a:bodyPr wrap="square" lIns="0" tIns="0" rIns="0" bIns="0" rtlCol="0" anchor="t">
            <a:normAutofit/>
          </a:bodyPr>
          <a:lstStyle/>
          <a:p>
            <a:pPr marL="0" indent="0" algn="l">
              <a:lnSpc>
                <a:spcPct val="118000"/>
              </a:lnSpc>
              <a:buNone/>
            </a:pPr>
            <a:r>
              <a:rPr lang="en-US" sz="950" dirty="0">
                <a:solidFill>
                  <a:srgbClr val="454240"/>
                </a:solidFill>
                <a:latin typeface="DM Sans" pitchFamily="34" charset="0"/>
                <a:ea typeface="DM Sans" pitchFamily="34" charset="-122"/>
                <a:cs typeface="DM Sans" pitchFamily="34" charset="-120"/>
              </a:rPr>
              <a:t>When LLM vendors release new models, they typically release a family: a big flagship model, a medium model, and a small model. For example: Opus, Sonnet, Haiku. Or GPT-4, GPT-4-mini, GPT-4-nano.</a:t>
            </a:r>
            <a:endParaRPr lang="en-US" sz="950" dirty="0"/>
          </a:p>
        </p:txBody>
      </p:sp>
      <p:pic>
        <p:nvPicPr>
          <p:cNvPr id="7" name="Image 0" descr="preencoded.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935213" y="1857573"/>
            <a:ext cx="8321169" cy="464443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619809" y="0"/>
            <a:ext cx="4571886" cy="6858000"/>
          </a:xfrm>
          <a:prstGeom prst="rect">
            <a:avLst/>
          </a:prstGeom>
        </p:spPr>
      </p:pic>
      <p:sp>
        <p:nvSpPr>
          <p:cNvPr id="3" name="Text 0"/>
          <p:cNvSpPr/>
          <p:nvPr/>
        </p:nvSpPr>
        <p:spPr>
          <a:xfrm>
            <a:off x="661475" y="870843"/>
            <a:ext cx="6296860" cy="1033463"/>
          </a:xfrm>
          <a:prstGeom prst="rect">
            <a:avLst/>
          </a:prstGeom>
          <a:noFill/>
          <a:ln/>
        </p:spPr>
        <p:txBody>
          <a:bodyPr wrap="square" lIns="0" tIns="0" rIns="0" bIns="0" rtlCol="0" anchor="t">
            <a:normAutofit/>
          </a:bodyPr>
          <a:lstStyle/>
          <a:p>
            <a:pPr marL="0" indent="0" algn="l">
              <a:lnSpc>
                <a:spcPct val="104000"/>
              </a:lnSpc>
              <a:buNone/>
            </a:pPr>
            <a:r>
              <a:rPr lang="en-US" sz="3250" dirty="0">
                <a:solidFill>
                  <a:srgbClr val="5C4E3D"/>
                </a:solidFill>
                <a:latin typeface="Libre Baskerville" pitchFamily="34" charset="0"/>
                <a:ea typeface="Libre Baskerville" pitchFamily="34" charset="-122"/>
                <a:cs typeface="Libre Baskerville" pitchFamily="34" charset="-120"/>
              </a:rPr>
              <a:t>How Smaller Models Exist: Distillation</a:t>
            </a:r>
            <a:endParaRPr lang="en-US" sz="3250" dirty="0"/>
          </a:p>
        </p:txBody>
      </p:sp>
      <p:sp>
        <p:nvSpPr>
          <p:cNvPr id="4" name="Text 1"/>
          <p:cNvSpPr/>
          <p:nvPr/>
        </p:nvSpPr>
        <p:spPr>
          <a:xfrm>
            <a:off x="661475" y="2152352"/>
            <a:ext cx="6296860"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A small model doesn't just appear from nowhere. It's typically created by </a:t>
            </a:r>
            <a:r>
              <a:rPr lang="en-US" sz="1300" b="1" dirty="0">
                <a:solidFill>
                  <a:srgbClr val="454240"/>
                </a:solidFill>
                <a:latin typeface="DM Sans" pitchFamily="34" charset="0"/>
                <a:ea typeface="DM Sans" pitchFamily="34" charset="-122"/>
                <a:cs typeface="DM Sans" pitchFamily="34" charset="-120"/>
              </a:rPr>
              <a:t>distillation</a:t>
            </a:r>
            <a:r>
              <a:rPr lang="en-US" sz="1300" dirty="0">
                <a:solidFill>
                  <a:srgbClr val="454240"/>
                </a:solidFill>
                <a:latin typeface="DM Sans" pitchFamily="34" charset="0"/>
                <a:ea typeface="DM Sans" pitchFamily="34" charset="-122"/>
                <a:cs typeface="DM Sans" pitchFamily="34" charset="-120"/>
              </a:rPr>
              <a:t> — training a small model to imitate the outputs of a larger model.</a:t>
            </a:r>
            <a:endParaRPr lang="en-US" sz="1300" dirty="0"/>
          </a:p>
        </p:txBody>
      </p:sp>
      <p:sp>
        <p:nvSpPr>
          <p:cNvPr id="5" name="Shape 2"/>
          <p:cNvSpPr/>
          <p:nvPr/>
        </p:nvSpPr>
        <p:spPr>
          <a:xfrm>
            <a:off x="542415" y="2867620"/>
            <a:ext cx="3184842" cy="3119438"/>
          </a:xfrm>
          <a:prstGeom prst="roundRect">
            <a:avLst>
              <a:gd name="adj" fmla="val 3817"/>
            </a:avLst>
          </a:prstGeom>
          <a:solidFill>
            <a:srgbClr val="B88E23"/>
          </a:solidFill>
          <a:ln/>
        </p:spPr>
      </p:sp>
      <p:sp>
        <p:nvSpPr>
          <p:cNvPr id="6" name="Text 3"/>
          <p:cNvSpPr/>
          <p:nvPr/>
        </p:nvSpPr>
        <p:spPr>
          <a:xfrm>
            <a:off x="707710" y="3032919"/>
            <a:ext cx="2676954" cy="258465"/>
          </a:xfrm>
          <a:prstGeom prst="rect">
            <a:avLst/>
          </a:prstGeom>
          <a:noFill/>
          <a:ln/>
        </p:spPr>
        <p:txBody>
          <a:bodyPr wrap="none" lIns="0" tIns="0" rIns="0" bIns="0" rtlCol="0" anchor="t"/>
          <a:lstStyle/>
          <a:p>
            <a:pPr marL="0" indent="0" algn="l">
              <a:lnSpc>
                <a:spcPct val="104000"/>
              </a:lnSpc>
              <a:buNone/>
            </a:pPr>
            <a:r>
              <a:rPr lang="en-US" sz="1600" dirty="0">
                <a:solidFill>
                  <a:srgbClr val="000000"/>
                </a:solidFill>
                <a:latin typeface="Libre Baskerville" pitchFamily="34" charset="0"/>
                <a:ea typeface="Libre Baskerville" pitchFamily="34" charset="-122"/>
                <a:cs typeface="Libre Baskerville" pitchFamily="34" charset="-120"/>
              </a:rPr>
              <a:t>The Teacher</a:t>
            </a:r>
            <a:endParaRPr lang="en-US" sz="1600" dirty="0"/>
          </a:p>
        </p:txBody>
      </p:sp>
      <p:sp>
        <p:nvSpPr>
          <p:cNvPr id="7" name="Text 4"/>
          <p:cNvSpPr/>
          <p:nvPr/>
        </p:nvSpPr>
        <p:spPr>
          <a:xfrm>
            <a:off x="707710" y="3456682"/>
            <a:ext cx="2854254" cy="1058466"/>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000000"/>
                </a:solidFill>
                <a:latin typeface="DM Sans" pitchFamily="34" charset="0"/>
                <a:ea typeface="DM Sans" pitchFamily="34" charset="-122"/>
                <a:cs typeface="DM Sans" pitchFamily="34" charset="-120"/>
              </a:rPr>
              <a:t>The large, powerful model. Generates high-quality outputs across a wide range of tasks. Acts as the source of truth during distillation training.</a:t>
            </a:r>
            <a:endParaRPr lang="en-US" sz="1300" dirty="0"/>
          </a:p>
        </p:txBody>
      </p:sp>
      <p:sp>
        <p:nvSpPr>
          <p:cNvPr id="8" name="Text 5"/>
          <p:cNvSpPr/>
          <p:nvPr/>
        </p:nvSpPr>
        <p:spPr>
          <a:xfrm>
            <a:off x="4017961" y="3032919"/>
            <a:ext cx="2676954" cy="258465"/>
          </a:xfrm>
          <a:prstGeom prst="rect">
            <a:avLst/>
          </a:prstGeom>
          <a:noFill/>
          <a:ln/>
        </p:spPr>
        <p:txBody>
          <a:bodyPr wrap="none" lIns="0" tIns="0" rIns="0" bIns="0" rtlCol="0" anchor="t"/>
          <a:lstStyle/>
          <a:p>
            <a:pPr marL="0" indent="0" algn="l">
              <a:lnSpc>
                <a:spcPct val="104000"/>
              </a:lnSpc>
              <a:buNone/>
            </a:pPr>
            <a:r>
              <a:rPr lang="en-US" sz="1600" dirty="0">
                <a:solidFill>
                  <a:srgbClr val="5C4E3D"/>
                </a:solidFill>
                <a:latin typeface="Libre Baskerville" pitchFamily="34" charset="0"/>
                <a:ea typeface="Libre Baskerville" pitchFamily="34" charset="-122"/>
                <a:cs typeface="Libre Baskerville" pitchFamily="34" charset="-120"/>
              </a:rPr>
              <a:t>The Student</a:t>
            </a:r>
            <a:endParaRPr lang="en-US" sz="1600" dirty="0"/>
          </a:p>
        </p:txBody>
      </p:sp>
      <p:sp>
        <p:nvSpPr>
          <p:cNvPr id="9" name="Text 6"/>
          <p:cNvSpPr/>
          <p:nvPr/>
        </p:nvSpPr>
        <p:spPr>
          <a:xfrm>
            <a:off x="4017961" y="3456682"/>
            <a:ext cx="2946723" cy="2381548"/>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The small, fast model. Trained to approximate the teacher's outputs. Ends up much smaller and faster, but approximates the teacher's quality on most tasks. This is why model families feel coherent — the smaller members are derived from the larger ones, sharing much of the same training and personality.</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661574" y="935038"/>
            <a:ext cx="4934124" cy="516731"/>
          </a:xfrm>
          <a:prstGeom prst="rect">
            <a:avLst/>
          </a:prstGeom>
          <a:noFill/>
          <a:ln/>
        </p:spPr>
        <p:txBody>
          <a:bodyPr wrap="none" lIns="0" tIns="0" rIns="0" bIns="0" rtlCol="0" anchor="t"/>
          <a:lstStyle/>
          <a:p>
            <a:pPr marL="0" indent="0" algn="l">
              <a:lnSpc>
                <a:spcPct val="104000"/>
              </a:lnSpc>
              <a:buNone/>
            </a:pPr>
            <a:r>
              <a:rPr lang="en-US" sz="3250" dirty="0">
                <a:solidFill>
                  <a:srgbClr val="5C4E3D"/>
                </a:solidFill>
                <a:latin typeface="Libre Baskerville" pitchFamily="34" charset="0"/>
                <a:ea typeface="Libre Baskerville" pitchFamily="34" charset="-122"/>
                <a:cs typeface="Libre Baskerville" pitchFamily="34" charset="-120"/>
              </a:rPr>
              <a:t>The Routing Pattern</a:t>
            </a:r>
            <a:endParaRPr lang="en-US" sz="3250" dirty="0"/>
          </a:p>
        </p:txBody>
      </p:sp>
      <p:sp>
        <p:nvSpPr>
          <p:cNvPr id="3" name="Text 1"/>
          <p:cNvSpPr/>
          <p:nvPr/>
        </p:nvSpPr>
        <p:spPr>
          <a:xfrm>
            <a:off x="661574" y="1782465"/>
            <a:ext cx="11478132" cy="264616"/>
          </a:xfrm>
          <a:prstGeom prst="rect">
            <a:avLst/>
          </a:prstGeom>
          <a:noFill/>
          <a:ln/>
        </p:spPr>
        <p:txBody>
          <a:bodyPr wrap="none" lIns="0" tIns="0" rIns="0" bIns="0" rtlCol="0" anchor="t"/>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Production systems usually don't pick one model — they pick </a:t>
            </a:r>
            <a:r>
              <a:rPr lang="en-US" sz="1300" i="1" dirty="0">
                <a:solidFill>
                  <a:srgbClr val="454240"/>
                </a:solidFill>
                <a:latin typeface="DM Sans" pitchFamily="34" charset="0"/>
                <a:ea typeface="DM Sans" pitchFamily="34" charset="-122"/>
                <a:cs typeface="DM Sans" pitchFamily="34" charset="-120"/>
              </a:rPr>
              <a:t>the right model per request</a:t>
            </a:r>
            <a:r>
              <a:rPr lang="en-US" sz="1300" dirty="0">
                <a:solidFill>
                  <a:srgbClr val="454240"/>
                </a:solidFill>
                <a:latin typeface="DM Sans" pitchFamily="34" charset="0"/>
                <a:ea typeface="DM Sans" pitchFamily="34" charset="-122"/>
                <a:cs typeface="DM Sans" pitchFamily="34" charset="-120"/>
              </a:rPr>
              <a:t>. This is called </a:t>
            </a:r>
            <a:r>
              <a:rPr lang="en-US" sz="1300" b="1" dirty="0">
                <a:solidFill>
                  <a:srgbClr val="454240"/>
                </a:solidFill>
                <a:latin typeface="DM Sans" pitchFamily="34" charset="0"/>
                <a:ea typeface="DM Sans" pitchFamily="34" charset="-122"/>
                <a:cs typeface="DM Sans" pitchFamily="34" charset="-120"/>
              </a:rPr>
              <a:t>model routing</a:t>
            </a:r>
            <a:r>
              <a:rPr lang="en-US" sz="1300" dirty="0">
                <a:solidFill>
                  <a:srgbClr val="454240"/>
                </a:solidFill>
                <a:latin typeface="DM Sans" pitchFamily="34" charset="0"/>
                <a:ea typeface="DM Sans" pitchFamily="34" charset="-122"/>
                <a:cs typeface="DM Sans" pitchFamily="34" charset="-120"/>
              </a:rPr>
              <a:t>.</a:t>
            </a:r>
            <a:endParaRPr lang="en-US" sz="1300" dirty="0"/>
          </a:p>
        </p:txBody>
      </p:sp>
      <p:pic>
        <p:nvPicPr>
          <p:cNvPr id="4" name="Image 0" descr="preencoded.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61574" y="2233116"/>
            <a:ext cx="3622783" cy="661491"/>
          </a:xfrm>
          <a:prstGeom prst="rect">
            <a:avLst/>
          </a:prstGeom>
        </p:spPr>
      </p:pic>
      <p:sp>
        <p:nvSpPr>
          <p:cNvPr id="5" name="Text 2"/>
          <p:cNvSpPr/>
          <p:nvPr/>
        </p:nvSpPr>
        <p:spPr>
          <a:xfrm>
            <a:off x="826868" y="3059906"/>
            <a:ext cx="2067369" cy="258465"/>
          </a:xfrm>
          <a:prstGeom prst="rect">
            <a:avLst/>
          </a:prstGeom>
          <a:noFill/>
          <a:ln/>
        </p:spPr>
        <p:txBody>
          <a:bodyPr wrap="none" lIns="0" tIns="0" rIns="0" bIns="0" rtlCol="0" anchor="t"/>
          <a:lstStyle/>
          <a:p>
            <a:pPr marL="0" indent="0" algn="l">
              <a:lnSpc>
                <a:spcPct val="104000"/>
              </a:lnSpc>
              <a:buNone/>
            </a:pPr>
            <a:r>
              <a:rPr lang="en-US" sz="1600" dirty="0">
                <a:solidFill>
                  <a:srgbClr val="454240"/>
                </a:solidFill>
                <a:latin typeface="Libre Baskerville" pitchFamily="34" charset="0"/>
                <a:ea typeface="Libre Baskerville" pitchFamily="34" charset="-122"/>
                <a:cs typeface="Libre Baskerville" pitchFamily="34" charset="-120"/>
              </a:rPr>
              <a:t>Simple Request</a:t>
            </a:r>
            <a:endParaRPr lang="en-US" sz="1600" dirty="0"/>
          </a:p>
        </p:txBody>
      </p:sp>
      <p:sp>
        <p:nvSpPr>
          <p:cNvPr id="6" name="Text 3"/>
          <p:cNvSpPr/>
          <p:nvPr/>
        </p:nvSpPr>
        <p:spPr>
          <a:xfrm>
            <a:off x="826868" y="3417590"/>
            <a:ext cx="3292194"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"Classify this email as urgent or not" → </a:t>
            </a:r>
            <a:r>
              <a:rPr lang="en-US" sz="1300" b="1" dirty="0">
                <a:solidFill>
                  <a:srgbClr val="454240"/>
                </a:solidFill>
                <a:latin typeface="DM Sans" pitchFamily="34" charset="0"/>
                <a:ea typeface="DM Sans" pitchFamily="34" charset="-122"/>
                <a:cs typeface="DM Sans" pitchFamily="34" charset="-120"/>
              </a:rPr>
              <a:t>small, fast, cheap model</a:t>
            </a:r>
            <a:endParaRPr lang="en-US" sz="1300" dirty="0"/>
          </a:p>
        </p:txBody>
      </p:sp>
      <p:pic>
        <p:nvPicPr>
          <p:cNvPr id="7" name="Image 1" descr="preencoded.png"/>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284357" y="2233116"/>
            <a:ext cx="3622882" cy="661491"/>
          </a:xfrm>
          <a:prstGeom prst="rect">
            <a:avLst/>
          </a:prstGeom>
        </p:spPr>
      </p:pic>
      <p:sp>
        <p:nvSpPr>
          <p:cNvPr id="8" name="Text 4"/>
          <p:cNvSpPr/>
          <p:nvPr/>
        </p:nvSpPr>
        <p:spPr>
          <a:xfrm>
            <a:off x="4449651" y="3059906"/>
            <a:ext cx="2067369" cy="258465"/>
          </a:xfrm>
          <a:prstGeom prst="rect">
            <a:avLst/>
          </a:prstGeom>
          <a:noFill/>
          <a:ln/>
        </p:spPr>
        <p:txBody>
          <a:bodyPr wrap="none" lIns="0" tIns="0" rIns="0" bIns="0" rtlCol="0" anchor="t"/>
          <a:lstStyle/>
          <a:p>
            <a:pPr marL="0" indent="0" algn="l">
              <a:lnSpc>
                <a:spcPct val="104000"/>
              </a:lnSpc>
              <a:buNone/>
            </a:pPr>
            <a:r>
              <a:rPr lang="en-US" sz="1600" dirty="0">
                <a:solidFill>
                  <a:srgbClr val="454240"/>
                </a:solidFill>
                <a:latin typeface="Libre Baskerville" pitchFamily="34" charset="0"/>
                <a:ea typeface="Libre Baskerville" pitchFamily="34" charset="-122"/>
                <a:cs typeface="Libre Baskerville" pitchFamily="34" charset="-120"/>
              </a:rPr>
              <a:t>Medium Request</a:t>
            </a:r>
            <a:endParaRPr lang="en-US" sz="1600" dirty="0"/>
          </a:p>
        </p:txBody>
      </p:sp>
      <p:sp>
        <p:nvSpPr>
          <p:cNvPr id="9" name="Text 5"/>
          <p:cNvSpPr/>
          <p:nvPr/>
        </p:nvSpPr>
        <p:spPr>
          <a:xfrm>
            <a:off x="4449651" y="3417590"/>
            <a:ext cx="3292293"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"Summarise this client meeting transcript" → </a:t>
            </a:r>
            <a:r>
              <a:rPr lang="en-US" sz="1300" b="1" dirty="0">
                <a:solidFill>
                  <a:srgbClr val="454240"/>
                </a:solidFill>
                <a:latin typeface="DM Sans" pitchFamily="34" charset="0"/>
                <a:ea typeface="DM Sans" pitchFamily="34" charset="-122"/>
                <a:cs typeface="DM Sans" pitchFamily="34" charset="-120"/>
              </a:rPr>
              <a:t>medium model</a:t>
            </a:r>
            <a:endParaRPr lang="en-US" sz="1300" dirty="0"/>
          </a:p>
        </p:txBody>
      </p:sp>
      <p:pic>
        <p:nvPicPr>
          <p:cNvPr id="10" name="Image 2" descr="preencoded.png"/>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7907239" y="2233116"/>
            <a:ext cx="3622882" cy="661491"/>
          </a:xfrm>
          <a:prstGeom prst="rect">
            <a:avLst/>
          </a:prstGeom>
        </p:spPr>
      </p:pic>
      <p:sp>
        <p:nvSpPr>
          <p:cNvPr id="11" name="Text 6"/>
          <p:cNvSpPr/>
          <p:nvPr/>
        </p:nvSpPr>
        <p:spPr>
          <a:xfrm>
            <a:off x="8072533" y="3059906"/>
            <a:ext cx="2067369" cy="258465"/>
          </a:xfrm>
          <a:prstGeom prst="rect">
            <a:avLst/>
          </a:prstGeom>
          <a:noFill/>
          <a:ln/>
        </p:spPr>
        <p:txBody>
          <a:bodyPr wrap="none" lIns="0" tIns="0" rIns="0" bIns="0" rtlCol="0" anchor="t"/>
          <a:lstStyle/>
          <a:p>
            <a:pPr marL="0" indent="0" algn="l">
              <a:lnSpc>
                <a:spcPct val="104000"/>
              </a:lnSpc>
              <a:buNone/>
            </a:pPr>
            <a:r>
              <a:rPr lang="en-US" sz="1600" dirty="0">
                <a:solidFill>
                  <a:srgbClr val="454240"/>
                </a:solidFill>
                <a:latin typeface="Libre Baskerville" pitchFamily="34" charset="0"/>
                <a:ea typeface="Libre Baskerville" pitchFamily="34" charset="-122"/>
                <a:cs typeface="Libre Baskerville" pitchFamily="34" charset="-120"/>
              </a:rPr>
              <a:t>Complex Request</a:t>
            </a:r>
            <a:endParaRPr lang="en-US" sz="1600" dirty="0"/>
          </a:p>
        </p:txBody>
      </p:sp>
      <p:sp>
        <p:nvSpPr>
          <p:cNvPr id="12" name="Text 7"/>
          <p:cNvSpPr/>
          <p:nvPr/>
        </p:nvSpPr>
        <p:spPr>
          <a:xfrm>
            <a:off x="8072533" y="3417590"/>
            <a:ext cx="3292293" cy="793849"/>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"Plan a multi-step rebalancing strategy across these constraints" → </a:t>
            </a:r>
            <a:r>
              <a:rPr lang="en-US" sz="1300" b="1" dirty="0">
                <a:solidFill>
                  <a:srgbClr val="454240"/>
                </a:solidFill>
                <a:latin typeface="DM Sans" pitchFamily="34" charset="0"/>
                <a:ea typeface="DM Sans" pitchFamily="34" charset="-122"/>
                <a:cs typeface="DM Sans" pitchFamily="34" charset="-120"/>
              </a:rPr>
              <a:t>flagship reasoning model</a:t>
            </a:r>
            <a:endParaRPr lang="en-US" sz="1300" dirty="0"/>
          </a:p>
        </p:txBody>
      </p:sp>
      <p:sp>
        <p:nvSpPr>
          <p:cNvPr id="13" name="Shape 8"/>
          <p:cNvSpPr/>
          <p:nvPr/>
        </p:nvSpPr>
        <p:spPr>
          <a:xfrm>
            <a:off x="661574" y="4562773"/>
            <a:ext cx="10868547" cy="1174055"/>
          </a:xfrm>
          <a:prstGeom prst="roundRect">
            <a:avLst>
              <a:gd name="adj" fmla="val 5917"/>
            </a:avLst>
          </a:prstGeom>
          <a:solidFill>
            <a:srgbClr val="F3E4BF"/>
          </a:solidFill>
          <a:ln/>
        </p:spPr>
      </p:sp>
      <p:pic>
        <p:nvPicPr>
          <p:cNvPr id="14" name="Image 3" descr="preencoded.png"/>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826868" y="4802485"/>
            <a:ext cx="206667" cy="165298"/>
          </a:xfrm>
          <a:prstGeom prst="rect">
            <a:avLst/>
          </a:prstGeom>
        </p:spPr>
      </p:pic>
      <p:sp>
        <p:nvSpPr>
          <p:cNvPr id="15" name="Text 9"/>
          <p:cNvSpPr/>
          <p:nvPr/>
        </p:nvSpPr>
        <p:spPr>
          <a:xfrm>
            <a:off x="1198830" y="4752876"/>
            <a:ext cx="10165996" cy="793849"/>
          </a:xfrm>
          <a:prstGeom prst="rect">
            <a:avLst/>
          </a:prstGeom>
          <a:noFill/>
          <a:ln/>
        </p:spPr>
        <p:txBody>
          <a:bodyPr wrap="square" lIns="0" tIns="0" rIns="0" bIns="0" rtlCol="0" anchor="t">
            <a:normAutofit/>
          </a:bodyPr>
          <a:lstStyle/>
          <a:p>
            <a:pPr marL="0" indent="0" algn="l">
              <a:lnSpc>
                <a:spcPct val="133000"/>
              </a:lnSpc>
              <a:buNone/>
            </a:pPr>
            <a:r>
              <a:rPr lang="en-US" sz="1300" b="1" dirty="0">
                <a:solidFill>
                  <a:srgbClr val="000000"/>
                </a:solidFill>
                <a:latin typeface="DM Sans" pitchFamily="34" charset="0"/>
                <a:ea typeface="DM Sans" pitchFamily="34" charset="-122"/>
                <a:cs typeface="DM Sans" pitchFamily="34" charset="-120"/>
              </a:rPr>
              <a:t>The lesson:</a:t>
            </a:r>
            <a:r>
              <a:rPr lang="en-US" sz="1300" dirty="0">
                <a:solidFill>
                  <a:srgbClr val="000000"/>
                </a:solidFill>
                <a:latin typeface="DM Sans" pitchFamily="34" charset="0"/>
                <a:ea typeface="DM Sans" pitchFamily="34" charset="-122"/>
                <a:cs typeface="DM Sans" pitchFamily="34" charset="-120"/>
              </a:rPr>
              <a:t> Model choice is a per-request decision, not a system-wide one. Picking the flagship for everything is wasteful. Picking the cheapest for everything is risky. The right answer is almost always a mix. The router itself is often another small LLM, or a simple classifier, that looks at the incoming request and decides which model to hand it to.</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1850284" y="379413"/>
            <a:ext cx="540133" cy="224631"/>
          </a:xfrm>
          <a:prstGeom prst="roundRect">
            <a:avLst>
              <a:gd name="adj" fmla="val 19327"/>
            </a:avLst>
          </a:prstGeom>
          <a:solidFill>
            <a:srgbClr val="F7EDD4"/>
          </a:solidFill>
          <a:ln/>
        </p:spPr>
      </p:sp>
      <p:sp>
        <p:nvSpPr>
          <p:cNvPr id="3" name="Text 1"/>
          <p:cNvSpPr/>
          <p:nvPr/>
        </p:nvSpPr>
        <p:spPr>
          <a:xfrm>
            <a:off x="1927772" y="418108"/>
            <a:ext cx="994742" cy="147241"/>
          </a:xfrm>
          <a:prstGeom prst="rect">
            <a:avLst/>
          </a:prstGeom>
          <a:noFill/>
          <a:ln/>
        </p:spPr>
        <p:txBody>
          <a:bodyPr wrap="none" lIns="0" tIns="0" rIns="0" bIns="0" rtlCol="0" anchor="t"/>
          <a:lstStyle/>
          <a:p>
            <a:pPr marL="0" indent="0" algn="l">
              <a:lnSpc>
                <a:spcPct val="119000"/>
              </a:lnSpc>
              <a:buNone/>
            </a:pPr>
            <a:r>
              <a:rPr lang="en-US" sz="800" dirty="0">
                <a:solidFill>
                  <a:srgbClr val="454240"/>
                </a:solidFill>
                <a:latin typeface="DM Sans" pitchFamily="34" charset="0"/>
                <a:ea typeface="DM Sans" pitchFamily="34" charset="-122"/>
                <a:cs typeface="DM Sans" pitchFamily="34" charset="-120"/>
              </a:rPr>
              <a:t>STEP 29</a:t>
            </a:r>
            <a:endParaRPr lang="en-US" sz="800" dirty="0"/>
          </a:p>
        </p:txBody>
      </p:sp>
      <p:sp>
        <p:nvSpPr>
          <p:cNvPr id="4" name="Text 2"/>
          <p:cNvSpPr/>
          <p:nvPr/>
        </p:nvSpPr>
        <p:spPr>
          <a:xfrm>
            <a:off x="1850284" y="644327"/>
            <a:ext cx="4484675" cy="403820"/>
          </a:xfrm>
          <a:prstGeom prst="rect">
            <a:avLst/>
          </a:prstGeom>
          <a:noFill/>
          <a:ln/>
        </p:spPr>
        <p:txBody>
          <a:bodyPr wrap="none" lIns="0" tIns="0" rIns="0" bIns="0" rtlCol="0" anchor="t"/>
          <a:lstStyle/>
          <a:p>
            <a:pPr marL="0" indent="0" algn="l">
              <a:lnSpc>
                <a:spcPct val="104000"/>
              </a:lnSpc>
              <a:buNone/>
            </a:pPr>
            <a:r>
              <a:rPr lang="en-US" sz="2500" dirty="0">
                <a:solidFill>
                  <a:srgbClr val="5C4E3D"/>
                </a:solidFill>
                <a:latin typeface="Libre Baskerville" pitchFamily="34" charset="0"/>
                <a:ea typeface="Libre Baskerville" pitchFamily="34" charset="-122"/>
                <a:cs typeface="Libre Baskerville" pitchFamily="34" charset="-120"/>
              </a:rPr>
              <a:t>Open vs Closed Models</a:t>
            </a:r>
            <a:endParaRPr lang="en-US" sz="2500" dirty="0"/>
          </a:p>
        </p:txBody>
      </p:sp>
      <p:sp>
        <p:nvSpPr>
          <p:cNvPr id="5" name="Text 3"/>
          <p:cNvSpPr/>
          <p:nvPr/>
        </p:nvSpPr>
        <p:spPr>
          <a:xfrm>
            <a:off x="1850284" y="1088430"/>
            <a:ext cx="2224726" cy="201910"/>
          </a:xfrm>
          <a:prstGeom prst="rect">
            <a:avLst/>
          </a:prstGeom>
          <a:noFill/>
          <a:ln/>
        </p:spPr>
        <p:txBody>
          <a:bodyPr wrap="none" lIns="0" tIns="0" rIns="0" bIns="0" rtlCol="0" anchor="t"/>
          <a:lstStyle/>
          <a:p>
            <a:pPr marL="0" indent="0" algn="l">
              <a:lnSpc>
                <a:spcPct val="104000"/>
              </a:lnSpc>
              <a:buNone/>
            </a:pPr>
            <a:r>
              <a:rPr lang="en-US" sz="1250" dirty="0">
                <a:solidFill>
                  <a:srgbClr val="5C4E3D"/>
                </a:solidFill>
                <a:latin typeface="Libre Baskerville" pitchFamily="34" charset="0"/>
                <a:ea typeface="Libre Baskerville" pitchFamily="34" charset="-122"/>
                <a:cs typeface="Libre Baskerville" pitchFamily="34" charset="-120"/>
              </a:rPr>
              <a:t>Two worlds</a:t>
            </a:r>
            <a:endParaRPr lang="en-US" sz="1250" dirty="0"/>
          </a:p>
        </p:txBody>
      </p:sp>
      <p:sp>
        <p:nvSpPr>
          <p:cNvPr id="6" name="Text 4"/>
          <p:cNvSpPr/>
          <p:nvPr/>
        </p:nvSpPr>
        <p:spPr>
          <a:xfrm>
            <a:off x="1850284" y="1441748"/>
            <a:ext cx="9100612" cy="184051"/>
          </a:xfrm>
          <a:prstGeom prst="rect">
            <a:avLst/>
          </a:prstGeom>
          <a:noFill/>
          <a:ln/>
        </p:spPr>
        <p:txBody>
          <a:bodyPr wrap="none" lIns="0" tIns="0" rIns="0" bIns="0" rtlCol="0" anchor="t"/>
          <a:lstStyle/>
          <a:p>
            <a:pPr marL="0" indent="0" algn="l">
              <a:lnSpc>
                <a:spcPct val="119000"/>
              </a:lnSpc>
              <a:buNone/>
            </a:pPr>
            <a:r>
              <a:rPr lang="en-US" sz="1000" dirty="0">
                <a:solidFill>
                  <a:srgbClr val="454240"/>
                </a:solidFill>
                <a:latin typeface="DM Sans" pitchFamily="34" charset="0"/>
                <a:ea typeface="DM Sans" pitchFamily="34" charset="-122"/>
                <a:cs typeface="DM Sans" pitchFamily="34" charset="-120"/>
              </a:rPr>
              <a:t>LLMs come in two broad categories that have very different strategic implications.</a:t>
            </a:r>
            <a:endParaRPr lang="en-US" sz="1000" dirty="0"/>
          </a:p>
        </p:txBody>
      </p:sp>
      <p:pic>
        <p:nvPicPr>
          <p:cNvPr id="7" name="Image 0" descr="preencoded.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850284" y="1739305"/>
            <a:ext cx="8491027" cy="4739283"/>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661574" y="654745"/>
            <a:ext cx="9406694" cy="516731"/>
          </a:xfrm>
          <a:prstGeom prst="rect">
            <a:avLst/>
          </a:prstGeom>
          <a:noFill/>
          <a:ln/>
        </p:spPr>
        <p:txBody>
          <a:bodyPr wrap="none" lIns="0" tIns="0" rIns="0" bIns="0" rtlCol="0" anchor="t"/>
          <a:lstStyle/>
          <a:p>
            <a:pPr marL="0" indent="0" algn="l">
              <a:lnSpc>
                <a:spcPct val="104000"/>
              </a:lnSpc>
              <a:buNone/>
            </a:pPr>
            <a:r>
              <a:rPr lang="en-US" sz="3250" dirty="0">
                <a:solidFill>
                  <a:srgbClr val="5C4E3D"/>
                </a:solidFill>
                <a:latin typeface="Libre Baskerville" pitchFamily="34" charset="0"/>
                <a:ea typeface="Libre Baskerville" pitchFamily="34" charset="-122"/>
                <a:cs typeface="Libre Baskerville" pitchFamily="34" charset="-120"/>
              </a:rPr>
              <a:t>What Changes with Open-Weight Models</a:t>
            </a:r>
            <a:endParaRPr lang="en-US" sz="3250" dirty="0"/>
          </a:p>
        </p:txBody>
      </p:sp>
      <p:sp>
        <p:nvSpPr>
          <p:cNvPr id="3" name="Shape 1"/>
          <p:cNvSpPr/>
          <p:nvPr/>
        </p:nvSpPr>
        <p:spPr>
          <a:xfrm>
            <a:off x="661574" y="1502172"/>
            <a:ext cx="5351626" cy="1759446"/>
          </a:xfrm>
          <a:prstGeom prst="roundRect">
            <a:avLst>
              <a:gd name="adj" fmla="val 3948"/>
            </a:avLst>
          </a:prstGeom>
          <a:solidFill>
            <a:srgbClr val="F7EDD4"/>
          </a:solidFill>
          <a:ln w="6350">
            <a:solidFill>
              <a:srgbClr val="DDD3BA"/>
            </a:solidFill>
            <a:prstDash val="solid"/>
          </a:ln>
        </p:spPr>
      </p:sp>
      <p:sp>
        <p:nvSpPr>
          <p:cNvPr id="4" name="Text 2"/>
          <p:cNvSpPr/>
          <p:nvPr/>
        </p:nvSpPr>
        <p:spPr>
          <a:xfrm>
            <a:off x="833218" y="1673820"/>
            <a:ext cx="2778056" cy="258465"/>
          </a:xfrm>
          <a:prstGeom prst="rect">
            <a:avLst/>
          </a:prstGeom>
          <a:noFill/>
          <a:ln/>
        </p:spPr>
        <p:txBody>
          <a:bodyPr wrap="none" lIns="0" tIns="0" rIns="0" bIns="0" rtlCol="0" anchor="t"/>
          <a:lstStyle/>
          <a:p>
            <a:pPr marL="0" indent="0" algn="l">
              <a:lnSpc>
                <a:spcPct val="104000"/>
              </a:lnSpc>
              <a:buNone/>
            </a:pPr>
            <a:r>
              <a:rPr lang="en-US" sz="1600" dirty="0">
                <a:solidFill>
                  <a:srgbClr val="454240"/>
                </a:solidFill>
                <a:latin typeface="Libre Baskerville" pitchFamily="34" charset="0"/>
                <a:ea typeface="Libre Baskerville" pitchFamily="34" charset="-122"/>
                <a:cs typeface="Libre Baskerville" pitchFamily="34" charset="-120"/>
              </a:rPr>
              <a:t>On-Premises Deployment</a:t>
            </a:r>
            <a:endParaRPr lang="en-US" sz="1600" dirty="0"/>
          </a:p>
        </p:txBody>
      </p:sp>
      <p:sp>
        <p:nvSpPr>
          <p:cNvPr id="5" name="Text 3"/>
          <p:cNvSpPr/>
          <p:nvPr/>
        </p:nvSpPr>
        <p:spPr>
          <a:xfrm>
            <a:off x="833218" y="2031504"/>
            <a:ext cx="5008338" cy="1058466"/>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No client data leaves your network. Major appeal for finance, healthcare, defence, legal. For our wealth-management assistant, this can be the difference between "compliant" and "compliance nightmare."</a:t>
            </a:r>
            <a:endParaRPr lang="en-US" sz="1300" dirty="0"/>
          </a:p>
        </p:txBody>
      </p:sp>
      <p:sp>
        <p:nvSpPr>
          <p:cNvPr id="6" name="Shape 4"/>
          <p:cNvSpPr/>
          <p:nvPr/>
        </p:nvSpPr>
        <p:spPr>
          <a:xfrm>
            <a:off x="6178495" y="1502172"/>
            <a:ext cx="5351626" cy="1759446"/>
          </a:xfrm>
          <a:prstGeom prst="roundRect">
            <a:avLst>
              <a:gd name="adj" fmla="val 3948"/>
            </a:avLst>
          </a:prstGeom>
          <a:solidFill>
            <a:srgbClr val="F7EDD4"/>
          </a:solidFill>
          <a:ln w="6350">
            <a:solidFill>
              <a:srgbClr val="DDD3BA"/>
            </a:solidFill>
            <a:prstDash val="solid"/>
          </a:ln>
        </p:spPr>
      </p:sp>
      <p:sp>
        <p:nvSpPr>
          <p:cNvPr id="7" name="Text 5"/>
          <p:cNvSpPr/>
          <p:nvPr/>
        </p:nvSpPr>
        <p:spPr>
          <a:xfrm>
            <a:off x="6350139" y="1673820"/>
            <a:ext cx="2067369" cy="258465"/>
          </a:xfrm>
          <a:prstGeom prst="rect">
            <a:avLst/>
          </a:prstGeom>
          <a:noFill/>
          <a:ln/>
        </p:spPr>
        <p:txBody>
          <a:bodyPr wrap="none" lIns="0" tIns="0" rIns="0" bIns="0" rtlCol="0" anchor="t"/>
          <a:lstStyle/>
          <a:p>
            <a:pPr marL="0" indent="0" algn="l">
              <a:lnSpc>
                <a:spcPct val="104000"/>
              </a:lnSpc>
              <a:buNone/>
            </a:pPr>
            <a:r>
              <a:rPr lang="en-US" sz="1600" dirty="0">
                <a:solidFill>
                  <a:srgbClr val="454240"/>
                </a:solidFill>
                <a:latin typeface="Libre Baskerville" pitchFamily="34" charset="0"/>
                <a:ea typeface="Libre Baskerville" pitchFamily="34" charset="-122"/>
                <a:cs typeface="Libre Baskerville" pitchFamily="34" charset="-120"/>
              </a:rPr>
              <a:t>Deep Fine-Tuning</a:t>
            </a:r>
            <a:endParaRPr lang="en-US" sz="1600" dirty="0"/>
          </a:p>
        </p:txBody>
      </p:sp>
      <p:sp>
        <p:nvSpPr>
          <p:cNvPr id="8" name="Text 6"/>
          <p:cNvSpPr/>
          <p:nvPr/>
        </p:nvSpPr>
        <p:spPr>
          <a:xfrm>
            <a:off x="6350139" y="2031504"/>
            <a:ext cx="5008338"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With closed models, fine-tuning is limited to what the vendor permits. With open models, you have full control of the weights.</a:t>
            </a:r>
            <a:endParaRPr lang="en-US" sz="1300" dirty="0"/>
          </a:p>
        </p:txBody>
      </p:sp>
      <p:sp>
        <p:nvSpPr>
          <p:cNvPr id="9" name="Shape 7"/>
          <p:cNvSpPr/>
          <p:nvPr/>
        </p:nvSpPr>
        <p:spPr>
          <a:xfrm>
            <a:off x="661574" y="3426916"/>
            <a:ext cx="5351626" cy="1494830"/>
          </a:xfrm>
          <a:prstGeom prst="roundRect">
            <a:avLst>
              <a:gd name="adj" fmla="val 4647"/>
            </a:avLst>
          </a:prstGeom>
          <a:solidFill>
            <a:srgbClr val="F7EDD4"/>
          </a:solidFill>
          <a:ln w="6350">
            <a:solidFill>
              <a:srgbClr val="DDD3BA"/>
            </a:solidFill>
            <a:prstDash val="solid"/>
          </a:ln>
        </p:spPr>
      </p:sp>
      <p:sp>
        <p:nvSpPr>
          <p:cNvPr id="10" name="Text 8"/>
          <p:cNvSpPr/>
          <p:nvPr/>
        </p:nvSpPr>
        <p:spPr>
          <a:xfrm>
            <a:off x="833218" y="3598565"/>
            <a:ext cx="2127296" cy="258465"/>
          </a:xfrm>
          <a:prstGeom prst="rect">
            <a:avLst/>
          </a:prstGeom>
          <a:noFill/>
          <a:ln/>
        </p:spPr>
        <p:txBody>
          <a:bodyPr wrap="none" lIns="0" tIns="0" rIns="0" bIns="0" rtlCol="0" anchor="t"/>
          <a:lstStyle/>
          <a:p>
            <a:pPr marL="0" indent="0" algn="l">
              <a:lnSpc>
                <a:spcPct val="104000"/>
              </a:lnSpc>
              <a:buNone/>
            </a:pPr>
            <a:r>
              <a:rPr lang="en-US" sz="1600" dirty="0">
                <a:solidFill>
                  <a:srgbClr val="454240"/>
                </a:solidFill>
                <a:latin typeface="Libre Baskerville" pitchFamily="34" charset="0"/>
                <a:ea typeface="Libre Baskerville" pitchFamily="34" charset="-122"/>
                <a:cs typeface="Libre Baskerville" pitchFamily="34" charset="-120"/>
              </a:rPr>
              <a:t>Operational Burden</a:t>
            </a:r>
            <a:endParaRPr lang="en-US" sz="1600" dirty="0"/>
          </a:p>
        </p:txBody>
      </p:sp>
      <p:sp>
        <p:nvSpPr>
          <p:cNvPr id="11" name="Text 9"/>
          <p:cNvSpPr/>
          <p:nvPr/>
        </p:nvSpPr>
        <p:spPr>
          <a:xfrm>
            <a:off x="833218" y="3956248"/>
            <a:ext cx="5008338" cy="793849"/>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Hosting an LLM is non-trivial. GPUs are expensive. Scaling, monitoring, patching, security — all on you. What was a billing relationship becomes an infrastructure project.</a:t>
            </a:r>
            <a:endParaRPr lang="en-US" sz="1300" dirty="0"/>
          </a:p>
        </p:txBody>
      </p:sp>
      <p:sp>
        <p:nvSpPr>
          <p:cNvPr id="12" name="Shape 10"/>
          <p:cNvSpPr/>
          <p:nvPr/>
        </p:nvSpPr>
        <p:spPr>
          <a:xfrm>
            <a:off x="6178495" y="3426916"/>
            <a:ext cx="5351626" cy="1494830"/>
          </a:xfrm>
          <a:prstGeom prst="roundRect">
            <a:avLst>
              <a:gd name="adj" fmla="val 4647"/>
            </a:avLst>
          </a:prstGeom>
          <a:solidFill>
            <a:srgbClr val="F7EDD4"/>
          </a:solidFill>
          <a:ln w="6350">
            <a:solidFill>
              <a:srgbClr val="DDD3BA"/>
            </a:solidFill>
            <a:prstDash val="solid"/>
          </a:ln>
        </p:spPr>
      </p:sp>
      <p:sp>
        <p:nvSpPr>
          <p:cNvPr id="13" name="Text 11"/>
          <p:cNvSpPr/>
          <p:nvPr/>
        </p:nvSpPr>
        <p:spPr>
          <a:xfrm>
            <a:off x="6350139" y="3598565"/>
            <a:ext cx="2067369" cy="258465"/>
          </a:xfrm>
          <a:prstGeom prst="rect">
            <a:avLst/>
          </a:prstGeom>
          <a:noFill/>
          <a:ln/>
        </p:spPr>
        <p:txBody>
          <a:bodyPr wrap="none" lIns="0" tIns="0" rIns="0" bIns="0" rtlCol="0" anchor="t"/>
          <a:lstStyle/>
          <a:p>
            <a:pPr marL="0" indent="0" algn="l">
              <a:lnSpc>
                <a:spcPct val="104000"/>
              </a:lnSpc>
              <a:buNone/>
            </a:pPr>
            <a:r>
              <a:rPr lang="en-US" sz="1600" dirty="0">
                <a:solidFill>
                  <a:srgbClr val="454240"/>
                </a:solidFill>
                <a:latin typeface="Libre Baskerville" pitchFamily="34" charset="0"/>
                <a:ea typeface="Libre Baskerville" pitchFamily="34" charset="-122"/>
                <a:cs typeface="Libre Baskerville" pitchFamily="34" charset="-120"/>
              </a:rPr>
              <a:t>Quality Gap</a:t>
            </a:r>
            <a:endParaRPr lang="en-US" sz="1600" dirty="0"/>
          </a:p>
        </p:txBody>
      </p:sp>
      <p:sp>
        <p:nvSpPr>
          <p:cNvPr id="14" name="Text 12"/>
          <p:cNvSpPr/>
          <p:nvPr/>
        </p:nvSpPr>
        <p:spPr>
          <a:xfrm>
            <a:off x="6350139" y="3956248"/>
            <a:ext cx="5008338" cy="793849"/>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As of 2026, the best open-weight models are competitive with mid-tier closed models on many tasks, but the absolute frontier is still in closed labs. This gap fluctuates.</a:t>
            </a:r>
            <a:endParaRPr lang="en-US" sz="1300" dirty="0"/>
          </a:p>
        </p:txBody>
      </p:sp>
      <p:sp>
        <p:nvSpPr>
          <p:cNvPr id="15" name="Shape 13"/>
          <p:cNvSpPr/>
          <p:nvPr/>
        </p:nvSpPr>
        <p:spPr>
          <a:xfrm>
            <a:off x="661574" y="5107781"/>
            <a:ext cx="10868547" cy="909439"/>
          </a:xfrm>
          <a:prstGeom prst="roundRect">
            <a:avLst>
              <a:gd name="adj" fmla="val 7638"/>
            </a:avLst>
          </a:prstGeom>
          <a:solidFill>
            <a:srgbClr val="B6FCB8"/>
          </a:solidFill>
          <a:ln/>
        </p:spPr>
      </p:sp>
      <p:pic>
        <p:nvPicPr>
          <p:cNvPr id="16" name="Image 0" descr="preencoded.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26868" y="5347494"/>
            <a:ext cx="206667" cy="165298"/>
          </a:xfrm>
          <a:prstGeom prst="rect">
            <a:avLst/>
          </a:prstGeom>
        </p:spPr>
      </p:pic>
      <p:sp>
        <p:nvSpPr>
          <p:cNvPr id="17" name="Text 14"/>
          <p:cNvSpPr/>
          <p:nvPr/>
        </p:nvSpPr>
        <p:spPr>
          <a:xfrm>
            <a:off x="1198830" y="5297884"/>
            <a:ext cx="10165996" cy="529233"/>
          </a:xfrm>
          <a:prstGeom prst="rect">
            <a:avLst/>
          </a:prstGeom>
          <a:noFill/>
          <a:ln/>
        </p:spPr>
        <p:txBody>
          <a:bodyPr wrap="square" lIns="0" tIns="0" rIns="0" bIns="0" rtlCol="0" anchor="t">
            <a:normAutofit/>
          </a:bodyPr>
          <a:lstStyle/>
          <a:p>
            <a:pPr marL="0" indent="0" algn="l">
              <a:lnSpc>
                <a:spcPct val="133000"/>
              </a:lnSpc>
              <a:buNone/>
            </a:pPr>
            <a:r>
              <a:rPr lang="en-US" sz="1300" b="1" dirty="0">
                <a:solidFill>
                  <a:srgbClr val="000000"/>
                </a:solidFill>
                <a:latin typeface="DM Sans" pitchFamily="34" charset="0"/>
                <a:ea typeface="DM Sans" pitchFamily="34" charset="-122"/>
                <a:cs typeface="DM Sans" pitchFamily="34" charset="-120"/>
              </a:rPr>
              <a:t>The pragmatic answer:</a:t>
            </a:r>
            <a:r>
              <a:rPr lang="en-US" sz="1300" dirty="0">
                <a:solidFill>
                  <a:srgbClr val="000000"/>
                </a:solidFill>
                <a:latin typeface="DM Sans" pitchFamily="34" charset="0"/>
                <a:ea typeface="DM Sans" pitchFamily="34" charset="-122"/>
                <a:cs typeface="DM Sans" pitchFamily="34" charset="-120"/>
              </a:rPr>
              <a:t> Most enterprises end up with a hybrid — closed models for general-purpose assistant use, open models for specific high-volume, privacy-sensitive, or cost-sensitive workloads. It's rarely either/or.</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661574" y="578247"/>
            <a:ext cx="632206" cy="270272"/>
          </a:xfrm>
          <a:prstGeom prst="roundRect">
            <a:avLst>
              <a:gd name="adj" fmla="val 18505"/>
            </a:avLst>
          </a:prstGeom>
          <a:solidFill>
            <a:srgbClr val="F7EDD4"/>
          </a:solidFill>
          <a:ln/>
        </p:spPr>
      </p:sp>
      <p:sp>
        <p:nvSpPr>
          <p:cNvPr id="3" name="Text 1"/>
          <p:cNvSpPr/>
          <p:nvPr/>
        </p:nvSpPr>
        <p:spPr>
          <a:xfrm>
            <a:off x="750869" y="622895"/>
            <a:ext cx="1063202" cy="180975"/>
          </a:xfrm>
          <a:prstGeom prst="rect">
            <a:avLst/>
          </a:prstGeom>
          <a:noFill/>
          <a:ln/>
        </p:spPr>
        <p:txBody>
          <a:bodyPr wrap="none" lIns="0" tIns="0" rIns="0" bIns="0" rtlCol="0" anchor="t"/>
          <a:lstStyle/>
          <a:p>
            <a:pPr marL="0" indent="0" algn="l">
              <a:lnSpc>
                <a:spcPct val="127000"/>
              </a:lnSpc>
              <a:buNone/>
            </a:pPr>
            <a:r>
              <a:rPr lang="en-US" sz="900" dirty="0">
                <a:solidFill>
                  <a:srgbClr val="454240"/>
                </a:solidFill>
                <a:latin typeface="DM Sans" pitchFamily="34" charset="0"/>
                <a:ea typeface="DM Sans" pitchFamily="34" charset="-122"/>
                <a:cs typeface="DM Sans" pitchFamily="34" charset="-120"/>
              </a:rPr>
              <a:t>STEP 30</a:t>
            </a:r>
            <a:endParaRPr lang="en-US" sz="900" dirty="0"/>
          </a:p>
        </p:txBody>
      </p:sp>
      <p:sp>
        <p:nvSpPr>
          <p:cNvPr id="4" name="Text 2"/>
          <p:cNvSpPr/>
          <p:nvPr/>
        </p:nvSpPr>
        <p:spPr>
          <a:xfrm>
            <a:off x="661574" y="902097"/>
            <a:ext cx="7662076" cy="465138"/>
          </a:xfrm>
          <a:prstGeom prst="rect">
            <a:avLst/>
          </a:prstGeom>
          <a:noFill/>
          <a:ln/>
        </p:spPr>
        <p:txBody>
          <a:bodyPr wrap="none" lIns="0" tIns="0" rIns="0" bIns="0" rtlCol="0" anchor="t"/>
          <a:lstStyle/>
          <a:p>
            <a:pPr marL="0" indent="0" algn="l">
              <a:lnSpc>
                <a:spcPct val="104000"/>
              </a:lnSpc>
              <a:buNone/>
            </a:pPr>
            <a:r>
              <a:rPr lang="en-US" sz="2900" dirty="0">
                <a:solidFill>
                  <a:srgbClr val="5C4E3D"/>
                </a:solidFill>
                <a:latin typeface="Libre Baskerville" pitchFamily="34" charset="0"/>
                <a:ea typeface="Libre Baskerville" pitchFamily="34" charset="-122"/>
                <a:cs typeface="Libre Baskerville" pitchFamily="34" charset="-120"/>
              </a:rPr>
              <a:t>Embeddings as a Standalone Product</a:t>
            </a:r>
            <a:endParaRPr lang="en-US" sz="2900" dirty="0"/>
          </a:p>
        </p:txBody>
      </p:sp>
      <p:sp>
        <p:nvSpPr>
          <p:cNvPr id="5" name="Text 3"/>
          <p:cNvSpPr/>
          <p:nvPr/>
        </p:nvSpPr>
        <p:spPr>
          <a:xfrm>
            <a:off x="661574" y="1568152"/>
            <a:ext cx="10868547" cy="1055588"/>
          </a:xfrm>
          <a:prstGeom prst="rect">
            <a:avLst/>
          </a:prstGeom>
          <a:noFill/>
          <a:ln/>
        </p:spPr>
        <p:txBody>
          <a:bodyPr wrap="square" lIns="0" tIns="0" rIns="0" bIns="0" rtlCol="0" anchor="t">
            <a:normAutofit/>
          </a:bodyPr>
          <a:lstStyle/>
          <a:p>
            <a:pPr marL="0" indent="0" algn="l">
              <a:lnSpc>
                <a:spcPct val="127000"/>
              </a:lnSpc>
              <a:buNone/>
            </a:pPr>
            <a:r>
              <a:rPr lang="en-US" sz="1150" dirty="0">
                <a:solidFill>
                  <a:srgbClr val="454240"/>
                </a:solidFill>
                <a:latin typeface="DM Sans" pitchFamily="34" charset="0"/>
                <a:ea typeface="DM Sans" pitchFamily="34" charset="-122"/>
                <a:cs typeface="DM Sans" pitchFamily="34" charset="-120"/>
              </a:rPr>
              <a:t>A quick aside on something that's easy to miss. We've talked about embeddings throughout the series — the row of numbers that captures the meaning of a word, a sentence, or a document. So far, embeddings have appeared as a </a:t>
            </a:r>
            <a:r>
              <a:rPr lang="en-US" sz="1150" i="1" dirty="0">
                <a:solidFill>
                  <a:srgbClr val="454240"/>
                </a:solidFill>
                <a:latin typeface="DM Sans" pitchFamily="34" charset="0"/>
                <a:ea typeface="DM Sans" pitchFamily="34" charset="-122"/>
                <a:cs typeface="DM Sans" pitchFamily="34" charset="-120"/>
              </a:rPr>
              <a:t>step inside</a:t>
            </a:r>
            <a:r>
              <a:rPr lang="en-US" sz="1150" dirty="0">
                <a:solidFill>
                  <a:srgbClr val="454240"/>
                </a:solidFill>
                <a:latin typeface="DM Sans" pitchFamily="34" charset="0"/>
                <a:ea typeface="DM Sans" pitchFamily="34" charset="-122"/>
                <a:cs typeface="DM Sans" pitchFamily="34" charset="-120"/>
              </a:rPr>
              <a:t> the LLM pipeline.</a:t>
            </a:r>
            <a:endParaRPr lang="en-US" sz="1150" dirty="0"/>
          </a:p>
          <a:p>
            <a:pPr marL="0" indent="0" algn="l">
              <a:lnSpc>
                <a:spcPct val="127000"/>
              </a:lnSpc>
              <a:buNone/>
            </a:pPr>
            <a:r>
              <a:rPr lang="en-US" sz="1150" dirty="0">
                <a:solidFill>
                  <a:srgbClr val="454240"/>
                </a:solidFill>
                <a:latin typeface="DM Sans" pitchFamily="34" charset="0"/>
                <a:ea typeface="DM Sans" pitchFamily="34" charset="-122"/>
                <a:cs typeface="DM Sans" pitchFamily="34" charset="-120"/>
              </a:rPr>
              <a:t>But embeddings are also a </a:t>
            </a:r>
            <a:r>
              <a:rPr lang="en-US" sz="1150" b="1" dirty="0">
                <a:solidFill>
                  <a:srgbClr val="454240"/>
                </a:solidFill>
                <a:latin typeface="DM Sans" pitchFamily="34" charset="0"/>
                <a:ea typeface="DM Sans" pitchFamily="34" charset="-122"/>
                <a:cs typeface="DM Sans" pitchFamily="34" charset="-120"/>
              </a:rPr>
              <a:t>product in their own right</a:t>
            </a:r>
            <a:r>
              <a:rPr lang="en-US" sz="1150" dirty="0">
                <a:solidFill>
                  <a:srgbClr val="454240"/>
                </a:solidFill>
                <a:latin typeface="DM Sans" pitchFamily="34" charset="0"/>
                <a:ea typeface="DM Sans" pitchFamily="34" charset="-122"/>
                <a:cs typeface="DM Sans" pitchFamily="34" charset="-120"/>
              </a:rPr>
              <a:t>. Every major provider offers an embedding API: send text, get back its row of numbers. Use those numbers however you want — without ever invoking the full LLM.</a:t>
            </a:r>
            <a:endParaRPr lang="en-US" sz="1150" dirty="0"/>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574" y="2774454"/>
            <a:ext cx="372061" cy="372070"/>
          </a:xfrm>
          <a:prstGeom prst="rect">
            <a:avLst/>
          </a:prstGeom>
        </p:spPr>
      </p:pic>
      <p:sp>
        <p:nvSpPr>
          <p:cNvPr id="7" name="Text 4"/>
          <p:cNvSpPr/>
          <p:nvPr/>
        </p:nvSpPr>
        <p:spPr>
          <a:xfrm>
            <a:off x="661574" y="3313906"/>
            <a:ext cx="1860603" cy="232470"/>
          </a:xfrm>
          <a:prstGeom prst="rect">
            <a:avLst/>
          </a:prstGeom>
          <a:noFill/>
          <a:ln/>
        </p:spPr>
        <p:txBody>
          <a:bodyPr wrap="none" lIns="0" tIns="0" rIns="0" bIns="0" rtlCol="0" anchor="t"/>
          <a:lstStyle/>
          <a:p>
            <a:pPr marL="0" indent="0" algn="l">
              <a:lnSpc>
                <a:spcPct val="104000"/>
              </a:lnSpc>
              <a:buNone/>
            </a:pPr>
            <a:r>
              <a:rPr lang="en-US" sz="1450" dirty="0">
                <a:solidFill>
                  <a:srgbClr val="454240"/>
                </a:solidFill>
                <a:latin typeface="Libre Baskerville" pitchFamily="34" charset="0"/>
                <a:ea typeface="Libre Baskerville" pitchFamily="34" charset="-122"/>
                <a:cs typeface="Libre Baskerville" pitchFamily="34" charset="-120"/>
              </a:rPr>
              <a:t>Semantic Search</a:t>
            </a:r>
            <a:endParaRPr lang="en-US" sz="1450" dirty="0"/>
          </a:p>
        </p:txBody>
      </p:sp>
      <p:sp>
        <p:nvSpPr>
          <p:cNvPr id="8" name="Text 5"/>
          <p:cNvSpPr/>
          <p:nvPr/>
        </p:nvSpPr>
        <p:spPr>
          <a:xfrm>
            <a:off x="661574" y="3626743"/>
            <a:ext cx="2039787" cy="1583531"/>
          </a:xfrm>
          <a:prstGeom prst="rect">
            <a:avLst/>
          </a:prstGeom>
          <a:noFill/>
          <a:ln/>
        </p:spPr>
        <p:txBody>
          <a:bodyPr wrap="square" lIns="0" tIns="0" rIns="0" bIns="0" rtlCol="0" anchor="t">
            <a:normAutofit/>
          </a:bodyPr>
          <a:lstStyle/>
          <a:p>
            <a:pPr marL="0" indent="0" algn="l">
              <a:lnSpc>
                <a:spcPct val="127000"/>
              </a:lnSpc>
              <a:buNone/>
            </a:pPr>
            <a:r>
              <a:rPr lang="en-US" sz="1150" dirty="0">
                <a:solidFill>
                  <a:srgbClr val="454240"/>
                </a:solidFill>
                <a:latin typeface="DM Sans" pitchFamily="34" charset="0"/>
                <a:ea typeface="DM Sans" pitchFamily="34" charset="-122"/>
                <a:cs typeface="DM Sans" pitchFamily="34" charset="-120"/>
              </a:rPr>
              <a:t>Find documents similar in </a:t>
            </a:r>
            <a:r>
              <a:rPr lang="en-US" sz="1150" i="1" dirty="0">
                <a:solidFill>
                  <a:srgbClr val="454240"/>
                </a:solidFill>
                <a:latin typeface="DM Sans" pitchFamily="34" charset="0"/>
                <a:ea typeface="DM Sans" pitchFamily="34" charset="-122"/>
                <a:cs typeface="DM Sans" pitchFamily="34" charset="-120"/>
              </a:rPr>
              <a:t>meaning</a:t>
            </a:r>
            <a:r>
              <a:rPr lang="en-US" sz="1150" dirty="0">
                <a:solidFill>
                  <a:srgbClr val="454240"/>
                </a:solidFill>
                <a:latin typeface="DM Sans" pitchFamily="34" charset="0"/>
                <a:ea typeface="DM Sans" pitchFamily="34" charset="-122"/>
                <a:cs typeface="DM Sans" pitchFamily="34" charset="-120"/>
              </a:rPr>
              <a:t> to a query, not just keyword matches. </a:t>
            </a:r>
            <a:r>
              <a:rPr lang="en-US" sz="1150" i="1" dirty="0">
                <a:solidFill>
                  <a:srgbClr val="454240"/>
                </a:solidFill>
                <a:latin typeface="DM Sans" pitchFamily="34" charset="0"/>
                <a:ea typeface="DM Sans" pitchFamily="34" charset="-122"/>
                <a:cs typeface="DM Sans" pitchFamily="34" charset="-120"/>
              </a:rPr>
              <a:t>"Client wants to reduce volatility"</a:t>
            </a:r>
            <a:r>
              <a:rPr lang="en-US" sz="1150" dirty="0">
                <a:solidFill>
                  <a:srgbClr val="454240"/>
                </a:solidFill>
                <a:latin typeface="DM Sans" pitchFamily="34" charset="0"/>
                <a:ea typeface="DM Sans" pitchFamily="34" charset="-122"/>
                <a:cs typeface="DM Sans" pitchFamily="34" charset="-120"/>
              </a:rPr>
              <a:t> matches </a:t>
            </a:r>
            <a:r>
              <a:rPr lang="en-US" sz="1150" i="1" dirty="0">
                <a:solidFill>
                  <a:srgbClr val="454240"/>
                </a:solidFill>
                <a:latin typeface="DM Sans" pitchFamily="34" charset="0"/>
                <a:ea typeface="DM Sans" pitchFamily="34" charset="-122"/>
                <a:cs typeface="DM Sans" pitchFamily="34" charset="-120"/>
              </a:rPr>
              <a:t>"low-risk portfolio rebalancing"</a:t>
            </a:r>
            <a:r>
              <a:rPr lang="en-US" sz="1150" dirty="0">
                <a:solidFill>
                  <a:srgbClr val="454240"/>
                </a:solidFill>
                <a:latin typeface="DM Sans" pitchFamily="34" charset="0"/>
                <a:ea typeface="DM Sans" pitchFamily="34" charset="-122"/>
                <a:cs typeface="DM Sans" pitchFamily="34" charset="-120"/>
              </a:rPr>
              <a:t> even though no words overlap.</a:t>
            </a:r>
            <a:endParaRPr lang="en-US" sz="1150" dirty="0"/>
          </a:p>
        </p:txBody>
      </p:sp>
      <p:pic>
        <p:nvPicPr>
          <p:cNvPr id="9"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68739" y="2774454"/>
            <a:ext cx="372061" cy="372070"/>
          </a:xfrm>
          <a:prstGeom prst="rect">
            <a:avLst/>
          </a:prstGeom>
        </p:spPr>
      </p:pic>
      <p:sp>
        <p:nvSpPr>
          <p:cNvPr id="10" name="Text 6"/>
          <p:cNvSpPr/>
          <p:nvPr/>
        </p:nvSpPr>
        <p:spPr>
          <a:xfrm>
            <a:off x="2868739" y="3313906"/>
            <a:ext cx="1860603" cy="232470"/>
          </a:xfrm>
          <a:prstGeom prst="rect">
            <a:avLst/>
          </a:prstGeom>
          <a:noFill/>
          <a:ln/>
        </p:spPr>
        <p:txBody>
          <a:bodyPr wrap="none" lIns="0" tIns="0" rIns="0" bIns="0" rtlCol="0" anchor="t"/>
          <a:lstStyle/>
          <a:p>
            <a:pPr marL="0" indent="0" algn="l">
              <a:lnSpc>
                <a:spcPct val="104000"/>
              </a:lnSpc>
              <a:buNone/>
            </a:pPr>
            <a:r>
              <a:rPr lang="en-US" sz="1450" dirty="0">
                <a:solidFill>
                  <a:srgbClr val="454240"/>
                </a:solidFill>
                <a:latin typeface="Libre Baskerville" pitchFamily="34" charset="0"/>
                <a:ea typeface="Libre Baskerville" pitchFamily="34" charset="-122"/>
                <a:cs typeface="Libre Baskerville" pitchFamily="34" charset="-120"/>
              </a:rPr>
              <a:t>Clustering</a:t>
            </a:r>
            <a:endParaRPr lang="en-US" sz="1450" dirty="0"/>
          </a:p>
        </p:txBody>
      </p:sp>
      <p:sp>
        <p:nvSpPr>
          <p:cNvPr id="11" name="Text 7"/>
          <p:cNvSpPr/>
          <p:nvPr/>
        </p:nvSpPr>
        <p:spPr>
          <a:xfrm>
            <a:off x="2868739" y="3626743"/>
            <a:ext cx="2039787" cy="904875"/>
          </a:xfrm>
          <a:prstGeom prst="rect">
            <a:avLst/>
          </a:prstGeom>
          <a:noFill/>
          <a:ln/>
        </p:spPr>
        <p:txBody>
          <a:bodyPr wrap="square" lIns="0" tIns="0" rIns="0" bIns="0" rtlCol="0" anchor="t">
            <a:normAutofit/>
          </a:bodyPr>
          <a:lstStyle/>
          <a:p>
            <a:pPr marL="0" indent="0" algn="l">
              <a:lnSpc>
                <a:spcPct val="127000"/>
              </a:lnSpc>
              <a:buNone/>
            </a:pPr>
            <a:r>
              <a:rPr lang="en-US" sz="1150" dirty="0">
                <a:solidFill>
                  <a:srgbClr val="454240"/>
                </a:solidFill>
                <a:latin typeface="DM Sans" pitchFamily="34" charset="0"/>
                <a:ea typeface="DM Sans" pitchFamily="34" charset="-122"/>
                <a:cs typeface="DM Sans" pitchFamily="34" charset="-120"/>
              </a:rPr>
              <a:t>Group similar items together — emails by topic, clients by question type, research notes by theme.</a:t>
            </a:r>
            <a:endParaRPr lang="en-US" sz="1150" dirty="0"/>
          </a:p>
        </p:txBody>
      </p:sp>
      <p:pic>
        <p:nvPicPr>
          <p:cNvPr id="12"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075904" y="2774454"/>
            <a:ext cx="372061" cy="372070"/>
          </a:xfrm>
          <a:prstGeom prst="rect">
            <a:avLst/>
          </a:prstGeom>
        </p:spPr>
      </p:pic>
      <p:sp>
        <p:nvSpPr>
          <p:cNvPr id="13" name="Text 8"/>
          <p:cNvSpPr/>
          <p:nvPr/>
        </p:nvSpPr>
        <p:spPr>
          <a:xfrm>
            <a:off x="5075904" y="3313906"/>
            <a:ext cx="1860603" cy="232470"/>
          </a:xfrm>
          <a:prstGeom prst="rect">
            <a:avLst/>
          </a:prstGeom>
          <a:noFill/>
          <a:ln/>
        </p:spPr>
        <p:txBody>
          <a:bodyPr wrap="none" lIns="0" tIns="0" rIns="0" bIns="0" rtlCol="0" anchor="t"/>
          <a:lstStyle/>
          <a:p>
            <a:pPr marL="0" indent="0" algn="l">
              <a:lnSpc>
                <a:spcPct val="104000"/>
              </a:lnSpc>
              <a:buNone/>
            </a:pPr>
            <a:r>
              <a:rPr lang="en-US" sz="1450" dirty="0">
                <a:solidFill>
                  <a:srgbClr val="454240"/>
                </a:solidFill>
                <a:latin typeface="Libre Baskerville" pitchFamily="34" charset="0"/>
                <a:ea typeface="Libre Baskerville" pitchFamily="34" charset="-122"/>
                <a:cs typeface="Libre Baskerville" pitchFamily="34" charset="-120"/>
              </a:rPr>
              <a:t>Deduplication</a:t>
            </a:r>
            <a:endParaRPr lang="en-US" sz="1450" dirty="0"/>
          </a:p>
        </p:txBody>
      </p:sp>
      <p:sp>
        <p:nvSpPr>
          <p:cNvPr id="14" name="Text 9"/>
          <p:cNvSpPr/>
          <p:nvPr/>
        </p:nvSpPr>
        <p:spPr>
          <a:xfrm>
            <a:off x="5075904" y="3626743"/>
            <a:ext cx="2039787" cy="678656"/>
          </a:xfrm>
          <a:prstGeom prst="rect">
            <a:avLst/>
          </a:prstGeom>
          <a:noFill/>
          <a:ln/>
        </p:spPr>
        <p:txBody>
          <a:bodyPr wrap="square" lIns="0" tIns="0" rIns="0" bIns="0" rtlCol="0" anchor="t">
            <a:normAutofit/>
          </a:bodyPr>
          <a:lstStyle/>
          <a:p>
            <a:pPr marL="0" indent="0" algn="l">
              <a:lnSpc>
                <a:spcPct val="127000"/>
              </a:lnSpc>
              <a:buNone/>
            </a:pPr>
            <a:r>
              <a:rPr lang="en-US" sz="1150" dirty="0">
                <a:solidFill>
                  <a:srgbClr val="454240"/>
                </a:solidFill>
                <a:latin typeface="DM Sans" pitchFamily="34" charset="0"/>
                <a:ea typeface="DM Sans" pitchFamily="34" charset="-122"/>
                <a:cs typeface="DM Sans" pitchFamily="34" charset="-120"/>
              </a:rPr>
              <a:t>Detect near-duplicate documents that aren't exactly identical.</a:t>
            </a:r>
            <a:endParaRPr lang="en-US" sz="1150" dirty="0"/>
          </a:p>
        </p:txBody>
      </p:sp>
      <p:pic>
        <p:nvPicPr>
          <p:cNvPr id="15"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283069" y="2774454"/>
            <a:ext cx="372061" cy="372070"/>
          </a:xfrm>
          <a:prstGeom prst="rect">
            <a:avLst/>
          </a:prstGeom>
        </p:spPr>
      </p:pic>
      <p:sp>
        <p:nvSpPr>
          <p:cNvPr id="16" name="Text 10"/>
          <p:cNvSpPr/>
          <p:nvPr/>
        </p:nvSpPr>
        <p:spPr>
          <a:xfrm>
            <a:off x="7283069" y="3313906"/>
            <a:ext cx="1860603" cy="232470"/>
          </a:xfrm>
          <a:prstGeom prst="rect">
            <a:avLst/>
          </a:prstGeom>
          <a:noFill/>
          <a:ln/>
        </p:spPr>
        <p:txBody>
          <a:bodyPr wrap="none" lIns="0" tIns="0" rIns="0" bIns="0" rtlCol="0" anchor="t"/>
          <a:lstStyle/>
          <a:p>
            <a:pPr marL="0" indent="0" algn="l">
              <a:lnSpc>
                <a:spcPct val="104000"/>
              </a:lnSpc>
              <a:buNone/>
            </a:pPr>
            <a:r>
              <a:rPr lang="en-US" sz="1450" dirty="0">
                <a:solidFill>
                  <a:srgbClr val="454240"/>
                </a:solidFill>
                <a:latin typeface="Libre Baskerville" pitchFamily="34" charset="0"/>
                <a:ea typeface="Libre Baskerville" pitchFamily="34" charset="-122"/>
                <a:cs typeface="Libre Baskerville" pitchFamily="34" charset="-120"/>
              </a:rPr>
              <a:t>Classification</a:t>
            </a:r>
            <a:endParaRPr lang="en-US" sz="1450" dirty="0"/>
          </a:p>
        </p:txBody>
      </p:sp>
      <p:sp>
        <p:nvSpPr>
          <p:cNvPr id="17" name="Text 11"/>
          <p:cNvSpPr/>
          <p:nvPr/>
        </p:nvSpPr>
        <p:spPr>
          <a:xfrm>
            <a:off x="7283069" y="3626743"/>
            <a:ext cx="2039787" cy="904875"/>
          </a:xfrm>
          <a:prstGeom prst="rect">
            <a:avLst/>
          </a:prstGeom>
          <a:noFill/>
          <a:ln/>
        </p:spPr>
        <p:txBody>
          <a:bodyPr wrap="square" lIns="0" tIns="0" rIns="0" bIns="0" rtlCol="0" anchor="t">
            <a:normAutofit/>
          </a:bodyPr>
          <a:lstStyle/>
          <a:p>
            <a:pPr marL="0" indent="0" algn="l">
              <a:lnSpc>
                <a:spcPct val="127000"/>
              </a:lnSpc>
              <a:buNone/>
            </a:pPr>
            <a:r>
              <a:rPr lang="en-US" sz="1150" dirty="0">
                <a:solidFill>
                  <a:srgbClr val="454240"/>
                </a:solidFill>
                <a:latin typeface="DM Sans" pitchFamily="34" charset="0"/>
                <a:ea typeface="DM Sans" pitchFamily="34" charset="-122"/>
                <a:cs typeface="DM Sans" pitchFamily="34" charset="-120"/>
              </a:rPr>
              <a:t>Train a tiny classifier on top of embeddings to label things ("is this email about a complaint or a question?").</a:t>
            </a:r>
            <a:endParaRPr lang="en-US" sz="1150" dirty="0"/>
          </a:p>
        </p:txBody>
      </p:sp>
      <p:pic>
        <p:nvPicPr>
          <p:cNvPr id="18"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490234" y="2774454"/>
            <a:ext cx="372061" cy="372070"/>
          </a:xfrm>
          <a:prstGeom prst="rect">
            <a:avLst/>
          </a:prstGeom>
        </p:spPr>
      </p:pic>
      <p:sp>
        <p:nvSpPr>
          <p:cNvPr id="19" name="Text 12"/>
          <p:cNvSpPr/>
          <p:nvPr/>
        </p:nvSpPr>
        <p:spPr>
          <a:xfrm>
            <a:off x="9490234" y="3313906"/>
            <a:ext cx="1860603" cy="232470"/>
          </a:xfrm>
          <a:prstGeom prst="rect">
            <a:avLst/>
          </a:prstGeom>
          <a:noFill/>
          <a:ln/>
        </p:spPr>
        <p:txBody>
          <a:bodyPr wrap="none" lIns="0" tIns="0" rIns="0" bIns="0" rtlCol="0" anchor="t"/>
          <a:lstStyle/>
          <a:p>
            <a:pPr marL="0" indent="0" algn="l">
              <a:lnSpc>
                <a:spcPct val="104000"/>
              </a:lnSpc>
              <a:buNone/>
            </a:pPr>
            <a:r>
              <a:rPr lang="en-US" sz="1450" dirty="0">
                <a:solidFill>
                  <a:srgbClr val="454240"/>
                </a:solidFill>
                <a:latin typeface="Libre Baskerville" pitchFamily="34" charset="0"/>
                <a:ea typeface="Libre Baskerville" pitchFamily="34" charset="-122"/>
                <a:cs typeface="Libre Baskerville" pitchFamily="34" charset="-120"/>
              </a:rPr>
              <a:t>Recommendation</a:t>
            </a:r>
            <a:endParaRPr lang="en-US" sz="1450" dirty="0"/>
          </a:p>
        </p:txBody>
      </p:sp>
      <p:sp>
        <p:nvSpPr>
          <p:cNvPr id="20" name="Text 13"/>
          <p:cNvSpPr/>
          <p:nvPr/>
        </p:nvSpPr>
        <p:spPr>
          <a:xfrm>
            <a:off x="9490234" y="3626743"/>
            <a:ext cx="2039787" cy="678656"/>
          </a:xfrm>
          <a:prstGeom prst="rect">
            <a:avLst/>
          </a:prstGeom>
          <a:noFill/>
          <a:ln/>
        </p:spPr>
        <p:txBody>
          <a:bodyPr wrap="square" lIns="0" tIns="0" rIns="0" bIns="0" rtlCol="0" anchor="t">
            <a:normAutofit/>
          </a:bodyPr>
          <a:lstStyle/>
          <a:p>
            <a:pPr marL="0" indent="0" algn="l">
              <a:lnSpc>
                <a:spcPct val="127000"/>
              </a:lnSpc>
              <a:buNone/>
            </a:pPr>
            <a:r>
              <a:rPr lang="en-US" sz="1150" dirty="0">
                <a:solidFill>
                  <a:srgbClr val="454240"/>
                </a:solidFill>
                <a:latin typeface="DM Sans" pitchFamily="34" charset="0"/>
                <a:ea typeface="DM Sans" pitchFamily="34" charset="-122"/>
                <a:cs typeface="DM Sans" pitchFamily="34" charset="-120"/>
              </a:rPr>
              <a:t>Suggest similar research notes, similar funds, similar past cases.</a:t>
            </a:r>
            <a:endParaRPr lang="en-US" sz="1150" dirty="0"/>
          </a:p>
        </p:txBody>
      </p:sp>
      <p:sp>
        <p:nvSpPr>
          <p:cNvPr id="21" name="Shape 14"/>
          <p:cNvSpPr/>
          <p:nvPr/>
        </p:nvSpPr>
        <p:spPr>
          <a:xfrm>
            <a:off x="661574" y="5360987"/>
            <a:ext cx="10868547" cy="767953"/>
          </a:xfrm>
          <a:prstGeom prst="roundRect">
            <a:avLst>
              <a:gd name="adj" fmla="val 8141"/>
            </a:avLst>
          </a:prstGeom>
          <a:solidFill>
            <a:srgbClr val="B6FCB8"/>
          </a:solidFill>
          <a:ln/>
        </p:spPr>
      </p:sp>
      <p:pic>
        <p:nvPicPr>
          <p:cNvPr id="22" name="Image 5" descr="preencoded.png"/>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810398" y="5569148"/>
            <a:ext cx="186031" cy="148828"/>
          </a:xfrm>
          <a:prstGeom prst="rect">
            <a:avLst/>
          </a:prstGeom>
        </p:spPr>
      </p:pic>
      <p:sp>
        <p:nvSpPr>
          <p:cNvPr id="23" name="Text 15"/>
          <p:cNvSpPr/>
          <p:nvPr/>
        </p:nvSpPr>
        <p:spPr>
          <a:xfrm>
            <a:off x="1145253" y="5518745"/>
            <a:ext cx="10236043" cy="452438"/>
          </a:xfrm>
          <a:prstGeom prst="rect">
            <a:avLst/>
          </a:prstGeom>
          <a:noFill/>
          <a:ln/>
        </p:spPr>
        <p:txBody>
          <a:bodyPr wrap="square" lIns="0" tIns="0" rIns="0" bIns="0" rtlCol="0" anchor="t">
            <a:normAutofit/>
          </a:bodyPr>
          <a:lstStyle/>
          <a:p>
            <a:pPr marL="0" indent="0" algn="l">
              <a:lnSpc>
                <a:spcPct val="127000"/>
              </a:lnSpc>
              <a:buNone/>
            </a:pPr>
            <a:r>
              <a:rPr lang="en-US" sz="1150" b="1" dirty="0">
                <a:solidFill>
                  <a:srgbClr val="000000"/>
                </a:solidFill>
                <a:latin typeface="DM Sans" pitchFamily="34" charset="0"/>
                <a:ea typeface="DM Sans" pitchFamily="34" charset="-122"/>
                <a:cs typeface="DM Sans" pitchFamily="34" charset="-120"/>
              </a:rPr>
              <a:t>Why this matters:</a:t>
            </a:r>
            <a:r>
              <a:rPr lang="en-US" sz="1150" dirty="0">
                <a:solidFill>
                  <a:srgbClr val="000000"/>
                </a:solidFill>
                <a:latin typeface="DM Sans" pitchFamily="34" charset="0"/>
                <a:ea typeface="DM Sans" pitchFamily="34" charset="-122"/>
                <a:cs typeface="DM Sans" pitchFamily="34" charset="-120"/>
              </a:rPr>
              <a:t> Embeddings are 10–100× cheaper than full LLM calls, and often dramatically faster. For many business problems framed as </a:t>
            </a:r>
            <a:r>
              <a:rPr lang="en-US" sz="1150" i="1" dirty="0">
                <a:solidFill>
                  <a:srgbClr val="000000"/>
                </a:solidFill>
                <a:latin typeface="DM Sans" pitchFamily="34" charset="0"/>
                <a:ea typeface="DM Sans" pitchFamily="34" charset="-122"/>
                <a:cs typeface="DM Sans" pitchFamily="34" charset="-120"/>
              </a:rPr>
              <a:t>"find the relevant thing"</a:t>
            </a:r>
            <a:r>
              <a:rPr lang="en-US" sz="1150" dirty="0">
                <a:solidFill>
                  <a:srgbClr val="000000"/>
                </a:solidFill>
                <a:latin typeface="DM Sans" pitchFamily="34" charset="0"/>
                <a:ea typeface="DM Sans" pitchFamily="34" charset="-122"/>
                <a:cs typeface="DM Sans" pitchFamily="34" charset="-120"/>
              </a:rPr>
              <a:t> rather than </a:t>
            </a:r>
            <a:r>
              <a:rPr lang="en-US" sz="1150" i="1" dirty="0">
                <a:solidFill>
                  <a:srgbClr val="000000"/>
                </a:solidFill>
                <a:latin typeface="DM Sans" pitchFamily="34" charset="0"/>
                <a:ea typeface="DM Sans" pitchFamily="34" charset="-122"/>
                <a:cs typeface="DM Sans" pitchFamily="34" charset="-120"/>
              </a:rPr>
              <a:t>"generate something new,"</a:t>
            </a:r>
            <a:r>
              <a:rPr lang="en-US" sz="1150" dirty="0">
                <a:solidFill>
                  <a:srgbClr val="000000"/>
                </a:solidFill>
                <a:latin typeface="DM Sans" pitchFamily="34" charset="0"/>
                <a:ea typeface="DM Sans" pitchFamily="34" charset="-122"/>
                <a:cs typeface="DM Sans" pitchFamily="34" charset="-120"/>
              </a:rPr>
              <a:t> you don't need a chat model at all. You just need embeddings.</a:t>
            </a:r>
            <a:endParaRPr lang="en-US" sz="11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661574" y="1794470"/>
            <a:ext cx="650958" cy="310952"/>
          </a:xfrm>
          <a:prstGeom prst="roundRect">
            <a:avLst>
              <a:gd name="adj" fmla="val 17871"/>
            </a:avLst>
          </a:prstGeom>
          <a:solidFill>
            <a:srgbClr val="F7EDD4"/>
          </a:solidFill>
          <a:ln/>
        </p:spPr>
      </p:sp>
      <p:sp>
        <p:nvSpPr>
          <p:cNvPr id="3" name="Text 1"/>
          <p:cNvSpPr/>
          <p:nvPr/>
        </p:nvSpPr>
        <p:spPr>
          <a:xfrm>
            <a:off x="760790" y="1844080"/>
            <a:ext cx="1062110" cy="211733"/>
          </a:xfrm>
          <a:prstGeom prst="rect">
            <a:avLst/>
          </a:prstGeom>
          <a:noFill/>
          <a:ln/>
        </p:spPr>
        <p:txBody>
          <a:bodyPr wrap="none" lIns="0" tIns="0" rIns="0" bIns="0" rtlCol="0" anchor="t"/>
          <a:lstStyle/>
          <a:p>
            <a:pPr marL="0" indent="0" algn="l">
              <a:lnSpc>
                <a:spcPct val="133000"/>
              </a:lnSpc>
              <a:buNone/>
            </a:pPr>
            <a:r>
              <a:rPr lang="en-US" sz="1000" dirty="0">
                <a:solidFill>
                  <a:srgbClr val="454240"/>
                </a:solidFill>
                <a:latin typeface="DM Sans" pitchFamily="34" charset="0"/>
                <a:ea typeface="DM Sans" pitchFamily="34" charset="-122"/>
                <a:cs typeface="DM Sans" pitchFamily="34" charset="-120"/>
              </a:rPr>
              <a:t>STEP 31</a:t>
            </a:r>
            <a:endParaRPr lang="en-US" sz="1000" dirty="0"/>
          </a:p>
        </p:txBody>
      </p:sp>
      <p:sp>
        <p:nvSpPr>
          <p:cNvPr id="4" name="Text 2"/>
          <p:cNvSpPr/>
          <p:nvPr/>
        </p:nvSpPr>
        <p:spPr>
          <a:xfrm>
            <a:off x="661574" y="2171502"/>
            <a:ext cx="10798699" cy="516731"/>
          </a:xfrm>
          <a:prstGeom prst="rect">
            <a:avLst/>
          </a:prstGeom>
          <a:noFill/>
          <a:ln/>
        </p:spPr>
        <p:txBody>
          <a:bodyPr wrap="none" lIns="0" tIns="0" rIns="0" bIns="0" rtlCol="0" anchor="t"/>
          <a:lstStyle/>
          <a:p>
            <a:pPr marL="0" indent="0" algn="l">
              <a:lnSpc>
                <a:spcPct val="104000"/>
              </a:lnSpc>
              <a:buNone/>
            </a:pPr>
            <a:r>
              <a:rPr lang="en-US" sz="3250" dirty="0">
                <a:solidFill>
                  <a:srgbClr val="5C4E3D"/>
                </a:solidFill>
                <a:latin typeface="Libre Baskerville" pitchFamily="34" charset="0"/>
                <a:ea typeface="Libre Baskerville" pitchFamily="34" charset="-122"/>
                <a:cs typeface="Libre Baskerville" pitchFamily="34" charset="-120"/>
              </a:rPr>
              <a:t>Privacy and Data Handling at the Provider Level</a:t>
            </a:r>
            <a:endParaRPr lang="en-US" sz="3250" dirty="0"/>
          </a:p>
        </p:txBody>
      </p:sp>
      <p:sp>
        <p:nvSpPr>
          <p:cNvPr id="5" name="Text 3"/>
          <p:cNvSpPr/>
          <p:nvPr/>
        </p:nvSpPr>
        <p:spPr>
          <a:xfrm>
            <a:off x="661574" y="2754313"/>
            <a:ext cx="4272352" cy="258465"/>
          </a:xfrm>
          <a:prstGeom prst="rect">
            <a:avLst/>
          </a:prstGeom>
          <a:noFill/>
          <a:ln/>
        </p:spPr>
        <p:txBody>
          <a:bodyPr wrap="none" lIns="0" tIns="0" rIns="0" bIns="0" rtlCol="0" anchor="t"/>
          <a:lstStyle/>
          <a:p>
            <a:pPr marL="0" indent="0" algn="l">
              <a:lnSpc>
                <a:spcPct val="104000"/>
              </a:lnSpc>
              <a:buNone/>
            </a:pPr>
            <a:r>
              <a:rPr lang="en-US" sz="1600" dirty="0">
                <a:solidFill>
                  <a:srgbClr val="5C4E3D"/>
                </a:solidFill>
                <a:latin typeface="Libre Baskerville" pitchFamily="34" charset="0"/>
                <a:ea typeface="Libre Baskerville" pitchFamily="34" charset="-122"/>
                <a:cs typeface="Libre Baskerville" pitchFamily="34" charset="-120"/>
              </a:rPr>
              <a:t>The question every enterprise asks</a:t>
            </a:r>
            <a:endParaRPr lang="en-US" sz="1600" dirty="0"/>
          </a:p>
        </p:txBody>
      </p:sp>
      <p:sp>
        <p:nvSpPr>
          <p:cNvPr id="6" name="Text 4"/>
          <p:cNvSpPr/>
          <p:nvPr/>
        </p:nvSpPr>
        <p:spPr>
          <a:xfrm>
            <a:off x="661574" y="3260824"/>
            <a:ext cx="11478132" cy="264616"/>
          </a:xfrm>
          <a:prstGeom prst="rect">
            <a:avLst/>
          </a:prstGeom>
          <a:noFill/>
          <a:ln/>
        </p:spPr>
        <p:txBody>
          <a:bodyPr wrap="none" lIns="0" tIns="0" rIns="0" bIns="0" rtlCol="0" anchor="t"/>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Before adopting any LLM, every serious organisation asks the same question:</a:t>
            </a:r>
            <a:endParaRPr lang="en-US" sz="1300" dirty="0"/>
          </a:p>
        </p:txBody>
      </p:sp>
      <p:sp>
        <p:nvSpPr>
          <p:cNvPr id="7" name="Text 5"/>
          <p:cNvSpPr/>
          <p:nvPr/>
        </p:nvSpPr>
        <p:spPr>
          <a:xfrm>
            <a:off x="909615" y="3897511"/>
            <a:ext cx="11230091" cy="264616"/>
          </a:xfrm>
          <a:prstGeom prst="rect">
            <a:avLst/>
          </a:prstGeom>
          <a:noFill/>
          <a:ln/>
        </p:spPr>
        <p:txBody>
          <a:bodyPr wrap="none" lIns="0" tIns="0" rIns="0" bIns="0" rtlCol="0" anchor="t"/>
          <a:lstStyle/>
          <a:p>
            <a:pPr marL="0" indent="0" algn="l">
              <a:lnSpc>
                <a:spcPct val="133000"/>
              </a:lnSpc>
              <a:buNone/>
            </a:pPr>
            <a:r>
              <a:rPr lang="en-US" sz="1300" i="1" dirty="0">
                <a:solidFill>
                  <a:srgbClr val="454240"/>
                </a:solidFill>
                <a:latin typeface="DM Sans" pitchFamily="34" charset="0"/>
                <a:ea typeface="DM Sans" pitchFamily="34" charset="-122"/>
                <a:cs typeface="DM Sans" pitchFamily="34" charset="-120"/>
              </a:rPr>
              <a:t>"What does the provider do with our data?"</a:t>
            </a:r>
            <a:endParaRPr lang="en-US" sz="1300" dirty="0"/>
          </a:p>
        </p:txBody>
      </p:sp>
      <p:sp>
        <p:nvSpPr>
          <p:cNvPr id="8" name="Text 6"/>
          <p:cNvSpPr/>
          <p:nvPr/>
        </p:nvSpPr>
        <p:spPr>
          <a:xfrm>
            <a:off x="661574" y="4534198"/>
            <a:ext cx="10868547"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This is bigger than the cross-conversation isolation covered in Part 1, Slide 24 — that was about whether </a:t>
            </a:r>
            <a:r>
              <a:rPr lang="en-US" sz="1300" i="1" dirty="0">
                <a:solidFill>
                  <a:srgbClr val="454240"/>
                </a:solidFill>
                <a:latin typeface="DM Sans" pitchFamily="34" charset="0"/>
                <a:ea typeface="DM Sans" pitchFamily="34" charset="-122"/>
                <a:cs typeface="DM Sans" pitchFamily="34" charset="-120"/>
              </a:rPr>
              <a:t>your own</a:t>
            </a:r>
            <a:r>
              <a:rPr lang="en-US" sz="1300" dirty="0">
                <a:solidFill>
                  <a:srgbClr val="454240"/>
                </a:solidFill>
                <a:latin typeface="DM Sans" pitchFamily="34" charset="0"/>
                <a:ea typeface="DM Sans" pitchFamily="34" charset="-122"/>
                <a:cs typeface="DM Sans" pitchFamily="34" charset="-120"/>
              </a:rPr>
              <a:t> conversations leak across each other. This is about whether your data leaves your control at all.</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831432" y="443607"/>
            <a:ext cx="10528830" cy="1001316"/>
          </a:xfrm>
          <a:prstGeom prst="rect">
            <a:avLst/>
          </a:prstGeom>
          <a:noFill/>
          <a:ln/>
        </p:spPr>
        <p:txBody>
          <a:bodyPr wrap="square" lIns="0" tIns="0" rIns="0" bIns="0" rtlCol="0" anchor="t">
            <a:normAutofit/>
          </a:bodyPr>
          <a:lstStyle/>
          <a:p>
            <a:pPr marL="0" indent="0" algn="l">
              <a:lnSpc>
                <a:spcPct val="104000"/>
              </a:lnSpc>
              <a:buNone/>
            </a:pPr>
            <a:r>
              <a:rPr lang="en-US" sz="3150" dirty="0">
                <a:solidFill>
                  <a:srgbClr val="5C4E3D"/>
                </a:solidFill>
                <a:latin typeface="Libre Baskerville" pitchFamily="34" charset="0"/>
                <a:ea typeface="Libre Baskerville" pitchFamily="34" charset="-122"/>
                <a:cs typeface="Libre Baskerville" pitchFamily="34" charset="-120"/>
              </a:rPr>
              <a:t>Three Things Providers Do (or Don't) with Your Data</a:t>
            </a:r>
            <a:endParaRPr lang="en-US" sz="3150" dirty="0"/>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31432" y="1755279"/>
            <a:ext cx="3406094" cy="4659114"/>
          </a:xfrm>
          <a:prstGeom prst="rect">
            <a:avLst/>
          </a:prstGeom>
        </p:spPr>
      </p:pic>
      <p:sp>
        <p:nvSpPr>
          <p:cNvPr id="4" name="Text 1"/>
          <p:cNvSpPr/>
          <p:nvPr/>
        </p:nvSpPr>
        <p:spPr>
          <a:xfrm>
            <a:off x="2414329" y="1861245"/>
            <a:ext cx="240302" cy="300335"/>
          </a:xfrm>
          <a:prstGeom prst="rect">
            <a:avLst/>
          </a:prstGeom>
          <a:noFill/>
          <a:ln/>
        </p:spPr>
        <p:txBody>
          <a:bodyPr wrap="none" lIns="0" tIns="0" rIns="0" bIns="0" rtlCol="0" anchor="ctr"/>
          <a:lstStyle/>
          <a:p>
            <a:pPr marL="0" indent="0" algn="ctr">
              <a:lnSpc>
                <a:spcPct val="100000"/>
              </a:lnSpc>
              <a:buNone/>
            </a:pPr>
            <a:r>
              <a:rPr lang="en-US" sz="1850" dirty="0">
                <a:solidFill>
                  <a:srgbClr val="454240"/>
                </a:solidFill>
                <a:latin typeface="Libre Baskerville" pitchFamily="34" charset="0"/>
                <a:ea typeface="Libre Baskerville" pitchFamily="34" charset="-122"/>
                <a:cs typeface="Libre Baskerville" pitchFamily="34" charset="-120"/>
              </a:rPr>
              <a:t>1</a:t>
            </a:r>
            <a:endParaRPr lang="en-US" sz="1850" dirty="0"/>
          </a:p>
        </p:txBody>
      </p:sp>
      <p:sp>
        <p:nvSpPr>
          <p:cNvPr id="5" name="Text 2"/>
          <p:cNvSpPr/>
          <p:nvPr/>
        </p:nvSpPr>
        <p:spPr>
          <a:xfrm>
            <a:off x="1010617" y="2410123"/>
            <a:ext cx="2002780" cy="250329"/>
          </a:xfrm>
          <a:prstGeom prst="rect">
            <a:avLst/>
          </a:prstGeom>
          <a:noFill/>
          <a:ln/>
        </p:spPr>
        <p:txBody>
          <a:bodyPr wrap="none" lIns="0" tIns="0" rIns="0" bIns="0" rtlCol="0" anchor="t"/>
          <a:lstStyle/>
          <a:p>
            <a:pPr marL="0" indent="0" algn="l">
              <a:lnSpc>
                <a:spcPct val="104000"/>
              </a:lnSpc>
              <a:buNone/>
            </a:pPr>
            <a:r>
              <a:rPr lang="en-US" sz="1550" dirty="0">
                <a:solidFill>
                  <a:srgbClr val="454240"/>
                </a:solidFill>
                <a:latin typeface="Libre Baskerville" pitchFamily="34" charset="0"/>
                <a:ea typeface="Libre Baskerville" pitchFamily="34" charset="-122"/>
                <a:cs typeface="Libre Baskerville" pitchFamily="34" charset="-120"/>
              </a:rPr>
              <a:t>Training</a:t>
            </a:r>
            <a:endParaRPr lang="en-US" sz="1550" dirty="0"/>
          </a:p>
        </p:txBody>
      </p:sp>
      <p:sp>
        <p:nvSpPr>
          <p:cNvPr id="6" name="Text 3"/>
          <p:cNvSpPr/>
          <p:nvPr/>
        </p:nvSpPr>
        <p:spPr>
          <a:xfrm>
            <a:off x="1010617" y="2753519"/>
            <a:ext cx="3047725" cy="756940"/>
          </a:xfrm>
          <a:prstGeom prst="rect">
            <a:avLst/>
          </a:prstGeom>
          <a:noFill/>
          <a:ln/>
        </p:spPr>
        <p:txBody>
          <a:bodyPr wrap="square" lIns="0" tIns="0" rIns="0" bIns="0" rtlCol="0" anchor="t">
            <a:normAutofit/>
          </a:bodyPr>
          <a:lstStyle/>
          <a:p>
            <a:pPr marL="0" indent="0" algn="l">
              <a:lnSpc>
                <a:spcPct val="131000"/>
              </a:lnSpc>
              <a:buNone/>
            </a:pPr>
            <a:r>
              <a:rPr lang="en-US" sz="1250" dirty="0">
                <a:solidFill>
                  <a:srgbClr val="454240"/>
                </a:solidFill>
                <a:latin typeface="DM Sans" pitchFamily="34" charset="0"/>
                <a:ea typeface="DM Sans" pitchFamily="34" charset="-122"/>
                <a:cs typeface="DM Sans" pitchFamily="34" charset="-120"/>
              </a:rPr>
              <a:t>Does the provider use your prompts and responses to train future model versions?</a:t>
            </a:r>
            <a:endParaRPr lang="en-US" sz="1250" dirty="0"/>
          </a:p>
        </p:txBody>
      </p:sp>
      <p:sp>
        <p:nvSpPr>
          <p:cNvPr id="7" name="Text 4"/>
          <p:cNvSpPr/>
          <p:nvPr/>
        </p:nvSpPr>
        <p:spPr>
          <a:xfrm>
            <a:off x="1010617" y="3603526"/>
            <a:ext cx="3047725" cy="2631678"/>
          </a:xfrm>
          <a:prstGeom prst="rect">
            <a:avLst/>
          </a:prstGeom>
          <a:noFill/>
          <a:ln/>
        </p:spPr>
        <p:txBody>
          <a:bodyPr wrap="square" lIns="0" tIns="0" rIns="0" bIns="0" rtlCol="0" anchor="t">
            <a:normAutofit/>
          </a:bodyPr>
          <a:lstStyle/>
          <a:p>
            <a:pPr marL="342900" indent="-342900" algn="l">
              <a:lnSpc>
                <a:spcPct val="131000"/>
              </a:lnSpc>
              <a:buSzPct val="100000"/>
              <a:buChar char="•"/>
            </a:pPr>
            <a:r>
              <a:rPr lang="en-US" sz="1250" b="1" dirty="0">
                <a:solidFill>
                  <a:srgbClr val="454240"/>
                </a:solidFill>
                <a:latin typeface="DM Sans" pitchFamily="34" charset="0"/>
                <a:ea typeface="DM Sans" pitchFamily="34" charset="-122"/>
                <a:cs typeface="DM Sans" pitchFamily="34" charset="-120"/>
              </a:rPr>
              <a:t>Free consumer tiers</a:t>
            </a:r>
            <a:r>
              <a:rPr lang="en-US" sz="1250" dirty="0">
                <a:solidFill>
                  <a:srgbClr val="454240"/>
                </a:solidFill>
                <a:latin typeface="DM Sans" pitchFamily="34" charset="0"/>
                <a:ea typeface="DM Sans" pitchFamily="34" charset="-122"/>
                <a:cs typeface="DM Sans" pitchFamily="34" charset="-120"/>
              </a:rPr>
              <a:t> — by default, </a:t>
            </a:r>
            <a:r>
              <a:rPr lang="en-US" sz="1250" i="1" dirty="0">
                <a:solidFill>
                  <a:srgbClr val="454240"/>
                </a:solidFill>
                <a:latin typeface="DM Sans" pitchFamily="34" charset="0"/>
                <a:ea typeface="DM Sans" pitchFamily="34" charset="-122"/>
                <a:cs typeface="DM Sans" pitchFamily="34" charset="-120"/>
              </a:rPr>
              <a:t>yes</a:t>
            </a:r>
            <a:r>
              <a:rPr lang="en-US" sz="1250" dirty="0">
                <a:solidFill>
                  <a:srgbClr val="454240"/>
                </a:solidFill>
                <a:latin typeface="DM Sans" pitchFamily="34" charset="0"/>
                <a:ea typeface="DM Sans" pitchFamily="34" charset="-122"/>
                <a:cs typeface="DM Sans" pitchFamily="34" charset="-120"/>
              </a:rPr>
              <a:t>. You can usually opt out in settings.</a:t>
            </a:r>
            <a:endParaRPr lang="en-US" sz="1250" dirty="0"/>
          </a:p>
          <a:p>
            <a:pPr marL="342900" indent="-342900" algn="l">
              <a:lnSpc>
                <a:spcPct val="131000"/>
              </a:lnSpc>
              <a:buSzPct val="100000"/>
              <a:buChar char="•"/>
            </a:pPr>
            <a:r>
              <a:rPr lang="en-US" sz="1250" b="1" dirty="0">
                <a:solidFill>
                  <a:srgbClr val="454240"/>
                </a:solidFill>
                <a:latin typeface="DM Sans" pitchFamily="34" charset="0"/>
                <a:ea typeface="DM Sans" pitchFamily="34" charset="-122"/>
                <a:cs typeface="DM Sans" pitchFamily="34" charset="-120"/>
              </a:rPr>
              <a:t>Paid consumer tiers</a:t>
            </a:r>
            <a:r>
              <a:rPr lang="en-US" sz="1250" dirty="0">
                <a:solidFill>
                  <a:srgbClr val="454240"/>
                </a:solidFill>
                <a:latin typeface="DM Sans" pitchFamily="34" charset="0"/>
                <a:ea typeface="DM Sans" pitchFamily="34" charset="-122"/>
                <a:cs typeface="DM Sans" pitchFamily="34" charset="-120"/>
              </a:rPr>
              <a:t> — varies by provider. Often </a:t>
            </a:r>
            <a:r>
              <a:rPr lang="en-US" sz="1250" i="1" dirty="0">
                <a:solidFill>
                  <a:srgbClr val="454240"/>
                </a:solidFill>
                <a:latin typeface="DM Sans" pitchFamily="34" charset="0"/>
                <a:ea typeface="DM Sans" pitchFamily="34" charset="-122"/>
                <a:cs typeface="DM Sans" pitchFamily="34" charset="-120"/>
              </a:rPr>
              <a:t>no</a:t>
            </a:r>
            <a:r>
              <a:rPr lang="en-US" sz="1250" dirty="0">
                <a:solidFill>
                  <a:srgbClr val="454240"/>
                </a:solidFill>
                <a:latin typeface="DM Sans" pitchFamily="34" charset="0"/>
                <a:ea typeface="DM Sans" pitchFamily="34" charset="-122"/>
                <a:cs typeface="DM Sans" pitchFamily="34" charset="-120"/>
              </a:rPr>
              <a:t> by default for paid plans.</a:t>
            </a:r>
            <a:endParaRPr lang="en-US" sz="1250" dirty="0"/>
          </a:p>
          <a:p>
            <a:pPr marL="342900" indent="-342900" algn="l">
              <a:lnSpc>
                <a:spcPct val="131000"/>
              </a:lnSpc>
              <a:buSzPct val="100000"/>
              <a:buChar char="•"/>
            </a:pPr>
            <a:r>
              <a:rPr lang="en-US" sz="1250" b="1" dirty="0">
                <a:solidFill>
                  <a:srgbClr val="454240"/>
                </a:solidFill>
                <a:latin typeface="DM Sans" pitchFamily="34" charset="0"/>
                <a:ea typeface="DM Sans" pitchFamily="34" charset="-122"/>
                <a:cs typeface="DM Sans" pitchFamily="34" charset="-120"/>
              </a:rPr>
              <a:t>API and enterprise tiers</a:t>
            </a:r>
            <a:r>
              <a:rPr lang="en-US" sz="1250" dirty="0">
                <a:solidFill>
                  <a:srgbClr val="454240"/>
                </a:solidFill>
                <a:latin typeface="DM Sans" pitchFamily="34" charset="0"/>
                <a:ea typeface="DM Sans" pitchFamily="34" charset="-122"/>
                <a:cs typeface="DM Sans" pitchFamily="34" charset="-120"/>
              </a:rPr>
              <a:t> — almost universally </a:t>
            </a:r>
            <a:r>
              <a:rPr lang="en-US" sz="1250" i="1" dirty="0">
                <a:solidFill>
                  <a:srgbClr val="454240"/>
                </a:solidFill>
                <a:latin typeface="DM Sans" pitchFamily="34" charset="0"/>
                <a:ea typeface="DM Sans" pitchFamily="34" charset="-122"/>
                <a:cs typeface="DM Sans" pitchFamily="34" charset="-120"/>
              </a:rPr>
              <a:t>no</a:t>
            </a:r>
            <a:r>
              <a:rPr lang="en-US" sz="1250" dirty="0">
                <a:solidFill>
                  <a:srgbClr val="454240"/>
                </a:solidFill>
                <a:latin typeface="DM Sans" pitchFamily="34" charset="0"/>
                <a:ea typeface="DM Sans" pitchFamily="34" charset="-122"/>
                <a:cs typeface="DM Sans" pitchFamily="34" charset="-120"/>
              </a:rPr>
              <a:t>. Providers contractually commit not to train on API data.</a:t>
            </a:r>
            <a:endParaRPr lang="en-US" sz="1250" dirty="0"/>
          </a:p>
        </p:txBody>
      </p:sp>
      <p:pic>
        <p:nvPicPr>
          <p:cNvPr id="8"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392701" y="1755279"/>
            <a:ext cx="3406194" cy="4659114"/>
          </a:xfrm>
          <a:prstGeom prst="rect">
            <a:avLst/>
          </a:prstGeom>
        </p:spPr>
      </p:pic>
      <p:sp>
        <p:nvSpPr>
          <p:cNvPr id="9" name="Text 5"/>
          <p:cNvSpPr/>
          <p:nvPr/>
        </p:nvSpPr>
        <p:spPr>
          <a:xfrm>
            <a:off x="5975597" y="1861245"/>
            <a:ext cx="240302" cy="300335"/>
          </a:xfrm>
          <a:prstGeom prst="rect">
            <a:avLst/>
          </a:prstGeom>
          <a:noFill/>
          <a:ln/>
        </p:spPr>
        <p:txBody>
          <a:bodyPr wrap="none" lIns="0" tIns="0" rIns="0" bIns="0" rtlCol="0" anchor="ctr"/>
          <a:lstStyle/>
          <a:p>
            <a:pPr marL="0" indent="0" algn="ctr">
              <a:lnSpc>
                <a:spcPct val="100000"/>
              </a:lnSpc>
              <a:buNone/>
            </a:pPr>
            <a:r>
              <a:rPr lang="en-US" sz="1850" dirty="0">
                <a:solidFill>
                  <a:srgbClr val="454240"/>
                </a:solidFill>
                <a:latin typeface="Libre Baskerville" pitchFamily="34" charset="0"/>
                <a:ea typeface="Libre Baskerville" pitchFamily="34" charset="-122"/>
                <a:cs typeface="Libre Baskerville" pitchFamily="34" charset="-120"/>
              </a:rPr>
              <a:t>2</a:t>
            </a:r>
            <a:endParaRPr lang="en-US" sz="1850" dirty="0"/>
          </a:p>
        </p:txBody>
      </p:sp>
      <p:sp>
        <p:nvSpPr>
          <p:cNvPr id="10" name="Text 6"/>
          <p:cNvSpPr/>
          <p:nvPr/>
        </p:nvSpPr>
        <p:spPr>
          <a:xfrm>
            <a:off x="4571886" y="2410123"/>
            <a:ext cx="2002780" cy="250329"/>
          </a:xfrm>
          <a:prstGeom prst="rect">
            <a:avLst/>
          </a:prstGeom>
          <a:noFill/>
          <a:ln/>
        </p:spPr>
        <p:txBody>
          <a:bodyPr wrap="none" lIns="0" tIns="0" rIns="0" bIns="0" rtlCol="0" anchor="t"/>
          <a:lstStyle/>
          <a:p>
            <a:pPr marL="0" indent="0" algn="l">
              <a:lnSpc>
                <a:spcPct val="104000"/>
              </a:lnSpc>
              <a:buNone/>
            </a:pPr>
            <a:r>
              <a:rPr lang="en-US" sz="1550" dirty="0">
                <a:solidFill>
                  <a:srgbClr val="454240"/>
                </a:solidFill>
                <a:latin typeface="Libre Baskerville" pitchFamily="34" charset="0"/>
                <a:ea typeface="Libre Baskerville" pitchFamily="34" charset="-122"/>
                <a:cs typeface="Libre Baskerville" pitchFamily="34" charset="-120"/>
              </a:rPr>
              <a:t>Retention</a:t>
            </a:r>
            <a:endParaRPr lang="en-US" sz="1550" dirty="0"/>
          </a:p>
        </p:txBody>
      </p:sp>
      <p:sp>
        <p:nvSpPr>
          <p:cNvPr id="11" name="Text 7"/>
          <p:cNvSpPr/>
          <p:nvPr/>
        </p:nvSpPr>
        <p:spPr>
          <a:xfrm>
            <a:off x="4571886" y="2753519"/>
            <a:ext cx="3047825" cy="504627"/>
          </a:xfrm>
          <a:prstGeom prst="rect">
            <a:avLst/>
          </a:prstGeom>
          <a:noFill/>
          <a:ln/>
        </p:spPr>
        <p:txBody>
          <a:bodyPr wrap="square" lIns="0" tIns="0" rIns="0" bIns="0" rtlCol="0" anchor="t">
            <a:normAutofit/>
          </a:bodyPr>
          <a:lstStyle/>
          <a:p>
            <a:pPr marL="0" indent="0" algn="l">
              <a:lnSpc>
                <a:spcPct val="131000"/>
              </a:lnSpc>
              <a:buNone/>
            </a:pPr>
            <a:r>
              <a:rPr lang="en-US" sz="1250" dirty="0">
                <a:solidFill>
                  <a:srgbClr val="454240"/>
                </a:solidFill>
                <a:latin typeface="DM Sans" pitchFamily="34" charset="0"/>
                <a:ea typeface="DM Sans" pitchFamily="34" charset="-122"/>
                <a:cs typeface="DM Sans" pitchFamily="34" charset="-120"/>
              </a:rPr>
              <a:t>How long does the provider store your data, and who can access it?</a:t>
            </a:r>
            <a:endParaRPr lang="en-US" sz="1250" dirty="0"/>
          </a:p>
        </p:txBody>
      </p:sp>
      <p:sp>
        <p:nvSpPr>
          <p:cNvPr id="12" name="Text 8"/>
          <p:cNvSpPr/>
          <p:nvPr/>
        </p:nvSpPr>
        <p:spPr>
          <a:xfrm>
            <a:off x="4571886" y="3351213"/>
            <a:ext cx="3047825" cy="2127052"/>
          </a:xfrm>
          <a:prstGeom prst="rect">
            <a:avLst/>
          </a:prstGeom>
          <a:noFill/>
          <a:ln/>
        </p:spPr>
        <p:txBody>
          <a:bodyPr wrap="square" lIns="0" tIns="0" rIns="0" bIns="0" rtlCol="0" anchor="t">
            <a:normAutofit lnSpcReduction="10000"/>
          </a:bodyPr>
          <a:lstStyle/>
          <a:p>
            <a:pPr marL="342900" indent="-342900" algn="l">
              <a:lnSpc>
                <a:spcPct val="131000"/>
              </a:lnSpc>
              <a:buSzPct val="100000"/>
              <a:buChar char="•"/>
            </a:pPr>
            <a:r>
              <a:rPr lang="en-US" sz="1250" dirty="0">
                <a:solidFill>
                  <a:srgbClr val="454240"/>
                </a:solidFill>
                <a:latin typeface="DM Sans" pitchFamily="34" charset="0"/>
                <a:ea typeface="DM Sans" pitchFamily="34" charset="-122"/>
                <a:cs typeface="DM Sans" pitchFamily="34" charset="-120"/>
              </a:rPr>
              <a:t>Most providers retain API requests for 30 days for abuse monitoring, then delete.</a:t>
            </a:r>
            <a:endParaRPr lang="en-US" sz="1250" dirty="0"/>
          </a:p>
          <a:p>
            <a:pPr marL="342900" indent="-342900" algn="l">
              <a:lnSpc>
                <a:spcPct val="131000"/>
              </a:lnSpc>
              <a:buSzPct val="100000"/>
              <a:buChar char="•"/>
            </a:pPr>
            <a:r>
              <a:rPr lang="en-US" sz="1250" b="1" dirty="0">
                <a:solidFill>
                  <a:srgbClr val="454240"/>
                </a:solidFill>
                <a:latin typeface="DM Sans" pitchFamily="34" charset="0"/>
                <a:ea typeface="DM Sans" pitchFamily="34" charset="-122"/>
                <a:cs typeface="DM Sans" pitchFamily="34" charset="-120"/>
              </a:rPr>
              <a:t>Zero-retention agreements (ZDR)</a:t>
            </a:r>
            <a:r>
              <a:rPr lang="en-US" sz="1250" dirty="0">
                <a:solidFill>
                  <a:srgbClr val="454240"/>
                </a:solidFill>
                <a:latin typeface="DM Sans" pitchFamily="34" charset="0"/>
                <a:ea typeface="DM Sans" pitchFamily="34" charset="-122"/>
                <a:cs typeface="DM Sans" pitchFamily="34" charset="-120"/>
              </a:rPr>
              <a:t> are available to enterprise customers.</a:t>
            </a:r>
            <a:endParaRPr lang="en-US" sz="1250" dirty="0"/>
          </a:p>
          <a:p>
            <a:pPr marL="342900" indent="-342900" algn="l">
              <a:lnSpc>
                <a:spcPct val="131000"/>
              </a:lnSpc>
              <a:buSzPct val="100000"/>
              <a:buChar char="•"/>
            </a:pPr>
            <a:r>
              <a:rPr lang="en-US" sz="1250" dirty="0">
                <a:solidFill>
                  <a:srgbClr val="454240"/>
                </a:solidFill>
                <a:latin typeface="DM Sans" pitchFamily="34" charset="0"/>
                <a:ea typeface="DM Sans" pitchFamily="34" charset="-122"/>
                <a:cs typeface="DM Sans" pitchFamily="34" charset="-120"/>
              </a:rPr>
              <a:t>Storage location matters — some enterprises require data to stay in specific geographies.</a:t>
            </a:r>
            <a:endParaRPr lang="en-US" sz="1250" dirty="0"/>
          </a:p>
        </p:txBody>
      </p:sp>
      <p:pic>
        <p:nvPicPr>
          <p:cNvPr id="13"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954069" y="1755279"/>
            <a:ext cx="3406094" cy="4659114"/>
          </a:xfrm>
          <a:prstGeom prst="rect">
            <a:avLst/>
          </a:prstGeom>
        </p:spPr>
      </p:pic>
      <p:sp>
        <p:nvSpPr>
          <p:cNvPr id="14" name="Text 9"/>
          <p:cNvSpPr/>
          <p:nvPr/>
        </p:nvSpPr>
        <p:spPr>
          <a:xfrm>
            <a:off x="9536965" y="1861245"/>
            <a:ext cx="240302" cy="300335"/>
          </a:xfrm>
          <a:prstGeom prst="rect">
            <a:avLst/>
          </a:prstGeom>
          <a:noFill/>
          <a:ln/>
        </p:spPr>
        <p:txBody>
          <a:bodyPr wrap="none" lIns="0" tIns="0" rIns="0" bIns="0" rtlCol="0" anchor="ctr"/>
          <a:lstStyle/>
          <a:p>
            <a:pPr marL="0" indent="0" algn="ctr">
              <a:lnSpc>
                <a:spcPct val="100000"/>
              </a:lnSpc>
              <a:buNone/>
            </a:pPr>
            <a:r>
              <a:rPr lang="en-US" sz="1850" dirty="0">
                <a:solidFill>
                  <a:srgbClr val="454240"/>
                </a:solidFill>
                <a:latin typeface="Libre Baskerville" pitchFamily="34" charset="0"/>
                <a:ea typeface="Libre Baskerville" pitchFamily="34" charset="-122"/>
                <a:cs typeface="Libre Baskerville" pitchFamily="34" charset="-120"/>
              </a:rPr>
              <a:t>3</a:t>
            </a:r>
            <a:endParaRPr lang="en-US" sz="1850" dirty="0"/>
          </a:p>
        </p:txBody>
      </p:sp>
      <p:sp>
        <p:nvSpPr>
          <p:cNvPr id="15" name="Text 10"/>
          <p:cNvSpPr/>
          <p:nvPr/>
        </p:nvSpPr>
        <p:spPr>
          <a:xfrm>
            <a:off x="8133254" y="2410123"/>
            <a:ext cx="2002780" cy="250329"/>
          </a:xfrm>
          <a:prstGeom prst="rect">
            <a:avLst/>
          </a:prstGeom>
          <a:noFill/>
          <a:ln/>
        </p:spPr>
        <p:txBody>
          <a:bodyPr wrap="none" lIns="0" tIns="0" rIns="0" bIns="0" rtlCol="0" anchor="t"/>
          <a:lstStyle/>
          <a:p>
            <a:pPr marL="0" indent="0" algn="l">
              <a:lnSpc>
                <a:spcPct val="104000"/>
              </a:lnSpc>
              <a:buNone/>
            </a:pPr>
            <a:r>
              <a:rPr lang="en-US" sz="1550" dirty="0">
                <a:solidFill>
                  <a:srgbClr val="454240"/>
                </a:solidFill>
                <a:latin typeface="Libre Baskerville" pitchFamily="34" charset="0"/>
                <a:ea typeface="Libre Baskerville" pitchFamily="34" charset="-122"/>
                <a:cs typeface="Libre Baskerville" pitchFamily="34" charset="-120"/>
              </a:rPr>
              <a:t>Access</a:t>
            </a:r>
            <a:endParaRPr lang="en-US" sz="1550" dirty="0"/>
          </a:p>
        </p:txBody>
      </p:sp>
      <p:sp>
        <p:nvSpPr>
          <p:cNvPr id="16" name="Text 11"/>
          <p:cNvSpPr/>
          <p:nvPr/>
        </p:nvSpPr>
        <p:spPr>
          <a:xfrm>
            <a:off x="8133254" y="2753519"/>
            <a:ext cx="3047725" cy="504627"/>
          </a:xfrm>
          <a:prstGeom prst="rect">
            <a:avLst/>
          </a:prstGeom>
          <a:noFill/>
          <a:ln/>
        </p:spPr>
        <p:txBody>
          <a:bodyPr wrap="square" lIns="0" tIns="0" rIns="0" bIns="0" rtlCol="0" anchor="t">
            <a:normAutofit/>
          </a:bodyPr>
          <a:lstStyle/>
          <a:p>
            <a:pPr marL="0" indent="0" algn="l">
              <a:lnSpc>
                <a:spcPct val="131000"/>
              </a:lnSpc>
              <a:buNone/>
            </a:pPr>
            <a:r>
              <a:rPr lang="en-US" sz="1250" dirty="0">
                <a:solidFill>
                  <a:srgbClr val="454240"/>
                </a:solidFill>
                <a:latin typeface="DM Sans" pitchFamily="34" charset="0"/>
                <a:ea typeface="DM Sans" pitchFamily="34" charset="-122"/>
                <a:cs typeface="DM Sans" pitchFamily="34" charset="-120"/>
              </a:rPr>
              <a:t>Who at the provider can see your data, under what circumstances?</a:t>
            </a:r>
            <a:endParaRPr lang="en-US" sz="1250" dirty="0"/>
          </a:p>
        </p:txBody>
      </p:sp>
      <p:sp>
        <p:nvSpPr>
          <p:cNvPr id="17" name="Text 12"/>
          <p:cNvSpPr/>
          <p:nvPr/>
        </p:nvSpPr>
        <p:spPr>
          <a:xfrm>
            <a:off x="8133254" y="3351213"/>
            <a:ext cx="3047725" cy="1315839"/>
          </a:xfrm>
          <a:prstGeom prst="rect">
            <a:avLst/>
          </a:prstGeom>
          <a:noFill/>
          <a:ln/>
        </p:spPr>
        <p:txBody>
          <a:bodyPr wrap="square" lIns="0" tIns="0" rIns="0" bIns="0" rtlCol="0" anchor="t">
            <a:normAutofit/>
          </a:bodyPr>
          <a:lstStyle/>
          <a:p>
            <a:pPr marL="342900" indent="-342900" algn="l">
              <a:lnSpc>
                <a:spcPct val="131000"/>
              </a:lnSpc>
              <a:buSzPct val="100000"/>
              <a:buChar char="•"/>
            </a:pPr>
            <a:r>
              <a:rPr lang="en-US" sz="1250" dirty="0">
                <a:solidFill>
                  <a:srgbClr val="454240"/>
                </a:solidFill>
                <a:latin typeface="DM Sans" pitchFamily="34" charset="0"/>
                <a:ea typeface="DM Sans" pitchFamily="34" charset="-122"/>
                <a:cs typeface="DM Sans" pitchFamily="34" charset="-120"/>
              </a:rPr>
              <a:t>Standard answer: nobody, except for narrow abuse review processes.</a:t>
            </a:r>
            <a:endParaRPr lang="en-US" sz="1250" dirty="0"/>
          </a:p>
          <a:p>
            <a:pPr marL="342900" indent="-342900" algn="l">
              <a:lnSpc>
                <a:spcPct val="131000"/>
              </a:lnSpc>
              <a:buSzPct val="100000"/>
              <a:buChar char="•"/>
            </a:pPr>
            <a:r>
              <a:rPr lang="en-US" sz="1250" dirty="0">
                <a:solidFill>
                  <a:srgbClr val="454240"/>
                </a:solidFill>
                <a:latin typeface="DM Sans" pitchFamily="34" charset="0"/>
                <a:ea typeface="DM Sans" pitchFamily="34" charset="-122"/>
                <a:cs typeface="DM Sans" pitchFamily="34" charset="-120"/>
              </a:rPr>
              <a:t>Subpoenas and legal requests are a separate issue and vary by jurisdiction.</a:t>
            </a:r>
            <a:endParaRPr lang="en-US" sz="12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661574" y="618927"/>
            <a:ext cx="6369982" cy="490934"/>
          </a:xfrm>
          <a:prstGeom prst="rect">
            <a:avLst/>
          </a:prstGeom>
          <a:noFill/>
          <a:ln/>
        </p:spPr>
        <p:txBody>
          <a:bodyPr wrap="none" lIns="0" tIns="0" rIns="0" bIns="0" rtlCol="0" anchor="t"/>
          <a:lstStyle/>
          <a:p>
            <a:pPr marL="0" indent="0" algn="l">
              <a:lnSpc>
                <a:spcPct val="104000"/>
              </a:lnSpc>
              <a:buNone/>
            </a:pPr>
            <a:r>
              <a:rPr lang="en-US" sz="3050" dirty="0">
                <a:solidFill>
                  <a:srgbClr val="5C4E3D"/>
                </a:solidFill>
                <a:latin typeface="Libre Baskerville" pitchFamily="34" charset="0"/>
                <a:ea typeface="Libre Baskerville" pitchFamily="34" charset="-122"/>
                <a:cs typeface="Libre Baskerville" pitchFamily="34" charset="-120"/>
              </a:rPr>
              <a:t>What This Means in Practice</a:t>
            </a:r>
            <a:endParaRPr lang="en-US" sz="3050" dirty="0"/>
          </a:p>
        </p:txBody>
      </p:sp>
      <p:sp>
        <p:nvSpPr>
          <p:cNvPr id="3" name="Text 1"/>
          <p:cNvSpPr/>
          <p:nvPr/>
        </p:nvSpPr>
        <p:spPr>
          <a:xfrm>
            <a:off x="661574" y="1408311"/>
            <a:ext cx="11478132" cy="245170"/>
          </a:xfrm>
          <a:prstGeom prst="rect">
            <a:avLst/>
          </a:prstGeom>
          <a:noFill/>
          <a:ln/>
        </p:spPr>
        <p:txBody>
          <a:bodyPr wrap="none" lIns="0" tIns="0" rIns="0" bIns="0" rtlCol="0" anchor="t"/>
          <a:lstStyle/>
          <a:p>
            <a:pPr marL="0" indent="0" algn="l">
              <a:lnSpc>
                <a:spcPct val="130000"/>
              </a:lnSpc>
              <a:buNone/>
            </a:pPr>
            <a:r>
              <a:rPr lang="en-US" sz="1200" dirty="0">
                <a:solidFill>
                  <a:srgbClr val="454240"/>
                </a:solidFill>
                <a:latin typeface="DM Sans" pitchFamily="34" charset="0"/>
                <a:ea typeface="DM Sans" pitchFamily="34" charset="-122"/>
                <a:cs typeface="DM Sans" pitchFamily="34" charset="-120"/>
              </a:rPr>
              <a:t>For a wealth-management assistant handling real client data, the requirements are typically:</a:t>
            </a:r>
            <a:endParaRPr lang="en-US" sz="1200" dirty="0"/>
          </a:p>
        </p:txBody>
      </p:sp>
      <p:sp>
        <p:nvSpPr>
          <p:cNvPr id="4" name="Shape 2"/>
          <p:cNvSpPr/>
          <p:nvPr/>
        </p:nvSpPr>
        <p:spPr>
          <a:xfrm>
            <a:off x="661574" y="1821359"/>
            <a:ext cx="1687073" cy="3244552"/>
          </a:xfrm>
          <a:prstGeom prst="roundRect">
            <a:avLst>
              <a:gd name="adj" fmla="val 3912"/>
            </a:avLst>
          </a:prstGeom>
          <a:solidFill>
            <a:srgbClr val="F7EDD4"/>
          </a:solidFill>
          <a:ln w="6350">
            <a:solidFill>
              <a:srgbClr val="DDD3BA"/>
            </a:solidFill>
            <a:prstDash val="solid"/>
          </a:ln>
        </p:spPr>
      </p:sp>
      <p:sp>
        <p:nvSpPr>
          <p:cNvPr id="5" name="Shape 3"/>
          <p:cNvSpPr/>
          <p:nvPr/>
        </p:nvSpPr>
        <p:spPr>
          <a:xfrm>
            <a:off x="824983" y="1984772"/>
            <a:ext cx="471277" cy="471289"/>
          </a:xfrm>
          <a:prstGeom prst="roundRect">
            <a:avLst>
              <a:gd name="adj" fmla="val 16166814"/>
            </a:avLst>
          </a:prstGeom>
          <a:solidFill>
            <a:srgbClr val="B88E23"/>
          </a:solidFill>
          <a:ln/>
        </p:spPr>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54560" y="2114352"/>
            <a:ext cx="212025" cy="212030"/>
          </a:xfrm>
          <a:prstGeom prst="rect">
            <a:avLst/>
          </a:prstGeom>
        </p:spPr>
      </p:pic>
      <p:sp>
        <p:nvSpPr>
          <p:cNvPr id="7" name="Text 4"/>
          <p:cNvSpPr/>
          <p:nvPr/>
        </p:nvSpPr>
        <p:spPr>
          <a:xfrm>
            <a:off x="824983" y="2605286"/>
            <a:ext cx="1360255" cy="736699"/>
          </a:xfrm>
          <a:prstGeom prst="rect">
            <a:avLst/>
          </a:prstGeom>
          <a:noFill/>
          <a:ln/>
        </p:spPr>
        <p:txBody>
          <a:bodyPr wrap="square" lIns="0" tIns="0" rIns="0" bIns="0" rtlCol="0" anchor="t">
            <a:normAutofit/>
          </a:bodyPr>
          <a:lstStyle/>
          <a:p>
            <a:pPr marL="0" indent="0" algn="l">
              <a:lnSpc>
                <a:spcPct val="104000"/>
              </a:lnSpc>
              <a:buNone/>
            </a:pPr>
            <a:r>
              <a:rPr lang="en-US" sz="1500" dirty="0">
                <a:solidFill>
                  <a:srgbClr val="454240"/>
                </a:solidFill>
                <a:latin typeface="Libre Baskerville" pitchFamily="34" charset="0"/>
                <a:ea typeface="Libre Baskerville" pitchFamily="34" charset="-122"/>
                <a:cs typeface="Libre Baskerville" pitchFamily="34" charset="-120"/>
              </a:rPr>
              <a:t>API or Enterprise Plan</a:t>
            </a:r>
            <a:endParaRPr lang="en-US" sz="1500" dirty="0"/>
          </a:p>
        </p:txBody>
      </p:sp>
      <p:sp>
        <p:nvSpPr>
          <p:cNvPr id="8" name="Text 5"/>
          <p:cNvSpPr/>
          <p:nvPr/>
        </p:nvSpPr>
        <p:spPr>
          <a:xfrm>
            <a:off x="824983" y="3431480"/>
            <a:ext cx="1360255" cy="490339"/>
          </a:xfrm>
          <a:prstGeom prst="rect">
            <a:avLst/>
          </a:prstGeom>
          <a:noFill/>
          <a:ln/>
        </p:spPr>
        <p:txBody>
          <a:bodyPr wrap="square" lIns="0" tIns="0" rIns="0" bIns="0" rtlCol="0" anchor="t">
            <a:normAutofit/>
          </a:bodyPr>
          <a:lstStyle/>
          <a:p>
            <a:pPr marL="0" indent="0" algn="l">
              <a:lnSpc>
                <a:spcPct val="130000"/>
              </a:lnSpc>
              <a:buNone/>
            </a:pPr>
            <a:r>
              <a:rPr lang="en-US" sz="1200" dirty="0">
                <a:solidFill>
                  <a:srgbClr val="454240"/>
                </a:solidFill>
                <a:latin typeface="DM Sans" pitchFamily="34" charset="0"/>
                <a:ea typeface="DM Sans" pitchFamily="34" charset="-122"/>
                <a:cs typeface="DM Sans" pitchFamily="34" charset="-120"/>
              </a:rPr>
              <a:t>Never the free consumer tier.</a:t>
            </a:r>
            <a:endParaRPr lang="en-US" sz="1200" dirty="0"/>
          </a:p>
        </p:txBody>
      </p:sp>
      <p:sp>
        <p:nvSpPr>
          <p:cNvPr id="9" name="Shape 6"/>
          <p:cNvSpPr/>
          <p:nvPr/>
        </p:nvSpPr>
        <p:spPr>
          <a:xfrm>
            <a:off x="2497869" y="1821359"/>
            <a:ext cx="1687073" cy="3244552"/>
          </a:xfrm>
          <a:prstGeom prst="roundRect">
            <a:avLst>
              <a:gd name="adj" fmla="val 3912"/>
            </a:avLst>
          </a:prstGeom>
          <a:solidFill>
            <a:srgbClr val="F7EDD4"/>
          </a:solidFill>
          <a:ln w="6350">
            <a:solidFill>
              <a:srgbClr val="DDD3BA"/>
            </a:solidFill>
            <a:prstDash val="solid"/>
          </a:ln>
        </p:spPr>
      </p:sp>
      <p:sp>
        <p:nvSpPr>
          <p:cNvPr id="10" name="Shape 7"/>
          <p:cNvSpPr/>
          <p:nvPr/>
        </p:nvSpPr>
        <p:spPr>
          <a:xfrm>
            <a:off x="2661278" y="1984772"/>
            <a:ext cx="471277" cy="471289"/>
          </a:xfrm>
          <a:prstGeom prst="roundRect">
            <a:avLst>
              <a:gd name="adj" fmla="val 16166814"/>
            </a:avLst>
          </a:prstGeom>
          <a:solidFill>
            <a:srgbClr val="B88E23"/>
          </a:solidFill>
          <a:ln/>
        </p:spPr>
      </p:sp>
      <p:pic>
        <p:nvPicPr>
          <p:cNvPr id="1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90854" y="2114352"/>
            <a:ext cx="212025" cy="212030"/>
          </a:xfrm>
          <a:prstGeom prst="rect">
            <a:avLst/>
          </a:prstGeom>
        </p:spPr>
      </p:pic>
      <p:sp>
        <p:nvSpPr>
          <p:cNvPr id="12" name="Text 8"/>
          <p:cNvSpPr/>
          <p:nvPr/>
        </p:nvSpPr>
        <p:spPr>
          <a:xfrm>
            <a:off x="2661278" y="2605286"/>
            <a:ext cx="1360255" cy="491133"/>
          </a:xfrm>
          <a:prstGeom prst="rect">
            <a:avLst/>
          </a:prstGeom>
          <a:noFill/>
          <a:ln/>
        </p:spPr>
        <p:txBody>
          <a:bodyPr wrap="square" lIns="0" tIns="0" rIns="0" bIns="0" rtlCol="0" anchor="t">
            <a:normAutofit/>
          </a:bodyPr>
          <a:lstStyle/>
          <a:p>
            <a:pPr marL="0" indent="0" algn="l">
              <a:lnSpc>
                <a:spcPct val="104000"/>
              </a:lnSpc>
              <a:buNone/>
            </a:pPr>
            <a:r>
              <a:rPr lang="en-US" sz="1500" dirty="0">
                <a:solidFill>
                  <a:srgbClr val="454240"/>
                </a:solidFill>
                <a:latin typeface="Libre Baskerville" pitchFamily="34" charset="0"/>
                <a:ea typeface="Libre Baskerville" pitchFamily="34" charset="-122"/>
                <a:cs typeface="Libre Baskerville" pitchFamily="34" charset="-120"/>
              </a:rPr>
              <a:t>No Training on Inputs</a:t>
            </a:r>
            <a:endParaRPr lang="en-US" sz="1500" dirty="0"/>
          </a:p>
        </p:txBody>
      </p:sp>
      <p:sp>
        <p:nvSpPr>
          <p:cNvPr id="13" name="Text 9"/>
          <p:cNvSpPr/>
          <p:nvPr/>
        </p:nvSpPr>
        <p:spPr>
          <a:xfrm>
            <a:off x="2661278" y="3185914"/>
            <a:ext cx="1360255" cy="490339"/>
          </a:xfrm>
          <a:prstGeom prst="rect">
            <a:avLst/>
          </a:prstGeom>
          <a:noFill/>
          <a:ln/>
        </p:spPr>
        <p:txBody>
          <a:bodyPr wrap="square" lIns="0" tIns="0" rIns="0" bIns="0" rtlCol="0" anchor="t">
            <a:normAutofit/>
          </a:bodyPr>
          <a:lstStyle/>
          <a:p>
            <a:pPr marL="0" indent="0" algn="l">
              <a:lnSpc>
                <a:spcPct val="130000"/>
              </a:lnSpc>
              <a:buNone/>
            </a:pPr>
            <a:r>
              <a:rPr lang="en-US" sz="1200" dirty="0">
                <a:solidFill>
                  <a:srgbClr val="454240"/>
                </a:solidFill>
                <a:latin typeface="DM Sans" pitchFamily="34" charset="0"/>
                <a:ea typeface="DM Sans" pitchFamily="34" charset="-122"/>
                <a:cs typeface="DM Sans" pitchFamily="34" charset="-120"/>
              </a:rPr>
              <a:t>Contractually confirmed.</a:t>
            </a:r>
            <a:endParaRPr lang="en-US" sz="1200" dirty="0"/>
          </a:p>
        </p:txBody>
      </p:sp>
      <p:sp>
        <p:nvSpPr>
          <p:cNvPr id="14" name="Shape 10"/>
          <p:cNvSpPr/>
          <p:nvPr/>
        </p:nvSpPr>
        <p:spPr>
          <a:xfrm>
            <a:off x="4334163" y="1821359"/>
            <a:ext cx="1687073" cy="3244552"/>
          </a:xfrm>
          <a:prstGeom prst="roundRect">
            <a:avLst>
              <a:gd name="adj" fmla="val 3912"/>
            </a:avLst>
          </a:prstGeom>
          <a:solidFill>
            <a:srgbClr val="F7EDD4"/>
          </a:solidFill>
          <a:ln w="6350">
            <a:solidFill>
              <a:srgbClr val="DDD3BA"/>
            </a:solidFill>
            <a:prstDash val="solid"/>
          </a:ln>
        </p:spPr>
      </p:sp>
      <p:sp>
        <p:nvSpPr>
          <p:cNvPr id="15" name="Shape 11"/>
          <p:cNvSpPr/>
          <p:nvPr/>
        </p:nvSpPr>
        <p:spPr>
          <a:xfrm>
            <a:off x="4497573" y="1984772"/>
            <a:ext cx="471277" cy="471289"/>
          </a:xfrm>
          <a:prstGeom prst="roundRect">
            <a:avLst>
              <a:gd name="adj" fmla="val 16166814"/>
            </a:avLst>
          </a:prstGeom>
          <a:solidFill>
            <a:srgbClr val="B88E23"/>
          </a:solidFill>
          <a:ln/>
        </p:spPr>
      </p:sp>
      <p:pic>
        <p:nvPicPr>
          <p:cNvPr id="16"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627149" y="2114352"/>
            <a:ext cx="212025" cy="212030"/>
          </a:xfrm>
          <a:prstGeom prst="rect">
            <a:avLst/>
          </a:prstGeom>
        </p:spPr>
      </p:pic>
      <p:sp>
        <p:nvSpPr>
          <p:cNvPr id="17" name="Text 12"/>
          <p:cNvSpPr/>
          <p:nvPr/>
        </p:nvSpPr>
        <p:spPr>
          <a:xfrm>
            <a:off x="4497573" y="2605286"/>
            <a:ext cx="1360255" cy="736699"/>
          </a:xfrm>
          <a:prstGeom prst="rect">
            <a:avLst/>
          </a:prstGeom>
          <a:noFill/>
          <a:ln/>
        </p:spPr>
        <p:txBody>
          <a:bodyPr wrap="square" lIns="0" tIns="0" rIns="0" bIns="0" rtlCol="0" anchor="t">
            <a:normAutofit/>
          </a:bodyPr>
          <a:lstStyle/>
          <a:p>
            <a:pPr marL="0" indent="0" algn="l">
              <a:lnSpc>
                <a:spcPct val="104000"/>
              </a:lnSpc>
              <a:buNone/>
            </a:pPr>
            <a:r>
              <a:rPr lang="en-US" sz="1500" dirty="0">
                <a:solidFill>
                  <a:srgbClr val="454240"/>
                </a:solidFill>
                <a:latin typeface="Libre Baskerville" pitchFamily="34" charset="0"/>
                <a:ea typeface="Libre Baskerville" pitchFamily="34" charset="-122"/>
                <a:cs typeface="Libre Baskerville" pitchFamily="34" charset="-120"/>
              </a:rPr>
              <a:t>Zero or Short Retention</a:t>
            </a:r>
            <a:endParaRPr lang="en-US" sz="1500" dirty="0"/>
          </a:p>
        </p:txBody>
      </p:sp>
      <p:sp>
        <p:nvSpPr>
          <p:cNvPr id="18" name="Text 13"/>
          <p:cNvSpPr/>
          <p:nvPr/>
        </p:nvSpPr>
        <p:spPr>
          <a:xfrm>
            <a:off x="4497573" y="3431480"/>
            <a:ext cx="1360255" cy="490339"/>
          </a:xfrm>
          <a:prstGeom prst="rect">
            <a:avLst/>
          </a:prstGeom>
          <a:noFill/>
          <a:ln/>
        </p:spPr>
        <p:txBody>
          <a:bodyPr wrap="square" lIns="0" tIns="0" rIns="0" bIns="0" rtlCol="0" anchor="t">
            <a:normAutofit/>
          </a:bodyPr>
          <a:lstStyle/>
          <a:p>
            <a:pPr marL="0" indent="0" algn="l">
              <a:lnSpc>
                <a:spcPct val="130000"/>
              </a:lnSpc>
              <a:buNone/>
            </a:pPr>
            <a:r>
              <a:rPr lang="en-US" sz="1200" dirty="0">
                <a:solidFill>
                  <a:srgbClr val="454240"/>
                </a:solidFill>
                <a:latin typeface="DM Sans" pitchFamily="34" charset="0"/>
                <a:ea typeface="DM Sans" pitchFamily="34" charset="-122"/>
                <a:cs typeface="DM Sans" pitchFamily="34" charset="-120"/>
              </a:rPr>
              <a:t>Confirmed in writing.</a:t>
            </a:r>
            <a:endParaRPr lang="en-US" sz="1200" dirty="0"/>
          </a:p>
        </p:txBody>
      </p:sp>
      <p:sp>
        <p:nvSpPr>
          <p:cNvPr id="19" name="Shape 14"/>
          <p:cNvSpPr/>
          <p:nvPr/>
        </p:nvSpPr>
        <p:spPr>
          <a:xfrm>
            <a:off x="6170458" y="1821359"/>
            <a:ext cx="1687073" cy="3244552"/>
          </a:xfrm>
          <a:prstGeom prst="roundRect">
            <a:avLst>
              <a:gd name="adj" fmla="val 3912"/>
            </a:avLst>
          </a:prstGeom>
          <a:solidFill>
            <a:srgbClr val="F7EDD4"/>
          </a:solidFill>
          <a:ln w="6350">
            <a:solidFill>
              <a:srgbClr val="DDD3BA"/>
            </a:solidFill>
            <a:prstDash val="solid"/>
          </a:ln>
        </p:spPr>
      </p:sp>
      <p:sp>
        <p:nvSpPr>
          <p:cNvPr id="20" name="Shape 15"/>
          <p:cNvSpPr/>
          <p:nvPr/>
        </p:nvSpPr>
        <p:spPr>
          <a:xfrm>
            <a:off x="6333867" y="1984772"/>
            <a:ext cx="471277" cy="471289"/>
          </a:xfrm>
          <a:prstGeom prst="roundRect">
            <a:avLst>
              <a:gd name="adj" fmla="val 16166814"/>
            </a:avLst>
          </a:prstGeom>
          <a:solidFill>
            <a:srgbClr val="B88E23"/>
          </a:solidFill>
          <a:ln/>
        </p:spPr>
      </p:sp>
      <p:pic>
        <p:nvPicPr>
          <p:cNvPr id="21"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463444" y="2114352"/>
            <a:ext cx="212025" cy="212030"/>
          </a:xfrm>
          <a:prstGeom prst="rect">
            <a:avLst/>
          </a:prstGeom>
        </p:spPr>
      </p:pic>
      <p:sp>
        <p:nvSpPr>
          <p:cNvPr id="22" name="Text 16"/>
          <p:cNvSpPr/>
          <p:nvPr/>
        </p:nvSpPr>
        <p:spPr>
          <a:xfrm>
            <a:off x="6333867" y="2605286"/>
            <a:ext cx="1360255" cy="491133"/>
          </a:xfrm>
          <a:prstGeom prst="rect">
            <a:avLst/>
          </a:prstGeom>
          <a:noFill/>
          <a:ln/>
        </p:spPr>
        <p:txBody>
          <a:bodyPr wrap="square" lIns="0" tIns="0" rIns="0" bIns="0" rtlCol="0" anchor="t">
            <a:normAutofit/>
          </a:bodyPr>
          <a:lstStyle/>
          <a:p>
            <a:pPr marL="0" indent="0" algn="l">
              <a:lnSpc>
                <a:spcPct val="104000"/>
              </a:lnSpc>
              <a:buNone/>
            </a:pPr>
            <a:r>
              <a:rPr lang="en-US" sz="1500" dirty="0">
                <a:solidFill>
                  <a:srgbClr val="454240"/>
                </a:solidFill>
                <a:latin typeface="Libre Baskerville" pitchFamily="34" charset="0"/>
                <a:ea typeface="Libre Baskerville" pitchFamily="34" charset="-122"/>
                <a:cs typeface="Libre Baskerville" pitchFamily="34" charset="-120"/>
              </a:rPr>
              <a:t>Data Residency</a:t>
            </a:r>
            <a:endParaRPr lang="en-US" sz="1500" dirty="0"/>
          </a:p>
        </p:txBody>
      </p:sp>
      <p:sp>
        <p:nvSpPr>
          <p:cNvPr id="23" name="Text 17"/>
          <p:cNvSpPr/>
          <p:nvPr/>
        </p:nvSpPr>
        <p:spPr>
          <a:xfrm>
            <a:off x="6333867" y="3185914"/>
            <a:ext cx="1360255" cy="490339"/>
          </a:xfrm>
          <a:prstGeom prst="rect">
            <a:avLst/>
          </a:prstGeom>
          <a:noFill/>
          <a:ln/>
        </p:spPr>
        <p:txBody>
          <a:bodyPr wrap="square" lIns="0" tIns="0" rIns="0" bIns="0" rtlCol="0" anchor="t">
            <a:normAutofit/>
          </a:bodyPr>
          <a:lstStyle/>
          <a:p>
            <a:pPr marL="0" indent="0" algn="l">
              <a:lnSpc>
                <a:spcPct val="130000"/>
              </a:lnSpc>
              <a:buNone/>
            </a:pPr>
            <a:r>
              <a:rPr lang="en-US" sz="1200" dirty="0">
                <a:solidFill>
                  <a:srgbClr val="454240"/>
                </a:solidFill>
                <a:latin typeface="DM Sans" pitchFamily="34" charset="0"/>
                <a:ea typeface="DM Sans" pitchFamily="34" charset="-122"/>
                <a:cs typeface="DM Sans" pitchFamily="34" charset="-120"/>
              </a:rPr>
              <a:t>Matching client regulations.</a:t>
            </a:r>
            <a:endParaRPr lang="en-US" sz="1200" dirty="0"/>
          </a:p>
        </p:txBody>
      </p:sp>
      <p:sp>
        <p:nvSpPr>
          <p:cNvPr id="24" name="Shape 18"/>
          <p:cNvSpPr/>
          <p:nvPr/>
        </p:nvSpPr>
        <p:spPr>
          <a:xfrm>
            <a:off x="8006753" y="1821359"/>
            <a:ext cx="1687073" cy="3244552"/>
          </a:xfrm>
          <a:prstGeom prst="roundRect">
            <a:avLst>
              <a:gd name="adj" fmla="val 3912"/>
            </a:avLst>
          </a:prstGeom>
          <a:solidFill>
            <a:srgbClr val="F7EDD4"/>
          </a:solidFill>
          <a:ln w="6350">
            <a:solidFill>
              <a:srgbClr val="DDD3BA"/>
            </a:solidFill>
            <a:prstDash val="solid"/>
          </a:ln>
        </p:spPr>
      </p:sp>
      <p:sp>
        <p:nvSpPr>
          <p:cNvPr id="25" name="Shape 19"/>
          <p:cNvSpPr/>
          <p:nvPr/>
        </p:nvSpPr>
        <p:spPr>
          <a:xfrm>
            <a:off x="8170162" y="1984772"/>
            <a:ext cx="471277" cy="471289"/>
          </a:xfrm>
          <a:prstGeom prst="roundRect">
            <a:avLst>
              <a:gd name="adj" fmla="val 16166814"/>
            </a:avLst>
          </a:prstGeom>
          <a:solidFill>
            <a:srgbClr val="B88E23"/>
          </a:solidFill>
          <a:ln/>
        </p:spPr>
      </p:sp>
      <p:pic>
        <p:nvPicPr>
          <p:cNvPr id="26"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299738" y="2114352"/>
            <a:ext cx="212025" cy="212030"/>
          </a:xfrm>
          <a:prstGeom prst="rect">
            <a:avLst/>
          </a:prstGeom>
        </p:spPr>
      </p:pic>
      <p:sp>
        <p:nvSpPr>
          <p:cNvPr id="27" name="Text 20"/>
          <p:cNvSpPr/>
          <p:nvPr/>
        </p:nvSpPr>
        <p:spPr>
          <a:xfrm>
            <a:off x="8170162" y="2605286"/>
            <a:ext cx="1360255" cy="245566"/>
          </a:xfrm>
          <a:prstGeom prst="rect">
            <a:avLst/>
          </a:prstGeom>
          <a:noFill/>
          <a:ln/>
        </p:spPr>
        <p:txBody>
          <a:bodyPr wrap="none" lIns="0" tIns="0" rIns="0" bIns="0" rtlCol="0" anchor="t"/>
          <a:lstStyle/>
          <a:p>
            <a:pPr marL="0" indent="0" algn="l">
              <a:lnSpc>
                <a:spcPct val="104000"/>
              </a:lnSpc>
              <a:buNone/>
            </a:pPr>
            <a:r>
              <a:rPr lang="en-US" sz="1500" dirty="0">
                <a:solidFill>
                  <a:srgbClr val="454240"/>
                </a:solidFill>
                <a:latin typeface="Libre Baskerville" pitchFamily="34" charset="0"/>
                <a:ea typeface="Libre Baskerville" pitchFamily="34" charset="-122"/>
                <a:cs typeface="Libre Baskerville" pitchFamily="34" charset="-120"/>
              </a:rPr>
              <a:t>Audit Logs</a:t>
            </a:r>
            <a:endParaRPr lang="en-US" sz="1500" dirty="0"/>
          </a:p>
        </p:txBody>
      </p:sp>
      <p:sp>
        <p:nvSpPr>
          <p:cNvPr id="28" name="Text 21"/>
          <p:cNvSpPr/>
          <p:nvPr/>
        </p:nvSpPr>
        <p:spPr>
          <a:xfrm>
            <a:off x="8170162" y="2940348"/>
            <a:ext cx="1360255" cy="490339"/>
          </a:xfrm>
          <a:prstGeom prst="rect">
            <a:avLst/>
          </a:prstGeom>
          <a:noFill/>
          <a:ln/>
        </p:spPr>
        <p:txBody>
          <a:bodyPr wrap="square" lIns="0" tIns="0" rIns="0" bIns="0" rtlCol="0" anchor="t">
            <a:normAutofit/>
          </a:bodyPr>
          <a:lstStyle/>
          <a:p>
            <a:pPr marL="0" indent="0" algn="l">
              <a:lnSpc>
                <a:spcPct val="130000"/>
              </a:lnSpc>
              <a:buNone/>
            </a:pPr>
            <a:r>
              <a:rPr lang="en-US" sz="1200" dirty="0">
                <a:solidFill>
                  <a:srgbClr val="454240"/>
                </a:solidFill>
                <a:latin typeface="DM Sans" pitchFamily="34" charset="0"/>
                <a:ea typeface="DM Sans" pitchFamily="34" charset="-122"/>
                <a:cs typeface="DM Sans" pitchFamily="34" charset="-120"/>
              </a:rPr>
              <a:t>The firm controls them.</a:t>
            </a:r>
            <a:endParaRPr lang="en-US" sz="1200" dirty="0"/>
          </a:p>
        </p:txBody>
      </p:sp>
      <p:sp>
        <p:nvSpPr>
          <p:cNvPr id="29" name="Shape 22"/>
          <p:cNvSpPr/>
          <p:nvPr/>
        </p:nvSpPr>
        <p:spPr>
          <a:xfrm>
            <a:off x="9843048" y="1821359"/>
            <a:ext cx="1687073" cy="3244552"/>
          </a:xfrm>
          <a:prstGeom prst="roundRect">
            <a:avLst>
              <a:gd name="adj" fmla="val 3912"/>
            </a:avLst>
          </a:prstGeom>
          <a:solidFill>
            <a:srgbClr val="F7EDD4"/>
          </a:solidFill>
          <a:ln w="6350">
            <a:solidFill>
              <a:srgbClr val="DDD3BA"/>
            </a:solidFill>
            <a:prstDash val="solid"/>
          </a:ln>
        </p:spPr>
      </p:sp>
      <p:sp>
        <p:nvSpPr>
          <p:cNvPr id="30" name="Shape 23"/>
          <p:cNvSpPr/>
          <p:nvPr/>
        </p:nvSpPr>
        <p:spPr>
          <a:xfrm>
            <a:off x="10006457" y="1984772"/>
            <a:ext cx="471277" cy="471289"/>
          </a:xfrm>
          <a:prstGeom prst="roundRect">
            <a:avLst>
              <a:gd name="adj" fmla="val 16166814"/>
            </a:avLst>
          </a:prstGeom>
          <a:solidFill>
            <a:srgbClr val="B88E23"/>
          </a:solidFill>
          <a:ln/>
        </p:spPr>
      </p:sp>
      <p:pic>
        <p:nvPicPr>
          <p:cNvPr id="31"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136033" y="2114352"/>
            <a:ext cx="212025" cy="212030"/>
          </a:xfrm>
          <a:prstGeom prst="rect">
            <a:avLst/>
          </a:prstGeom>
        </p:spPr>
      </p:pic>
      <p:sp>
        <p:nvSpPr>
          <p:cNvPr id="32" name="Text 24"/>
          <p:cNvSpPr/>
          <p:nvPr/>
        </p:nvSpPr>
        <p:spPr>
          <a:xfrm>
            <a:off x="10006457" y="2605286"/>
            <a:ext cx="1360255" cy="736699"/>
          </a:xfrm>
          <a:prstGeom prst="rect">
            <a:avLst/>
          </a:prstGeom>
          <a:noFill/>
          <a:ln/>
        </p:spPr>
        <p:txBody>
          <a:bodyPr wrap="square" lIns="0" tIns="0" rIns="0" bIns="0" rtlCol="0" anchor="t">
            <a:normAutofit/>
          </a:bodyPr>
          <a:lstStyle/>
          <a:p>
            <a:pPr marL="0" indent="0" algn="l">
              <a:lnSpc>
                <a:spcPct val="104000"/>
              </a:lnSpc>
              <a:buNone/>
            </a:pPr>
            <a:r>
              <a:rPr lang="en-US" sz="1500" dirty="0">
                <a:solidFill>
                  <a:srgbClr val="454240"/>
                </a:solidFill>
                <a:latin typeface="Libre Baskerville" pitchFamily="34" charset="0"/>
                <a:ea typeface="Libre Baskerville" pitchFamily="34" charset="-122"/>
                <a:cs typeface="Libre Baskerville" pitchFamily="34" charset="-120"/>
              </a:rPr>
              <a:t>On-Prem or VPC Deployment</a:t>
            </a:r>
            <a:endParaRPr lang="en-US" sz="1500" dirty="0"/>
          </a:p>
        </p:txBody>
      </p:sp>
      <p:sp>
        <p:nvSpPr>
          <p:cNvPr id="33" name="Text 25"/>
          <p:cNvSpPr/>
          <p:nvPr/>
        </p:nvSpPr>
        <p:spPr>
          <a:xfrm>
            <a:off x="10006457" y="3431480"/>
            <a:ext cx="1360255" cy="1471017"/>
          </a:xfrm>
          <a:prstGeom prst="rect">
            <a:avLst/>
          </a:prstGeom>
          <a:noFill/>
          <a:ln/>
        </p:spPr>
        <p:txBody>
          <a:bodyPr wrap="square" lIns="0" tIns="0" rIns="0" bIns="0" rtlCol="0" anchor="t">
            <a:normAutofit/>
          </a:bodyPr>
          <a:lstStyle/>
          <a:p>
            <a:pPr marL="0" indent="0" algn="l">
              <a:lnSpc>
                <a:spcPct val="130000"/>
              </a:lnSpc>
              <a:buNone/>
            </a:pPr>
            <a:r>
              <a:rPr lang="en-US" sz="1200" dirty="0">
                <a:solidFill>
                  <a:srgbClr val="454240"/>
                </a:solidFill>
                <a:latin typeface="DM Sans" pitchFamily="34" charset="0"/>
                <a:ea typeface="DM Sans" pitchFamily="34" charset="-122"/>
                <a:cs typeface="DM Sans" pitchFamily="34" charset="-120"/>
              </a:rPr>
              <a:t>Model runs in infrastructure the firm controls; no data crosses the provider's network.</a:t>
            </a:r>
            <a:endParaRPr lang="en-US" sz="1200" dirty="0"/>
          </a:p>
        </p:txBody>
      </p:sp>
      <p:sp>
        <p:nvSpPr>
          <p:cNvPr id="34" name="Shape 26"/>
          <p:cNvSpPr/>
          <p:nvPr/>
        </p:nvSpPr>
        <p:spPr>
          <a:xfrm>
            <a:off x="661574" y="5233789"/>
            <a:ext cx="10868547" cy="837406"/>
          </a:xfrm>
          <a:prstGeom prst="roundRect">
            <a:avLst>
              <a:gd name="adj" fmla="val 7880"/>
            </a:avLst>
          </a:prstGeom>
          <a:solidFill>
            <a:srgbClr val="FCF2B5"/>
          </a:solidFill>
          <a:ln/>
        </p:spPr>
      </p:sp>
      <p:pic>
        <p:nvPicPr>
          <p:cNvPr id="35" name="Image 6" descr="preencoded.png"/>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818633" y="5457627"/>
            <a:ext cx="196349" cy="157063"/>
          </a:xfrm>
          <a:prstGeom prst="rect">
            <a:avLst/>
          </a:prstGeom>
        </p:spPr>
      </p:pic>
      <p:sp>
        <p:nvSpPr>
          <p:cNvPr id="36" name="Text 27"/>
          <p:cNvSpPr/>
          <p:nvPr/>
        </p:nvSpPr>
        <p:spPr>
          <a:xfrm>
            <a:off x="1172042" y="5407323"/>
            <a:ext cx="10201020" cy="490339"/>
          </a:xfrm>
          <a:prstGeom prst="rect">
            <a:avLst/>
          </a:prstGeom>
          <a:noFill/>
          <a:ln/>
        </p:spPr>
        <p:txBody>
          <a:bodyPr wrap="square" lIns="0" tIns="0" rIns="0" bIns="0" rtlCol="0" anchor="t">
            <a:normAutofit/>
          </a:bodyPr>
          <a:lstStyle/>
          <a:p>
            <a:pPr marL="0" indent="0" algn="l">
              <a:lnSpc>
                <a:spcPct val="130000"/>
              </a:lnSpc>
              <a:buNone/>
            </a:pPr>
            <a:r>
              <a:rPr lang="en-US" sz="1200" b="1" dirty="0">
                <a:solidFill>
                  <a:srgbClr val="000000"/>
                </a:solidFill>
                <a:latin typeface="DM Sans" pitchFamily="34" charset="0"/>
                <a:ea typeface="DM Sans" pitchFamily="34" charset="-122"/>
                <a:cs typeface="DM Sans" pitchFamily="34" charset="-120"/>
              </a:rPr>
              <a:t>The lesson:</a:t>
            </a:r>
            <a:r>
              <a:rPr lang="en-US" sz="1200" dirty="0">
                <a:solidFill>
                  <a:srgbClr val="000000"/>
                </a:solidFill>
                <a:latin typeface="DM Sans" pitchFamily="34" charset="0"/>
                <a:ea typeface="DM Sans" pitchFamily="34" charset="-122"/>
                <a:cs typeface="DM Sans" pitchFamily="34" charset="-120"/>
              </a:rPr>
              <a:t> "Does Anthropic / OpenAI / Google train on our data?" is the wrong shape of question. The right shape is </a:t>
            </a:r>
            <a:r>
              <a:rPr lang="en-US" sz="1200" i="1" dirty="0">
                <a:solidFill>
                  <a:srgbClr val="000000"/>
                </a:solidFill>
                <a:latin typeface="DM Sans" pitchFamily="34" charset="0"/>
                <a:ea typeface="DM Sans" pitchFamily="34" charset="-122"/>
                <a:cs typeface="DM Sans" pitchFamily="34" charset="-120"/>
              </a:rPr>
              <a:t>"Under which specific tier, contract, and deployment are we using their service, and what are the precise data-handling guarantees of that arrangement?"</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661574" y="1114822"/>
            <a:ext cx="688065" cy="310952"/>
          </a:xfrm>
          <a:prstGeom prst="roundRect">
            <a:avLst>
              <a:gd name="adj" fmla="val 17871"/>
            </a:avLst>
          </a:prstGeom>
          <a:solidFill>
            <a:srgbClr val="F7EDD4"/>
          </a:solidFill>
          <a:ln/>
        </p:spPr>
      </p:sp>
      <p:sp>
        <p:nvSpPr>
          <p:cNvPr id="3" name="Text 1"/>
          <p:cNvSpPr/>
          <p:nvPr/>
        </p:nvSpPr>
        <p:spPr>
          <a:xfrm>
            <a:off x="760790" y="1164431"/>
            <a:ext cx="1099217" cy="211733"/>
          </a:xfrm>
          <a:prstGeom prst="rect">
            <a:avLst/>
          </a:prstGeom>
          <a:noFill/>
          <a:ln/>
        </p:spPr>
        <p:txBody>
          <a:bodyPr wrap="none" lIns="0" tIns="0" rIns="0" bIns="0" rtlCol="0" anchor="t"/>
          <a:lstStyle/>
          <a:p>
            <a:pPr marL="0" indent="0" algn="l">
              <a:lnSpc>
                <a:spcPct val="133000"/>
              </a:lnSpc>
              <a:buNone/>
            </a:pPr>
            <a:r>
              <a:rPr lang="en-US" sz="1000" dirty="0">
                <a:solidFill>
                  <a:srgbClr val="454240"/>
                </a:solidFill>
                <a:latin typeface="DM Sans" pitchFamily="34" charset="0"/>
                <a:ea typeface="DM Sans" pitchFamily="34" charset="-122"/>
                <a:cs typeface="DM Sans" pitchFamily="34" charset="-120"/>
              </a:rPr>
              <a:t>STEP 32</a:t>
            </a:r>
            <a:endParaRPr lang="en-US" sz="1000" dirty="0"/>
          </a:p>
        </p:txBody>
      </p:sp>
      <p:sp>
        <p:nvSpPr>
          <p:cNvPr id="4" name="Text 2"/>
          <p:cNvSpPr/>
          <p:nvPr/>
        </p:nvSpPr>
        <p:spPr>
          <a:xfrm>
            <a:off x="661574" y="1491853"/>
            <a:ext cx="9903669" cy="516731"/>
          </a:xfrm>
          <a:prstGeom prst="rect">
            <a:avLst/>
          </a:prstGeom>
          <a:noFill/>
          <a:ln/>
        </p:spPr>
        <p:txBody>
          <a:bodyPr wrap="none" lIns="0" tIns="0" rIns="0" bIns="0" rtlCol="0" anchor="t"/>
          <a:lstStyle/>
          <a:p>
            <a:pPr marL="0" indent="0" algn="l">
              <a:lnSpc>
                <a:spcPct val="104000"/>
              </a:lnSpc>
              <a:buNone/>
            </a:pPr>
            <a:r>
              <a:rPr lang="en-US" sz="3250" dirty="0">
                <a:solidFill>
                  <a:srgbClr val="5C4E3D"/>
                </a:solidFill>
                <a:latin typeface="Libre Baskerville" pitchFamily="34" charset="0"/>
                <a:ea typeface="Libre Baskerville" pitchFamily="34" charset="-122"/>
                <a:cs typeface="Libre Baskerville" pitchFamily="34" charset="-120"/>
              </a:rPr>
              <a:t>Evaluation: How Do You Know It's Working?</a:t>
            </a:r>
            <a:endParaRPr lang="en-US" sz="3250" dirty="0"/>
          </a:p>
        </p:txBody>
      </p:sp>
      <p:sp>
        <p:nvSpPr>
          <p:cNvPr id="5" name="Text 3"/>
          <p:cNvSpPr/>
          <p:nvPr/>
        </p:nvSpPr>
        <p:spPr>
          <a:xfrm>
            <a:off x="661574" y="2074664"/>
            <a:ext cx="3300826" cy="258465"/>
          </a:xfrm>
          <a:prstGeom prst="rect">
            <a:avLst/>
          </a:prstGeom>
          <a:noFill/>
          <a:ln/>
        </p:spPr>
        <p:txBody>
          <a:bodyPr wrap="none" lIns="0" tIns="0" rIns="0" bIns="0" rtlCol="0" anchor="t"/>
          <a:lstStyle/>
          <a:p>
            <a:pPr marL="0" indent="0" algn="l">
              <a:lnSpc>
                <a:spcPct val="104000"/>
              </a:lnSpc>
              <a:buNone/>
            </a:pPr>
            <a:r>
              <a:rPr lang="en-US" sz="1600" dirty="0">
                <a:solidFill>
                  <a:srgbClr val="5C4E3D"/>
                </a:solidFill>
                <a:latin typeface="Libre Baskerville" pitchFamily="34" charset="0"/>
                <a:ea typeface="Libre Baskerville" pitchFamily="34" charset="-122"/>
                <a:cs typeface="Libre Baskerville" pitchFamily="34" charset="-120"/>
              </a:rPr>
              <a:t>The compliance problem</a:t>
            </a:r>
            <a:endParaRPr lang="en-US" sz="1600" dirty="0"/>
          </a:p>
        </p:txBody>
      </p:sp>
      <p:sp>
        <p:nvSpPr>
          <p:cNvPr id="6" name="Text 4"/>
          <p:cNvSpPr/>
          <p:nvPr/>
        </p:nvSpPr>
        <p:spPr>
          <a:xfrm>
            <a:off x="661574" y="2581176"/>
            <a:ext cx="10868547"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For a wealth-management assistant, </a:t>
            </a:r>
            <a:r>
              <a:rPr lang="en-US" sz="1300" i="1" dirty="0">
                <a:solidFill>
                  <a:srgbClr val="454240"/>
                </a:solidFill>
                <a:latin typeface="DM Sans" pitchFamily="34" charset="0"/>
                <a:ea typeface="DM Sans" pitchFamily="34" charset="-122"/>
                <a:cs typeface="DM Sans" pitchFamily="34" charset="-120"/>
              </a:rPr>
              <a:t>"the model seems to give good answers"</a:t>
            </a:r>
            <a:r>
              <a:rPr lang="en-US" sz="1300" dirty="0">
                <a:solidFill>
                  <a:srgbClr val="454240"/>
                </a:solidFill>
                <a:latin typeface="DM Sans" pitchFamily="34" charset="0"/>
                <a:ea typeface="DM Sans" pitchFamily="34" charset="-122"/>
                <a:cs typeface="DM Sans" pitchFamily="34" charset="-120"/>
              </a:rPr>
              <a:t> is not a defensible position. Regulators, internal audit, and your own risk team will want evidence that:</a:t>
            </a:r>
            <a:endParaRPr lang="en-US" sz="1300" dirty="0"/>
          </a:p>
        </p:txBody>
      </p:sp>
      <p:sp>
        <p:nvSpPr>
          <p:cNvPr id="7" name="Shape 5"/>
          <p:cNvSpPr/>
          <p:nvPr/>
        </p:nvSpPr>
        <p:spPr>
          <a:xfrm>
            <a:off x="661574" y="3296444"/>
            <a:ext cx="372061" cy="372070"/>
          </a:xfrm>
          <a:prstGeom prst="roundRect">
            <a:avLst>
              <a:gd name="adj" fmla="val 18670"/>
            </a:avLst>
          </a:prstGeom>
          <a:solidFill>
            <a:srgbClr val="F7EDD4"/>
          </a:solidFill>
          <a:ln w="6350">
            <a:solidFill>
              <a:srgbClr val="DDD3BA"/>
            </a:solidFill>
            <a:prstDash val="solid"/>
          </a:ln>
        </p:spPr>
      </p:sp>
      <p:sp>
        <p:nvSpPr>
          <p:cNvPr id="8" name="Text 6"/>
          <p:cNvSpPr/>
          <p:nvPr/>
        </p:nvSpPr>
        <p:spPr>
          <a:xfrm>
            <a:off x="1198929" y="3353296"/>
            <a:ext cx="2024706" cy="516930"/>
          </a:xfrm>
          <a:prstGeom prst="rect">
            <a:avLst/>
          </a:prstGeom>
          <a:noFill/>
          <a:ln/>
        </p:spPr>
        <p:txBody>
          <a:bodyPr wrap="square" lIns="0" tIns="0" rIns="0" bIns="0" rtlCol="0" anchor="t">
            <a:normAutofit/>
          </a:bodyPr>
          <a:lstStyle/>
          <a:p>
            <a:pPr marL="0" indent="0" algn="l">
              <a:lnSpc>
                <a:spcPct val="104000"/>
              </a:lnSpc>
              <a:buNone/>
            </a:pPr>
            <a:r>
              <a:rPr lang="en-US" sz="1600" dirty="0">
                <a:solidFill>
                  <a:srgbClr val="454240"/>
                </a:solidFill>
                <a:latin typeface="Libre Baskerville" pitchFamily="34" charset="0"/>
                <a:ea typeface="Libre Baskerville" pitchFamily="34" charset="-122"/>
                <a:cs typeface="Libre Baskerville" pitchFamily="34" charset="-120"/>
              </a:rPr>
              <a:t>Measurable quality level</a:t>
            </a:r>
            <a:endParaRPr lang="en-US" sz="1600" dirty="0"/>
          </a:p>
        </p:txBody>
      </p:sp>
      <p:sp>
        <p:nvSpPr>
          <p:cNvPr id="9" name="Text 7"/>
          <p:cNvSpPr/>
          <p:nvPr/>
        </p:nvSpPr>
        <p:spPr>
          <a:xfrm>
            <a:off x="1198929" y="3969445"/>
            <a:ext cx="2024706" cy="1058466"/>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The system performs at a measurable quality level that can be reported and defended.</a:t>
            </a:r>
            <a:endParaRPr lang="en-US" sz="1300" dirty="0"/>
          </a:p>
        </p:txBody>
      </p:sp>
      <p:sp>
        <p:nvSpPr>
          <p:cNvPr id="10" name="Shape 8"/>
          <p:cNvSpPr/>
          <p:nvPr/>
        </p:nvSpPr>
        <p:spPr>
          <a:xfrm>
            <a:off x="3430303" y="3296444"/>
            <a:ext cx="372061" cy="372070"/>
          </a:xfrm>
          <a:prstGeom prst="roundRect">
            <a:avLst>
              <a:gd name="adj" fmla="val 18670"/>
            </a:avLst>
          </a:prstGeom>
          <a:solidFill>
            <a:srgbClr val="F7EDD4"/>
          </a:solidFill>
          <a:ln w="6350">
            <a:solidFill>
              <a:srgbClr val="DDD3BA"/>
            </a:solidFill>
            <a:prstDash val="solid"/>
          </a:ln>
        </p:spPr>
      </p:sp>
      <p:sp>
        <p:nvSpPr>
          <p:cNvPr id="11" name="Text 9"/>
          <p:cNvSpPr/>
          <p:nvPr/>
        </p:nvSpPr>
        <p:spPr>
          <a:xfrm>
            <a:off x="3967659" y="3353296"/>
            <a:ext cx="2024806" cy="258465"/>
          </a:xfrm>
          <a:prstGeom prst="rect">
            <a:avLst/>
          </a:prstGeom>
          <a:noFill/>
          <a:ln/>
        </p:spPr>
        <p:txBody>
          <a:bodyPr wrap="none" lIns="0" tIns="0" rIns="0" bIns="0" rtlCol="0" anchor="t"/>
          <a:lstStyle/>
          <a:p>
            <a:pPr marL="0" indent="0" algn="l">
              <a:lnSpc>
                <a:spcPct val="104000"/>
              </a:lnSpc>
              <a:buNone/>
            </a:pPr>
            <a:r>
              <a:rPr lang="en-US" sz="1600" dirty="0">
                <a:solidFill>
                  <a:srgbClr val="454240"/>
                </a:solidFill>
                <a:latin typeface="Libre Baskerville" pitchFamily="34" charset="0"/>
                <a:ea typeface="Libre Baskerville" pitchFamily="34" charset="-122"/>
                <a:cs typeface="Libre Baskerville" pitchFamily="34" charset="-120"/>
              </a:rPr>
              <a:t>Stable over time</a:t>
            </a:r>
            <a:endParaRPr lang="en-US" sz="1600" dirty="0"/>
          </a:p>
        </p:txBody>
      </p:sp>
      <p:sp>
        <p:nvSpPr>
          <p:cNvPr id="12" name="Text 10"/>
          <p:cNvSpPr/>
          <p:nvPr/>
        </p:nvSpPr>
        <p:spPr>
          <a:xfrm>
            <a:off x="3967659" y="3710980"/>
            <a:ext cx="2024806" cy="793849"/>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That quality is stable over time and doesn't silently degrade.</a:t>
            </a:r>
            <a:endParaRPr lang="en-US" sz="1300" dirty="0"/>
          </a:p>
        </p:txBody>
      </p:sp>
      <p:sp>
        <p:nvSpPr>
          <p:cNvPr id="13" name="Shape 11"/>
          <p:cNvSpPr/>
          <p:nvPr/>
        </p:nvSpPr>
        <p:spPr>
          <a:xfrm>
            <a:off x="6199132" y="3296444"/>
            <a:ext cx="372061" cy="372070"/>
          </a:xfrm>
          <a:prstGeom prst="roundRect">
            <a:avLst>
              <a:gd name="adj" fmla="val 18670"/>
            </a:avLst>
          </a:prstGeom>
          <a:solidFill>
            <a:srgbClr val="F7EDD4"/>
          </a:solidFill>
          <a:ln w="6350">
            <a:solidFill>
              <a:srgbClr val="DDD3BA"/>
            </a:solidFill>
            <a:prstDash val="solid"/>
          </a:ln>
        </p:spPr>
      </p:sp>
      <p:sp>
        <p:nvSpPr>
          <p:cNvPr id="14" name="Text 12"/>
          <p:cNvSpPr/>
          <p:nvPr/>
        </p:nvSpPr>
        <p:spPr>
          <a:xfrm>
            <a:off x="6736487" y="3353296"/>
            <a:ext cx="2024806" cy="516930"/>
          </a:xfrm>
          <a:prstGeom prst="rect">
            <a:avLst/>
          </a:prstGeom>
          <a:noFill/>
          <a:ln/>
        </p:spPr>
        <p:txBody>
          <a:bodyPr wrap="square" lIns="0" tIns="0" rIns="0" bIns="0" rtlCol="0" anchor="t">
            <a:normAutofit/>
          </a:bodyPr>
          <a:lstStyle/>
          <a:p>
            <a:pPr marL="0" indent="0" algn="l">
              <a:lnSpc>
                <a:spcPct val="104000"/>
              </a:lnSpc>
              <a:buNone/>
            </a:pPr>
            <a:r>
              <a:rPr lang="en-US" sz="1600" dirty="0">
                <a:solidFill>
                  <a:srgbClr val="454240"/>
                </a:solidFill>
                <a:latin typeface="Libre Baskerville" pitchFamily="34" charset="0"/>
                <a:ea typeface="Libre Baskerville" pitchFamily="34" charset="-122"/>
                <a:cs typeface="Libre Baskerville" pitchFamily="34" charset="-120"/>
              </a:rPr>
              <a:t>Failures detected promptly</a:t>
            </a:r>
            <a:endParaRPr lang="en-US" sz="1600" dirty="0"/>
          </a:p>
        </p:txBody>
      </p:sp>
      <p:sp>
        <p:nvSpPr>
          <p:cNvPr id="15" name="Text 13"/>
          <p:cNvSpPr/>
          <p:nvPr/>
        </p:nvSpPr>
        <p:spPr>
          <a:xfrm>
            <a:off x="6736487" y="3969445"/>
            <a:ext cx="2024806" cy="1058466"/>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When things go wrong, they are caught quickly — not discovered by a client or regulator.</a:t>
            </a:r>
            <a:endParaRPr lang="en-US" sz="1300" dirty="0"/>
          </a:p>
        </p:txBody>
      </p:sp>
      <p:sp>
        <p:nvSpPr>
          <p:cNvPr id="16" name="Shape 14"/>
          <p:cNvSpPr/>
          <p:nvPr/>
        </p:nvSpPr>
        <p:spPr>
          <a:xfrm>
            <a:off x="8967960" y="3296444"/>
            <a:ext cx="372061" cy="372070"/>
          </a:xfrm>
          <a:prstGeom prst="roundRect">
            <a:avLst>
              <a:gd name="adj" fmla="val 18670"/>
            </a:avLst>
          </a:prstGeom>
          <a:solidFill>
            <a:srgbClr val="F7EDD4"/>
          </a:solidFill>
          <a:ln w="6350">
            <a:solidFill>
              <a:srgbClr val="DDD3BA"/>
            </a:solidFill>
            <a:prstDash val="solid"/>
          </a:ln>
        </p:spPr>
      </p:sp>
      <p:sp>
        <p:nvSpPr>
          <p:cNvPr id="17" name="Text 15"/>
          <p:cNvSpPr/>
          <p:nvPr/>
        </p:nvSpPr>
        <p:spPr>
          <a:xfrm>
            <a:off x="9505315" y="3353296"/>
            <a:ext cx="2024806" cy="516930"/>
          </a:xfrm>
          <a:prstGeom prst="rect">
            <a:avLst/>
          </a:prstGeom>
          <a:noFill/>
          <a:ln/>
        </p:spPr>
        <p:txBody>
          <a:bodyPr wrap="square" lIns="0" tIns="0" rIns="0" bIns="0" rtlCol="0" anchor="t">
            <a:normAutofit/>
          </a:bodyPr>
          <a:lstStyle/>
          <a:p>
            <a:pPr marL="0" indent="0" algn="l">
              <a:lnSpc>
                <a:spcPct val="104000"/>
              </a:lnSpc>
              <a:buNone/>
            </a:pPr>
            <a:r>
              <a:rPr lang="en-US" sz="1600" dirty="0">
                <a:solidFill>
                  <a:srgbClr val="454240"/>
                </a:solidFill>
                <a:latin typeface="Libre Baskerville" pitchFamily="34" charset="0"/>
                <a:ea typeface="Libre Baskerville" pitchFamily="34" charset="-122"/>
                <a:cs typeface="Libre Baskerville" pitchFamily="34" charset="-120"/>
              </a:rPr>
              <a:t>No harmful outputs</a:t>
            </a:r>
            <a:endParaRPr lang="en-US" sz="1600" dirty="0"/>
          </a:p>
        </p:txBody>
      </p:sp>
      <p:sp>
        <p:nvSpPr>
          <p:cNvPr id="18" name="Text 16"/>
          <p:cNvSpPr/>
          <p:nvPr/>
        </p:nvSpPr>
        <p:spPr>
          <a:xfrm>
            <a:off x="9505315" y="3969445"/>
            <a:ext cx="2024806" cy="1058466"/>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The system doesn't give tax advice, leak client data, or hallucinate numbers.</a:t>
            </a:r>
            <a:endParaRPr lang="en-US" sz="1300" dirty="0"/>
          </a:p>
        </p:txBody>
      </p:sp>
      <p:sp>
        <p:nvSpPr>
          <p:cNvPr id="19" name="Text 17"/>
          <p:cNvSpPr/>
          <p:nvPr/>
        </p:nvSpPr>
        <p:spPr>
          <a:xfrm>
            <a:off x="661574" y="5213945"/>
            <a:ext cx="10868547"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This evidence comes from a discipline called </a:t>
            </a:r>
            <a:r>
              <a:rPr lang="en-US" sz="1300" b="1" dirty="0">
                <a:solidFill>
                  <a:srgbClr val="454240"/>
                </a:solidFill>
                <a:latin typeface="DM Sans" pitchFamily="34" charset="0"/>
                <a:ea typeface="DM Sans" pitchFamily="34" charset="-122"/>
                <a:cs typeface="DM Sans" pitchFamily="34" charset="-120"/>
              </a:rPr>
              <a:t>evaluation</a:t>
            </a:r>
            <a:r>
              <a:rPr lang="en-US" sz="1300" dirty="0">
                <a:solidFill>
                  <a:srgbClr val="454240"/>
                </a:solidFill>
                <a:latin typeface="DM Sans" pitchFamily="34" charset="0"/>
                <a:ea typeface="DM Sans" pitchFamily="34" charset="-122"/>
                <a:cs typeface="DM Sans" pitchFamily="34" charset="-120"/>
              </a:rPr>
              <a:t> (or just </a:t>
            </a:r>
            <a:r>
              <a:rPr lang="en-US" sz="1300" b="1" dirty="0">
                <a:solidFill>
                  <a:srgbClr val="454240"/>
                </a:solidFill>
                <a:latin typeface="DM Sans" pitchFamily="34" charset="0"/>
                <a:ea typeface="DM Sans" pitchFamily="34" charset="-122"/>
                <a:cs typeface="DM Sans" pitchFamily="34" charset="-120"/>
              </a:rPr>
              <a:t>evals</a:t>
            </a:r>
            <a:r>
              <a:rPr lang="en-US" sz="1300" dirty="0">
                <a:solidFill>
                  <a:srgbClr val="454240"/>
                </a:solidFill>
                <a:latin typeface="DM Sans" pitchFamily="34" charset="0"/>
                <a:ea typeface="DM Sans" pitchFamily="34" charset="-122"/>
                <a:cs typeface="DM Sans" pitchFamily="34" charset="-120"/>
              </a:rPr>
              <a:t>). Every serious LLM deployment needs it. Most don't have nearly enough.</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661574" y="660598"/>
            <a:ext cx="7032747" cy="516731"/>
          </a:xfrm>
          <a:prstGeom prst="rect">
            <a:avLst/>
          </a:prstGeom>
          <a:noFill/>
          <a:ln/>
        </p:spPr>
        <p:txBody>
          <a:bodyPr wrap="none" lIns="0" tIns="0" rIns="0" bIns="0" rtlCol="0" anchor="t"/>
          <a:lstStyle/>
          <a:p>
            <a:pPr marL="0" indent="0" algn="l">
              <a:lnSpc>
                <a:spcPct val="104000"/>
              </a:lnSpc>
              <a:buNone/>
            </a:pPr>
            <a:r>
              <a:rPr lang="en-US" sz="3250" dirty="0">
                <a:solidFill>
                  <a:srgbClr val="5C4E3D"/>
                </a:solidFill>
                <a:latin typeface="Libre Baskerville" pitchFamily="34" charset="0"/>
                <a:ea typeface="Libre Baskerville" pitchFamily="34" charset="-122"/>
                <a:cs typeface="Libre Baskerville" pitchFamily="34" charset="-120"/>
              </a:rPr>
              <a:t>The Four Layers of Evaluation</a:t>
            </a:r>
            <a:endParaRPr lang="en-US" sz="3250" dirty="0"/>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574" y="1508026"/>
            <a:ext cx="5351626" cy="2261989"/>
          </a:xfrm>
          <a:prstGeom prst="rect">
            <a:avLst/>
          </a:prstGeom>
        </p:spPr>
      </p:pic>
      <p:sp>
        <p:nvSpPr>
          <p:cNvPr id="4" name="Text 1"/>
          <p:cNvSpPr/>
          <p:nvPr/>
        </p:nvSpPr>
        <p:spPr>
          <a:xfrm>
            <a:off x="3238121" y="1632049"/>
            <a:ext cx="198433" cy="248047"/>
          </a:xfrm>
          <a:prstGeom prst="rect">
            <a:avLst/>
          </a:prstGeom>
          <a:noFill/>
          <a:ln/>
        </p:spPr>
        <p:txBody>
          <a:bodyPr wrap="none" lIns="0" tIns="0" rIns="0" bIns="0" rtlCol="0" anchor="ctr"/>
          <a:lstStyle/>
          <a:p>
            <a:pPr marL="0" indent="0" algn="ctr">
              <a:lnSpc>
                <a:spcPct val="100000"/>
              </a:lnSpc>
              <a:buNone/>
            </a:pPr>
            <a:r>
              <a:rPr lang="en-US" sz="1550" dirty="0">
                <a:solidFill>
                  <a:srgbClr val="000000"/>
                </a:solidFill>
                <a:latin typeface="Libre Baskerville" pitchFamily="34" charset="0"/>
                <a:ea typeface="Libre Baskerville" pitchFamily="34" charset="-122"/>
                <a:cs typeface="Libre Baskerville" pitchFamily="34" charset="-120"/>
              </a:rPr>
              <a:t>1</a:t>
            </a:r>
            <a:endParaRPr lang="en-US" sz="1550" dirty="0"/>
          </a:p>
        </p:txBody>
      </p:sp>
      <p:sp>
        <p:nvSpPr>
          <p:cNvPr id="5" name="Text 2"/>
          <p:cNvSpPr/>
          <p:nvPr/>
        </p:nvSpPr>
        <p:spPr>
          <a:xfrm>
            <a:off x="845918" y="2169517"/>
            <a:ext cx="2568511" cy="258465"/>
          </a:xfrm>
          <a:prstGeom prst="rect">
            <a:avLst/>
          </a:prstGeom>
          <a:noFill/>
          <a:ln/>
        </p:spPr>
        <p:txBody>
          <a:bodyPr wrap="none" lIns="0" tIns="0" rIns="0" bIns="0" rtlCol="0" anchor="t"/>
          <a:lstStyle/>
          <a:p>
            <a:pPr marL="0" indent="0" algn="l">
              <a:lnSpc>
                <a:spcPct val="104000"/>
              </a:lnSpc>
              <a:buNone/>
            </a:pPr>
            <a:r>
              <a:rPr lang="en-US" sz="1600" dirty="0">
                <a:solidFill>
                  <a:srgbClr val="454240"/>
                </a:solidFill>
                <a:latin typeface="Libre Baskerville" pitchFamily="34" charset="0"/>
                <a:ea typeface="Libre Baskerville" pitchFamily="34" charset="-122"/>
                <a:cs typeface="Libre Baskerville" pitchFamily="34" charset="-120"/>
              </a:rPr>
              <a:t>Automated Benchmarks</a:t>
            </a:r>
            <a:endParaRPr lang="en-US" sz="1600" dirty="0"/>
          </a:p>
        </p:txBody>
      </p:sp>
      <p:sp>
        <p:nvSpPr>
          <p:cNvPr id="6" name="Text 3"/>
          <p:cNvSpPr/>
          <p:nvPr/>
        </p:nvSpPr>
        <p:spPr>
          <a:xfrm>
            <a:off x="845918" y="2527201"/>
            <a:ext cx="4982939" cy="793849"/>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Standard tests like MMLU (general knowledge), HumanEval (code), GSM8K (math). Useful for picking a base model. Not very useful for your specific use case.</a:t>
            </a:r>
            <a:endParaRPr lang="en-US" sz="1300" dirty="0"/>
          </a:p>
        </p:txBody>
      </p:sp>
      <p:pic>
        <p:nvPicPr>
          <p:cNvPr id="7"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178495" y="1508026"/>
            <a:ext cx="5351626" cy="2261989"/>
          </a:xfrm>
          <a:prstGeom prst="rect">
            <a:avLst/>
          </a:prstGeom>
        </p:spPr>
      </p:pic>
      <p:sp>
        <p:nvSpPr>
          <p:cNvPr id="8" name="Text 4"/>
          <p:cNvSpPr/>
          <p:nvPr/>
        </p:nvSpPr>
        <p:spPr>
          <a:xfrm>
            <a:off x="8755042" y="1632049"/>
            <a:ext cx="198433" cy="248047"/>
          </a:xfrm>
          <a:prstGeom prst="rect">
            <a:avLst/>
          </a:prstGeom>
          <a:noFill/>
          <a:ln/>
        </p:spPr>
        <p:txBody>
          <a:bodyPr wrap="none" lIns="0" tIns="0" rIns="0" bIns="0" rtlCol="0" anchor="ctr"/>
          <a:lstStyle/>
          <a:p>
            <a:pPr marL="0" indent="0" algn="ctr">
              <a:lnSpc>
                <a:spcPct val="100000"/>
              </a:lnSpc>
              <a:buNone/>
            </a:pPr>
            <a:r>
              <a:rPr lang="en-US" sz="1550" dirty="0">
                <a:solidFill>
                  <a:srgbClr val="000000"/>
                </a:solidFill>
                <a:latin typeface="Libre Baskerville" pitchFamily="34" charset="0"/>
                <a:ea typeface="Libre Baskerville" pitchFamily="34" charset="-122"/>
                <a:cs typeface="Libre Baskerville" pitchFamily="34" charset="-120"/>
              </a:rPr>
              <a:t>2</a:t>
            </a:r>
            <a:endParaRPr lang="en-US" sz="1550" dirty="0"/>
          </a:p>
        </p:txBody>
      </p:sp>
      <p:sp>
        <p:nvSpPr>
          <p:cNvPr id="9" name="Text 5"/>
          <p:cNvSpPr/>
          <p:nvPr/>
        </p:nvSpPr>
        <p:spPr>
          <a:xfrm>
            <a:off x="6362838" y="2169517"/>
            <a:ext cx="2378809" cy="258465"/>
          </a:xfrm>
          <a:prstGeom prst="rect">
            <a:avLst/>
          </a:prstGeom>
          <a:noFill/>
          <a:ln/>
        </p:spPr>
        <p:txBody>
          <a:bodyPr wrap="none" lIns="0" tIns="0" rIns="0" bIns="0" rtlCol="0" anchor="t"/>
          <a:lstStyle/>
          <a:p>
            <a:pPr marL="0" indent="0" algn="l">
              <a:lnSpc>
                <a:spcPct val="104000"/>
              </a:lnSpc>
              <a:buNone/>
            </a:pPr>
            <a:r>
              <a:rPr lang="en-US" sz="1600" dirty="0">
                <a:solidFill>
                  <a:srgbClr val="454240"/>
                </a:solidFill>
                <a:latin typeface="Libre Baskerville" pitchFamily="34" charset="0"/>
                <a:ea typeface="Libre Baskerville" pitchFamily="34" charset="-122"/>
                <a:cs typeface="Libre Baskerville" pitchFamily="34" charset="-120"/>
              </a:rPr>
              <a:t>Task-Specific Test Sets</a:t>
            </a:r>
            <a:endParaRPr lang="en-US" sz="1600" dirty="0"/>
          </a:p>
        </p:txBody>
      </p:sp>
      <p:sp>
        <p:nvSpPr>
          <p:cNvPr id="10" name="Text 6"/>
          <p:cNvSpPr/>
          <p:nvPr/>
        </p:nvSpPr>
        <p:spPr>
          <a:xfrm>
            <a:off x="6362838" y="2527201"/>
            <a:ext cx="4982939" cy="1058466"/>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A handpicked set of representative questions for your actual use case, each with an expected answer or quality rubric. For our wealth assistant, this might be 200–500 real (anonymised) advisor questions with expert-validated correct answers.</a:t>
            </a:r>
            <a:endParaRPr lang="en-US" sz="1300" dirty="0"/>
          </a:p>
        </p:txBody>
      </p:sp>
      <p:pic>
        <p:nvPicPr>
          <p:cNvPr id="11"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574" y="3935313"/>
            <a:ext cx="5351626" cy="2261989"/>
          </a:xfrm>
          <a:prstGeom prst="rect">
            <a:avLst/>
          </a:prstGeom>
        </p:spPr>
      </p:pic>
      <p:sp>
        <p:nvSpPr>
          <p:cNvPr id="12" name="Text 7"/>
          <p:cNvSpPr/>
          <p:nvPr/>
        </p:nvSpPr>
        <p:spPr>
          <a:xfrm>
            <a:off x="3238121" y="4059337"/>
            <a:ext cx="198433" cy="248047"/>
          </a:xfrm>
          <a:prstGeom prst="rect">
            <a:avLst/>
          </a:prstGeom>
          <a:noFill/>
          <a:ln/>
        </p:spPr>
        <p:txBody>
          <a:bodyPr wrap="none" lIns="0" tIns="0" rIns="0" bIns="0" rtlCol="0" anchor="ctr"/>
          <a:lstStyle/>
          <a:p>
            <a:pPr marL="0" indent="0" algn="ctr">
              <a:lnSpc>
                <a:spcPct val="100000"/>
              </a:lnSpc>
              <a:buNone/>
            </a:pPr>
            <a:r>
              <a:rPr lang="en-US" sz="1550" dirty="0">
                <a:solidFill>
                  <a:srgbClr val="000000"/>
                </a:solidFill>
                <a:latin typeface="Libre Baskerville" pitchFamily="34" charset="0"/>
                <a:ea typeface="Libre Baskerville" pitchFamily="34" charset="-122"/>
                <a:cs typeface="Libre Baskerville" pitchFamily="34" charset="-120"/>
              </a:rPr>
              <a:t>3</a:t>
            </a:r>
            <a:endParaRPr lang="en-US" sz="1550" dirty="0"/>
          </a:p>
        </p:txBody>
      </p:sp>
      <p:sp>
        <p:nvSpPr>
          <p:cNvPr id="13" name="Text 8"/>
          <p:cNvSpPr/>
          <p:nvPr/>
        </p:nvSpPr>
        <p:spPr>
          <a:xfrm>
            <a:off x="845918" y="4596805"/>
            <a:ext cx="2067369" cy="258465"/>
          </a:xfrm>
          <a:prstGeom prst="rect">
            <a:avLst/>
          </a:prstGeom>
          <a:noFill/>
          <a:ln/>
        </p:spPr>
        <p:txBody>
          <a:bodyPr wrap="none" lIns="0" tIns="0" rIns="0" bIns="0" rtlCol="0" anchor="t"/>
          <a:lstStyle/>
          <a:p>
            <a:pPr marL="0" indent="0" algn="l">
              <a:lnSpc>
                <a:spcPct val="104000"/>
              </a:lnSpc>
              <a:buNone/>
            </a:pPr>
            <a:r>
              <a:rPr lang="en-US" sz="1600" dirty="0">
                <a:solidFill>
                  <a:srgbClr val="454240"/>
                </a:solidFill>
                <a:latin typeface="Libre Baskerville" pitchFamily="34" charset="0"/>
                <a:ea typeface="Libre Baskerville" pitchFamily="34" charset="-122"/>
                <a:cs typeface="Libre Baskerville" pitchFamily="34" charset="-120"/>
              </a:rPr>
              <a:t>LLM-as-Judge</a:t>
            </a:r>
            <a:endParaRPr lang="en-US" sz="1600" dirty="0"/>
          </a:p>
        </p:txBody>
      </p:sp>
      <p:sp>
        <p:nvSpPr>
          <p:cNvPr id="14" name="Text 9"/>
          <p:cNvSpPr/>
          <p:nvPr/>
        </p:nvSpPr>
        <p:spPr>
          <a:xfrm>
            <a:off x="845918" y="4954488"/>
            <a:ext cx="4982939" cy="793849"/>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Use a second LLM to evaluate the answers of the first. Cheaper than human review, can be run continuously. Imperfect — judges have their own biases — but valuable as an early warning system.</a:t>
            </a:r>
            <a:endParaRPr lang="en-US" sz="1300" dirty="0"/>
          </a:p>
        </p:txBody>
      </p:sp>
      <p:pic>
        <p:nvPicPr>
          <p:cNvPr id="15" name="Image 3"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178495" y="3935313"/>
            <a:ext cx="5351626" cy="2261989"/>
          </a:xfrm>
          <a:prstGeom prst="rect">
            <a:avLst/>
          </a:prstGeom>
        </p:spPr>
      </p:pic>
      <p:sp>
        <p:nvSpPr>
          <p:cNvPr id="16" name="Text 10"/>
          <p:cNvSpPr/>
          <p:nvPr/>
        </p:nvSpPr>
        <p:spPr>
          <a:xfrm>
            <a:off x="8755042" y="4059337"/>
            <a:ext cx="198433" cy="248047"/>
          </a:xfrm>
          <a:prstGeom prst="rect">
            <a:avLst/>
          </a:prstGeom>
          <a:noFill/>
          <a:ln/>
        </p:spPr>
        <p:txBody>
          <a:bodyPr wrap="none" lIns="0" tIns="0" rIns="0" bIns="0" rtlCol="0" anchor="ctr"/>
          <a:lstStyle/>
          <a:p>
            <a:pPr marL="0" indent="0" algn="ctr">
              <a:lnSpc>
                <a:spcPct val="100000"/>
              </a:lnSpc>
              <a:buNone/>
            </a:pPr>
            <a:r>
              <a:rPr lang="en-US" sz="1550" dirty="0">
                <a:solidFill>
                  <a:srgbClr val="000000"/>
                </a:solidFill>
                <a:latin typeface="Libre Baskerville" pitchFamily="34" charset="0"/>
                <a:ea typeface="Libre Baskerville" pitchFamily="34" charset="-122"/>
                <a:cs typeface="Libre Baskerville" pitchFamily="34" charset="-120"/>
              </a:rPr>
              <a:t>4</a:t>
            </a:r>
            <a:endParaRPr lang="en-US" sz="1550" dirty="0"/>
          </a:p>
        </p:txBody>
      </p:sp>
      <p:sp>
        <p:nvSpPr>
          <p:cNvPr id="17" name="Text 11"/>
          <p:cNvSpPr/>
          <p:nvPr/>
        </p:nvSpPr>
        <p:spPr>
          <a:xfrm>
            <a:off x="6362838" y="4596805"/>
            <a:ext cx="2067369" cy="258465"/>
          </a:xfrm>
          <a:prstGeom prst="rect">
            <a:avLst/>
          </a:prstGeom>
          <a:noFill/>
          <a:ln/>
        </p:spPr>
        <p:txBody>
          <a:bodyPr wrap="none" lIns="0" tIns="0" rIns="0" bIns="0" rtlCol="0" anchor="t"/>
          <a:lstStyle/>
          <a:p>
            <a:pPr marL="0" indent="0" algn="l">
              <a:lnSpc>
                <a:spcPct val="104000"/>
              </a:lnSpc>
              <a:buNone/>
            </a:pPr>
            <a:r>
              <a:rPr lang="en-US" sz="1600" dirty="0">
                <a:solidFill>
                  <a:srgbClr val="454240"/>
                </a:solidFill>
                <a:latin typeface="Libre Baskerville" pitchFamily="34" charset="0"/>
                <a:ea typeface="Libre Baskerville" pitchFamily="34" charset="-122"/>
                <a:cs typeface="Libre Baskerville" pitchFamily="34" charset="-120"/>
              </a:rPr>
              <a:t>Human Review</a:t>
            </a:r>
            <a:endParaRPr lang="en-US" sz="1600" dirty="0"/>
          </a:p>
        </p:txBody>
      </p:sp>
      <p:sp>
        <p:nvSpPr>
          <p:cNvPr id="18" name="Text 12"/>
          <p:cNvSpPr/>
          <p:nvPr/>
        </p:nvSpPr>
        <p:spPr>
          <a:xfrm>
            <a:off x="6362838" y="4954488"/>
            <a:ext cx="4982939" cy="1058466"/>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For sensitive or high-stakes use cases, qualified humans (compliance officers, senior advisors) review a sample of real responses. Slow, expensive, but the only way to catch subtle failures that automated tools miss.</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661574" y="654745"/>
            <a:ext cx="7737281" cy="516731"/>
          </a:xfrm>
          <a:prstGeom prst="rect">
            <a:avLst/>
          </a:prstGeom>
          <a:noFill/>
          <a:ln/>
        </p:spPr>
        <p:txBody>
          <a:bodyPr wrap="none" lIns="0" tIns="0" rIns="0" bIns="0" rtlCol="0" anchor="t"/>
          <a:lstStyle/>
          <a:p>
            <a:pPr marL="0" indent="0" algn="l">
              <a:lnSpc>
                <a:spcPct val="104000"/>
              </a:lnSpc>
              <a:buNone/>
            </a:pPr>
            <a:r>
              <a:rPr lang="en-US" sz="3250" dirty="0">
                <a:solidFill>
                  <a:srgbClr val="5C4E3D"/>
                </a:solidFill>
                <a:latin typeface="Libre Baskerville" pitchFamily="34" charset="0"/>
                <a:ea typeface="Libre Baskerville" pitchFamily="34" charset="-122"/>
                <a:cs typeface="Libre Baskerville" pitchFamily="34" charset="-120"/>
              </a:rPr>
              <a:t>What Evaluation Actually Catches</a:t>
            </a:r>
            <a:endParaRPr lang="en-US" sz="3250" dirty="0"/>
          </a:p>
        </p:txBody>
      </p:sp>
      <p:sp>
        <p:nvSpPr>
          <p:cNvPr id="3" name="Shape 1"/>
          <p:cNvSpPr/>
          <p:nvPr/>
        </p:nvSpPr>
        <p:spPr>
          <a:xfrm>
            <a:off x="661574" y="1502172"/>
            <a:ext cx="5351626" cy="1494830"/>
          </a:xfrm>
          <a:prstGeom prst="roundRect">
            <a:avLst>
              <a:gd name="adj" fmla="val 4647"/>
            </a:avLst>
          </a:prstGeom>
          <a:solidFill>
            <a:srgbClr val="F7EDD4"/>
          </a:solidFill>
          <a:ln w="6350">
            <a:solidFill>
              <a:srgbClr val="DDD3BA"/>
            </a:solidFill>
            <a:prstDash val="solid"/>
          </a:ln>
        </p:spPr>
      </p:sp>
      <p:sp>
        <p:nvSpPr>
          <p:cNvPr id="4" name="Text 2"/>
          <p:cNvSpPr/>
          <p:nvPr/>
        </p:nvSpPr>
        <p:spPr>
          <a:xfrm>
            <a:off x="833218" y="1673820"/>
            <a:ext cx="2067369" cy="258465"/>
          </a:xfrm>
          <a:prstGeom prst="rect">
            <a:avLst/>
          </a:prstGeom>
          <a:noFill/>
          <a:ln/>
        </p:spPr>
        <p:txBody>
          <a:bodyPr wrap="none" lIns="0" tIns="0" rIns="0" bIns="0" rtlCol="0" anchor="t"/>
          <a:lstStyle/>
          <a:p>
            <a:pPr marL="0" indent="0" algn="l">
              <a:lnSpc>
                <a:spcPct val="104000"/>
              </a:lnSpc>
              <a:buNone/>
            </a:pPr>
            <a:r>
              <a:rPr lang="en-US" sz="1600" dirty="0">
                <a:solidFill>
                  <a:srgbClr val="454240"/>
                </a:solidFill>
                <a:latin typeface="Libre Baskerville" pitchFamily="34" charset="0"/>
                <a:ea typeface="Libre Baskerville" pitchFamily="34" charset="-122"/>
                <a:cs typeface="Libre Baskerville" pitchFamily="34" charset="-120"/>
              </a:rPr>
              <a:t>Regressions</a:t>
            </a:r>
            <a:endParaRPr lang="en-US" sz="1600" dirty="0"/>
          </a:p>
        </p:txBody>
      </p:sp>
      <p:sp>
        <p:nvSpPr>
          <p:cNvPr id="5" name="Text 3"/>
          <p:cNvSpPr/>
          <p:nvPr/>
        </p:nvSpPr>
        <p:spPr>
          <a:xfrm>
            <a:off x="833218" y="2031504"/>
            <a:ext cx="5008338" cy="793849"/>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You changed the system prompt to fix one issue, and accidentally broke five others. Without an eval set, you'd never know.</a:t>
            </a:r>
            <a:endParaRPr lang="en-US" sz="1300" dirty="0"/>
          </a:p>
        </p:txBody>
      </p:sp>
      <p:sp>
        <p:nvSpPr>
          <p:cNvPr id="6" name="Shape 4"/>
          <p:cNvSpPr/>
          <p:nvPr/>
        </p:nvSpPr>
        <p:spPr>
          <a:xfrm>
            <a:off x="6178495" y="1502172"/>
            <a:ext cx="5351626" cy="1494830"/>
          </a:xfrm>
          <a:prstGeom prst="roundRect">
            <a:avLst>
              <a:gd name="adj" fmla="val 4647"/>
            </a:avLst>
          </a:prstGeom>
          <a:solidFill>
            <a:srgbClr val="F7EDD4"/>
          </a:solidFill>
          <a:ln w="6350">
            <a:solidFill>
              <a:srgbClr val="DDD3BA"/>
            </a:solidFill>
            <a:prstDash val="solid"/>
          </a:ln>
        </p:spPr>
      </p:sp>
      <p:sp>
        <p:nvSpPr>
          <p:cNvPr id="7" name="Text 5"/>
          <p:cNvSpPr/>
          <p:nvPr/>
        </p:nvSpPr>
        <p:spPr>
          <a:xfrm>
            <a:off x="6350139" y="1673820"/>
            <a:ext cx="2067369" cy="258465"/>
          </a:xfrm>
          <a:prstGeom prst="rect">
            <a:avLst/>
          </a:prstGeom>
          <a:noFill/>
          <a:ln/>
        </p:spPr>
        <p:txBody>
          <a:bodyPr wrap="none" lIns="0" tIns="0" rIns="0" bIns="0" rtlCol="0" anchor="t"/>
          <a:lstStyle/>
          <a:p>
            <a:pPr marL="0" indent="0" algn="l">
              <a:lnSpc>
                <a:spcPct val="104000"/>
              </a:lnSpc>
              <a:buNone/>
            </a:pPr>
            <a:r>
              <a:rPr lang="en-US" sz="1600" dirty="0">
                <a:solidFill>
                  <a:srgbClr val="454240"/>
                </a:solidFill>
                <a:latin typeface="Libre Baskerville" pitchFamily="34" charset="0"/>
                <a:ea typeface="Libre Baskerville" pitchFamily="34" charset="-122"/>
                <a:cs typeface="Libre Baskerville" pitchFamily="34" charset="-120"/>
              </a:rPr>
              <a:t>Drift</a:t>
            </a:r>
            <a:endParaRPr lang="en-US" sz="1600" dirty="0"/>
          </a:p>
        </p:txBody>
      </p:sp>
      <p:sp>
        <p:nvSpPr>
          <p:cNvPr id="8" name="Text 6"/>
          <p:cNvSpPr/>
          <p:nvPr/>
        </p:nvSpPr>
        <p:spPr>
          <a:xfrm>
            <a:off x="6350139" y="2031504"/>
            <a:ext cx="5008338"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The model behind your API changed (vendors update models silently). Quality shifted overnight. Evals catch this.</a:t>
            </a:r>
            <a:endParaRPr lang="en-US" sz="1300" dirty="0"/>
          </a:p>
        </p:txBody>
      </p:sp>
      <p:sp>
        <p:nvSpPr>
          <p:cNvPr id="9" name="Shape 7"/>
          <p:cNvSpPr/>
          <p:nvPr/>
        </p:nvSpPr>
        <p:spPr>
          <a:xfrm>
            <a:off x="661574" y="3162300"/>
            <a:ext cx="5351626" cy="1494830"/>
          </a:xfrm>
          <a:prstGeom prst="roundRect">
            <a:avLst>
              <a:gd name="adj" fmla="val 4647"/>
            </a:avLst>
          </a:prstGeom>
          <a:solidFill>
            <a:srgbClr val="F7EDD4"/>
          </a:solidFill>
          <a:ln w="6350">
            <a:solidFill>
              <a:srgbClr val="DDD3BA"/>
            </a:solidFill>
            <a:prstDash val="solid"/>
          </a:ln>
        </p:spPr>
      </p:sp>
      <p:sp>
        <p:nvSpPr>
          <p:cNvPr id="10" name="Text 8"/>
          <p:cNvSpPr/>
          <p:nvPr/>
        </p:nvSpPr>
        <p:spPr>
          <a:xfrm>
            <a:off x="833218" y="3333948"/>
            <a:ext cx="2067369" cy="258465"/>
          </a:xfrm>
          <a:prstGeom prst="rect">
            <a:avLst/>
          </a:prstGeom>
          <a:noFill/>
          <a:ln/>
        </p:spPr>
        <p:txBody>
          <a:bodyPr wrap="none" lIns="0" tIns="0" rIns="0" bIns="0" rtlCol="0" anchor="t"/>
          <a:lstStyle/>
          <a:p>
            <a:pPr marL="0" indent="0" algn="l">
              <a:lnSpc>
                <a:spcPct val="104000"/>
              </a:lnSpc>
              <a:buNone/>
            </a:pPr>
            <a:r>
              <a:rPr lang="en-US" sz="1600" dirty="0">
                <a:solidFill>
                  <a:srgbClr val="454240"/>
                </a:solidFill>
                <a:latin typeface="Libre Baskerville" pitchFamily="34" charset="0"/>
                <a:ea typeface="Libre Baskerville" pitchFamily="34" charset="-122"/>
                <a:cs typeface="Libre Baskerville" pitchFamily="34" charset="-120"/>
              </a:rPr>
              <a:t>Edge Cases</a:t>
            </a:r>
            <a:endParaRPr lang="en-US" sz="1600" dirty="0"/>
          </a:p>
        </p:txBody>
      </p:sp>
      <p:sp>
        <p:nvSpPr>
          <p:cNvPr id="11" name="Text 9"/>
          <p:cNvSpPr/>
          <p:nvPr/>
        </p:nvSpPr>
        <p:spPr>
          <a:xfrm>
            <a:off x="833218" y="3691632"/>
            <a:ext cx="5008338" cy="793849"/>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The system is great 95% of the time but catastrophically wrong on a specific class of question — say, anything involving currency conversion. Evals expose this.</a:t>
            </a:r>
            <a:endParaRPr lang="en-US" sz="1300" dirty="0"/>
          </a:p>
        </p:txBody>
      </p:sp>
      <p:sp>
        <p:nvSpPr>
          <p:cNvPr id="12" name="Shape 10"/>
          <p:cNvSpPr/>
          <p:nvPr/>
        </p:nvSpPr>
        <p:spPr>
          <a:xfrm>
            <a:off x="6178495" y="3162300"/>
            <a:ext cx="5351626" cy="1494830"/>
          </a:xfrm>
          <a:prstGeom prst="roundRect">
            <a:avLst>
              <a:gd name="adj" fmla="val 4647"/>
            </a:avLst>
          </a:prstGeom>
          <a:solidFill>
            <a:srgbClr val="F7EDD4"/>
          </a:solidFill>
          <a:ln w="6350">
            <a:solidFill>
              <a:srgbClr val="DDD3BA"/>
            </a:solidFill>
            <a:prstDash val="solid"/>
          </a:ln>
        </p:spPr>
      </p:sp>
      <p:sp>
        <p:nvSpPr>
          <p:cNvPr id="13" name="Text 11"/>
          <p:cNvSpPr/>
          <p:nvPr/>
        </p:nvSpPr>
        <p:spPr>
          <a:xfrm>
            <a:off x="6350139" y="3333948"/>
            <a:ext cx="2405002" cy="258465"/>
          </a:xfrm>
          <a:prstGeom prst="rect">
            <a:avLst/>
          </a:prstGeom>
          <a:noFill/>
          <a:ln/>
        </p:spPr>
        <p:txBody>
          <a:bodyPr wrap="none" lIns="0" tIns="0" rIns="0" bIns="0" rtlCol="0" anchor="t"/>
          <a:lstStyle/>
          <a:p>
            <a:pPr marL="0" indent="0" algn="l">
              <a:lnSpc>
                <a:spcPct val="104000"/>
              </a:lnSpc>
              <a:buNone/>
            </a:pPr>
            <a:r>
              <a:rPr lang="en-US" sz="1600" dirty="0">
                <a:solidFill>
                  <a:srgbClr val="454240"/>
                </a:solidFill>
                <a:latin typeface="Libre Baskerville" pitchFamily="34" charset="0"/>
                <a:ea typeface="Libre Baskerville" pitchFamily="34" charset="-122"/>
                <a:cs typeface="Libre Baskerville" pitchFamily="34" charset="-120"/>
              </a:rPr>
              <a:t>Compliance Violations</a:t>
            </a:r>
            <a:endParaRPr lang="en-US" sz="1600" dirty="0"/>
          </a:p>
        </p:txBody>
      </p:sp>
      <p:sp>
        <p:nvSpPr>
          <p:cNvPr id="14" name="Text 12"/>
          <p:cNvSpPr/>
          <p:nvPr/>
        </p:nvSpPr>
        <p:spPr>
          <a:xfrm>
            <a:off x="6350139" y="3691632"/>
            <a:ext cx="5008338"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454240"/>
                </a:solidFill>
                <a:latin typeface="DM Sans" pitchFamily="34" charset="0"/>
                <a:ea typeface="DM Sans" pitchFamily="34" charset="-122"/>
                <a:cs typeface="DM Sans" pitchFamily="34" charset="-120"/>
              </a:rPr>
              <a:t>The model gave tax advice 3% of the time despite the system prompt forbidding it. Audit trail caught it.</a:t>
            </a:r>
            <a:endParaRPr lang="en-US" sz="1300" dirty="0"/>
          </a:p>
        </p:txBody>
      </p:sp>
      <p:sp>
        <p:nvSpPr>
          <p:cNvPr id="15" name="Shape 13"/>
          <p:cNvSpPr/>
          <p:nvPr/>
        </p:nvSpPr>
        <p:spPr>
          <a:xfrm>
            <a:off x="661574" y="4843165"/>
            <a:ext cx="10868547" cy="1174055"/>
          </a:xfrm>
          <a:prstGeom prst="roundRect">
            <a:avLst>
              <a:gd name="adj" fmla="val 5917"/>
            </a:avLst>
          </a:prstGeom>
          <a:solidFill>
            <a:srgbClr val="FFB3B4"/>
          </a:solidFill>
          <a:ln/>
        </p:spPr>
      </p:sp>
      <p:pic>
        <p:nvPicPr>
          <p:cNvPr id="16" name="Image 0" descr="preencoded.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26868" y="5082877"/>
            <a:ext cx="206667" cy="165298"/>
          </a:xfrm>
          <a:prstGeom prst="rect">
            <a:avLst/>
          </a:prstGeom>
        </p:spPr>
      </p:pic>
      <p:sp>
        <p:nvSpPr>
          <p:cNvPr id="17" name="Text 14"/>
          <p:cNvSpPr/>
          <p:nvPr/>
        </p:nvSpPr>
        <p:spPr>
          <a:xfrm>
            <a:off x="1198830" y="5033268"/>
            <a:ext cx="10165996" cy="793849"/>
          </a:xfrm>
          <a:prstGeom prst="rect">
            <a:avLst/>
          </a:prstGeom>
          <a:noFill/>
          <a:ln/>
        </p:spPr>
        <p:txBody>
          <a:bodyPr wrap="square" lIns="0" tIns="0" rIns="0" bIns="0" rtlCol="0" anchor="t">
            <a:normAutofit/>
          </a:bodyPr>
          <a:lstStyle/>
          <a:p>
            <a:pPr marL="0" indent="0" algn="l">
              <a:lnSpc>
                <a:spcPct val="133000"/>
              </a:lnSpc>
              <a:buNone/>
            </a:pPr>
            <a:r>
              <a:rPr lang="en-US" sz="1300" b="1" dirty="0">
                <a:solidFill>
                  <a:srgbClr val="000000"/>
                </a:solidFill>
                <a:latin typeface="DM Sans" pitchFamily="34" charset="0"/>
                <a:ea typeface="DM Sans" pitchFamily="34" charset="-122"/>
                <a:cs typeface="DM Sans" pitchFamily="34" charset="-120"/>
              </a:rPr>
              <a:t>The uncomfortable truth:</a:t>
            </a:r>
            <a:r>
              <a:rPr lang="en-US" sz="1300" dirty="0">
                <a:solidFill>
                  <a:srgbClr val="000000"/>
                </a:solidFill>
                <a:latin typeface="DM Sans" pitchFamily="34" charset="0"/>
                <a:ea typeface="DM Sans" pitchFamily="34" charset="-122"/>
                <a:cs typeface="DM Sans" pitchFamily="34" charset="-120"/>
              </a:rPr>
              <a:t> Most production LLM systems run with almost no evaluation. Teams release changes based on whether things </a:t>
            </a:r>
            <a:r>
              <a:rPr lang="en-US" sz="1300" i="1" dirty="0">
                <a:solidFill>
                  <a:srgbClr val="000000"/>
                </a:solidFill>
                <a:latin typeface="DM Sans" pitchFamily="34" charset="0"/>
                <a:ea typeface="DM Sans" pitchFamily="34" charset="-122"/>
                <a:cs typeface="DM Sans" pitchFamily="34" charset="-120"/>
              </a:rPr>
              <a:t>feel</a:t>
            </a:r>
            <a:r>
              <a:rPr lang="en-US" sz="1300" dirty="0">
                <a:solidFill>
                  <a:srgbClr val="000000"/>
                </a:solidFill>
                <a:latin typeface="DM Sans" pitchFamily="34" charset="0"/>
                <a:ea typeface="DM Sans" pitchFamily="34" charset="-122"/>
                <a:cs typeface="DM Sans" pitchFamily="34" charset="-120"/>
              </a:rPr>
              <a:t> better, not whether they measurably are. For consumer products, this is sometimes okay. For regulated industries handling real money, it isn't.</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661574" y="477341"/>
            <a:ext cx="621193" cy="270272"/>
          </a:xfrm>
          <a:prstGeom prst="roundRect">
            <a:avLst>
              <a:gd name="adj" fmla="val 18505"/>
            </a:avLst>
          </a:prstGeom>
          <a:solidFill>
            <a:srgbClr val="F7EDD4"/>
          </a:solidFill>
          <a:ln/>
        </p:spPr>
      </p:sp>
      <p:sp>
        <p:nvSpPr>
          <p:cNvPr id="3" name="Text 1"/>
          <p:cNvSpPr/>
          <p:nvPr/>
        </p:nvSpPr>
        <p:spPr>
          <a:xfrm>
            <a:off x="750869" y="521990"/>
            <a:ext cx="1052189" cy="180975"/>
          </a:xfrm>
          <a:prstGeom prst="rect">
            <a:avLst/>
          </a:prstGeom>
          <a:noFill/>
          <a:ln/>
        </p:spPr>
        <p:txBody>
          <a:bodyPr wrap="none" lIns="0" tIns="0" rIns="0" bIns="0" rtlCol="0" anchor="t"/>
          <a:lstStyle/>
          <a:p>
            <a:pPr marL="0" indent="0" algn="l">
              <a:lnSpc>
                <a:spcPct val="127000"/>
              </a:lnSpc>
              <a:buNone/>
            </a:pPr>
            <a:r>
              <a:rPr lang="en-US" sz="900" dirty="0">
                <a:solidFill>
                  <a:srgbClr val="454240"/>
                </a:solidFill>
                <a:latin typeface="DM Sans" pitchFamily="34" charset="0"/>
                <a:ea typeface="DM Sans" pitchFamily="34" charset="-122"/>
                <a:cs typeface="DM Sans" pitchFamily="34" charset="-120"/>
              </a:rPr>
              <a:t>STEP 33</a:t>
            </a:r>
            <a:endParaRPr lang="en-US" sz="900" dirty="0"/>
          </a:p>
        </p:txBody>
      </p:sp>
      <p:sp>
        <p:nvSpPr>
          <p:cNvPr id="4" name="Text 2"/>
          <p:cNvSpPr/>
          <p:nvPr/>
        </p:nvSpPr>
        <p:spPr>
          <a:xfrm>
            <a:off x="661574" y="801191"/>
            <a:ext cx="5835603" cy="465138"/>
          </a:xfrm>
          <a:prstGeom prst="rect">
            <a:avLst/>
          </a:prstGeom>
          <a:noFill/>
          <a:ln/>
        </p:spPr>
        <p:txBody>
          <a:bodyPr wrap="none" lIns="0" tIns="0" rIns="0" bIns="0" rtlCol="0" anchor="t"/>
          <a:lstStyle/>
          <a:p>
            <a:pPr marL="0" indent="0" algn="l">
              <a:lnSpc>
                <a:spcPct val="104000"/>
              </a:lnSpc>
              <a:buNone/>
            </a:pPr>
            <a:r>
              <a:rPr lang="en-US" sz="2900" dirty="0">
                <a:solidFill>
                  <a:srgbClr val="5C4E3D"/>
                </a:solidFill>
                <a:latin typeface="Libre Baskerville" pitchFamily="34" charset="0"/>
                <a:ea typeface="Libre Baskerville" pitchFamily="34" charset="-122"/>
                <a:cs typeface="Libre Baskerville" pitchFamily="34" charset="-120"/>
              </a:rPr>
              <a:t>A Note on What's Still Hard</a:t>
            </a:r>
            <a:endParaRPr lang="en-US" sz="2900" dirty="0"/>
          </a:p>
        </p:txBody>
      </p:sp>
      <p:sp>
        <p:nvSpPr>
          <p:cNvPr id="5" name="Text 3"/>
          <p:cNvSpPr/>
          <p:nvPr/>
        </p:nvSpPr>
        <p:spPr>
          <a:xfrm>
            <a:off x="661574" y="1467247"/>
            <a:ext cx="10868547" cy="452438"/>
          </a:xfrm>
          <a:prstGeom prst="rect">
            <a:avLst/>
          </a:prstGeom>
          <a:noFill/>
          <a:ln/>
        </p:spPr>
        <p:txBody>
          <a:bodyPr wrap="square" lIns="0" tIns="0" rIns="0" bIns="0" rtlCol="0" anchor="t">
            <a:normAutofit/>
          </a:bodyPr>
          <a:lstStyle/>
          <a:p>
            <a:pPr marL="0" indent="0" algn="l">
              <a:lnSpc>
                <a:spcPct val="127000"/>
              </a:lnSpc>
              <a:buNone/>
            </a:pPr>
            <a:r>
              <a:rPr lang="en-US" sz="1150" dirty="0">
                <a:solidFill>
                  <a:srgbClr val="454240"/>
                </a:solidFill>
                <a:latin typeface="DM Sans" pitchFamily="34" charset="0"/>
                <a:ea typeface="DM Sans" pitchFamily="34" charset="-122"/>
                <a:cs typeface="DM Sans" pitchFamily="34" charset="-120"/>
              </a:rPr>
              <a:t>After 30+ steps across four parts, you've seen the engineering reality of how these systems work. Worth a sober note on what they still struggle with — because no part of this series will fully prepare you for the gap between </a:t>
            </a:r>
            <a:r>
              <a:rPr lang="en-US" sz="1150" i="1" dirty="0">
                <a:solidFill>
                  <a:srgbClr val="454240"/>
                </a:solidFill>
                <a:latin typeface="DM Sans" pitchFamily="34" charset="0"/>
                <a:ea typeface="DM Sans" pitchFamily="34" charset="-122"/>
                <a:cs typeface="DM Sans" pitchFamily="34" charset="-120"/>
              </a:rPr>
              <a:t>what LLMs do well</a:t>
            </a:r>
            <a:r>
              <a:rPr lang="en-US" sz="1150" dirty="0">
                <a:solidFill>
                  <a:srgbClr val="454240"/>
                </a:solidFill>
                <a:latin typeface="DM Sans" pitchFamily="34" charset="0"/>
                <a:ea typeface="DM Sans" pitchFamily="34" charset="-122"/>
                <a:cs typeface="DM Sans" pitchFamily="34" charset="-120"/>
              </a:rPr>
              <a:t> and </a:t>
            </a:r>
            <a:r>
              <a:rPr lang="en-US" sz="1150" i="1" dirty="0">
                <a:solidFill>
                  <a:srgbClr val="454240"/>
                </a:solidFill>
                <a:latin typeface="DM Sans" pitchFamily="34" charset="0"/>
                <a:ea typeface="DM Sans" pitchFamily="34" charset="-122"/>
                <a:cs typeface="DM Sans" pitchFamily="34" charset="-120"/>
              </a:rPr>
              <a:t>what people assume they do well.</a:t>
            </a:r>
            <a:endParaRPr lang="en-US" sz="1150" dirty="0"/>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42525" y="2070398"/>
            <a:ext cx="3552538" cy="1553468"/>
          </a:xfrm>
          <a:prstGeom prst="rect">
            <a:avLst/>
          </a:prstGeom>
        </p:spPr>
      </p:pic>
      <p:sp>
        <p:nvSpPr>
          <p:cNvPr id="7" name="Text 4"/>
          <p:cNvSpPr/>
          <p:nvPr/>
        </p:nvSpPr>
        <p:spPr>
          <a:xfrm>
            <a:off x="886597" y="2238276"/>
            <a:ext cx="1860603" cy="232470"/>
          </a:xfrm>
          <a:prstGeom prst="rect">
            <a:avLst/>
          </a:prstGeom>
          <a:noFill/>
          <a:ln/>
        </p:spPr>
        <p:txBody>
          <a:bodyPr wrap="none" lIns="0" tIns="0" rIns="0" bIns="0" rtlCol="0" anchor="t"/>
          <a:lstStyle/>
          <a:p>
            <a:pPr marL="0" indent="0" algn="l">
              <a:lnSpc>
                <a:spcPct val="104000"/>
              </a:lnSpc>
              <a:buNone/>
            </a:pPr>
            <a:r>
              <a:rPr lang="en-US" sz="1450" dirty="0">
                <a:solidFill>
                  <a:srgbClr val="454240"/>
                </a:solidFill>
                <a:latin typeface="Libre Baskerville" pitchFamily="34" charset="0"/>
                <a:ea typeface="Libre Baskerville" pitchFamily="34" charset="-122"/>
                <a:cs typeface="Libre Baskerville" pitchFamily="34" charset="-120"/>
              </a:rPr>
              <a:t>Arithmetic</a:t>
            </a:r>
            <a:endParaRPr lang="en-US" sz="1450" dirty="0"/>
          </a:p>
        </p:txBody>
      </p:sp>
      <p:sp>
        <p:nvSpPr>
          <p:cNvPr id="8" name="Text 5"/>
          <p:cNvSpPr/>
          <p:nvPr/>
        </p:nvSpPr>
        <p:spPr>
          <a:xfrm>
            <a:off x="886597" y="2551113"/>
            <a:ext cx="3140592" cy="678656"/>
          </a:xfrm>
          <a:prstGeom prst="rect">
            <a:avLst/>
          </a:prstGeom>
          <a:noFill/>
          <a:ln/>
        </p:spPr>
        <p:txBody>
          <a:bodyPr wrap="square" lIns="0" tIns="0" rIns="0" bIns="0" rtlCol="0" anchor="t">
            <a:normAutofit/>
          </a:bodyPr>
          <a:lstStyle/>
          <a:p>
            <a:pPr marL="0" indent="0" algn="l">
              <a:lnSpc>
                <a:spcPct val="127000"/>
              </a:lnSpc>
              <a:buNone/>
            </a:pPr>
            <a:r>
              <a:rPr lang="en-US" sz="1150" dirty="0">
                <a:solidFill>
                  <a:srgbClr val="454240"/>
                </a:solidFill>
                <a:latin typeface="DM Sans" pitchFamily="34" charset="0"/>
                <a:ea typeface="DM Sans" pitchFamily="34" charset="-122"/>
                <a:cs typeface="DM Sans" pitchFamily="34" charset="-120"/>
              </a:rPr>
              <a:t>They predict digits as patterns, they don't compute. Always pair with tools for any real calculation.</a:t>
            </a:r>
            <a:endParaRPr lang="en-US" sz="1150" dirty="0"/>
          </a:p>
        </p:txBody>
      </p:sp>
      <p:pic>
        <p:nvPicPr>
          <p:cNvPr id="9"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309955" y="2070398"/>
            <a:ext cx="3552637" cy="1553468"/>
          </a:xfrm>
          <a:prstGeom prst="rect">
            <a:avLst/>
          </a:prstGeom>
        </p:spPr>
      </p:pic>
      <p:sp>
        <p:nvSpPr>
          <p:cNvPr id="10" name="Text 6"/>
          <p:cNvSpPr/>
          <p:nvPr/>
        </p:nvSpPr>
        <p:spPr>
          <a:xfrm>
            <a:off x="4554027" y="2238276"/>
            <a:ext cx="1860603" cy="232470"/>
          </a:xfrm>
          <a:prstGeom prst="rect">
            <a:avLst/>
          </a:prstGeom>
          <a:noFill/>
          <a:ln/>
        </p:spPr>
        <p:txBody>
          <a:bodyPr wrap="none" lIns="0" tIns="0" rIns="0" bIns="0" rtlCol="0" anchor="t"/>
          <a:lstStyle/>
          <a:p>
            <a:pPr marL="0" indent="0" algn="l">
              <a:lnSpc>
                <a:spcPct val="104000"/>
              </a:lnSpc>
              <a:buNone/>
            </a:pPr>
            <a:r>
              <a:rPr lang="en-US" sz="1450" dirty="0">
                <a:solidFill>
                  <a:srgbClr val="454240"/>
                </a:solidFill>
                <a:latin typeface="Libre Baskerville" pitchFamily="34" charset="0"/>
                <a:ea typeface="Libre Baskerville" pitchFamily="34" charset="-122"/>
                <a:cs typeface="Libre Baskerville" pitchFamily="34" charset="-120"/>
              </a:rPr>
              <a:t>Counting</a:t>
            </a:r>
            <a:endParaRPr lang="en-US" sz="1450" dirty="0"/>
          </a:p>
        </p:txBody>
      </p:sp>
      <p:sp>
        <p:nvSpPr>
          <p:cNvPr id="11" name="Text 7"/>
          <p:cNvSpPr/>
          <p:nvPr/>
        </p:nvSpPr>
        <p:spPr>
          <a:xfrm>
            <a:off x="4554027" y="2551113"/>
            <a:ext cx="3140691" cy="904875"/>
          </a:xfrm>
          <a:prstGeom prst="rect">
            <a:avLst/>
          </a:prstGeom>
          <a:noFill/>
          <a:ln/>
        </p:spPr>
        <p:txBody>
          <a:bodyPr wrap="square" lIns="0" tIns="0" rIns="0" bIns="0" rtlCol="0" anchor="t">
            <a:normAutofit/>
          </a:bodyPr>
          <a:lstStyle/>
          <a:p>
            <a:pPr marL="0" indent="0" algn="l">
              <a:lnSpc>
                <a:spcPct val="127000"/>
              </a:lnSpc>
              <a:buNone/>
            </a:pPr>
            <a:r>
              <a:rPr lang="en-US" sz="1150" i="1" dirty="0">
                <a:solidFill>
                  <a:srgbClr val="454240"/>
                </a:solidFill>
                <a:latin typeface="DM Sans" pitchFamily="34" charset="0"/>
                <a:ea typeface="DM Sans" pitchFamily="34" charset="-122"/>
                <a:cs typeface="DM Sans" pitchFamily="34" charset="-120"/>
              </a:rPr>
              <a:t>"How many times does the letter R appear in 'strawberry'?"</a:t>
            </a:r>
            <a:r>
              <a:rPr lang="en-US" sz="1150" dirty="0">
                <a:solidFill>
                  <a:srgbClr val="454240"/>
                </a:solidFill>
                <a:latin typeface="DM Sans" pitchFamily="34" charset="0"/>
                <a:ea typeface="DM Sans" pitchFamily="34" charset="-122"/>
                <a:cs typeface="DM Sans" pitchFamily="34" charset="-120"/>
              </a:rPr>
              <a:t> Famously hard for LLMs because of tokenisation. Don't trust their counts.</a:t>
            </a:r>
            <a:endParaRPr lang="en-US" sz="1150" dirty="0"/>
          </a:p>
        </p:txBody>
      </p:sp>
      <p:pic>
        <p:nvPicPr>
          <p:cNvPr id="12"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977484" y="2070398"/>
            <a:ext cx="3552637" cy="1553468"/>
          </a:xfrm>
          <a:prstGeom prst="rect">
            <a:avLst/>
          </a:prstGeom>
        </p:spPr>
      </p:pic>
      <p:sp>
        <p:nvSpPr>
          <p:cNvPr id="13" name="Text 8"/>
          <p:cNvSpPr/>
          <p:nvPr/>
        </p:nvSpPr>
        <p:spPr>
          <a:xfrm>
            <a:off x="8221556" y="2238276"/>
            <a:ext cx="2934718" cy="232470"/>
          </a:xfrm>
          <a:prstGeom prst="rect">
            <a:avLst/>
          </a:prstGeom>
          <a:noFill/>
          <a:ln/>
        </p:spPr>
        <p:txBody>
          <a:bodyPr wrap="none" lIns="0" tIns="0" rIns="0" bIns="0" rtlCol="0" anchor="t"/>
          <a:lstStyle/>
          <a:p>
            <a:pPr marL="0" indent="0" algn="l">
              <a:lnSpc>
                <a:spcPct val="104000"/>
              </a:lnSpc>
              <a:buNone/>
            </a:pPr>
            <a:r>
              <a:rPr lang="en-US" sz="1450" dirty="0">
                <a:solidFill>
                  <a:srgbClr val="454240"/>
                </a:solidFill>
                <a:latin typeface="Libre Baskerville" pitchFamily="34" charset="0"/>
                <a:ea typeface="Libre Baskerville" pitchFamily="34" charset="-122"/>
                <a:cs typeface="Libre Baskerville" pitchFamily="34" charset="-120"/>
              </a:rPr>
              <a:t>Knowing what they don't know</a:t>
            </a:r>
            <a:endParaRPr lang="en-US" sz="1450" dirty="0"/>
          </a:p>
        </p:txBody>
      </p:sp>
      <p:sp>
        <p:nvSpPr>
          <p:cNvPr id="14" name="Text 9"/>
          <p:cNvSpPr/>
          <p:nvPr/>
        </p:nvSpPr>
        <p:spPr>
          <a:xfrm>
            <a:off x="8221556" y="2551113"/>
            <a:ext cx="3140691" cy="904875"/>
          </a:xfrm>
          <a:prstGeom prst="rect">
            <a:avLst/>
          </a:prstGeom>
          <a:noFill/>
          <a:ln/>
        </p:spPr>
        <p:txBody>
          <a:bodyPr wrap="square" lIns="0" tIns="0" rIns="0" bIns="0" rtlCol="0" anchor="t">
            <a:normAutofit/>
          </a:bodyPr>
          <a:lstStyle/>
          <a:p>
            <a:pPr marL="0" indent="0" algn="l">
              <a:lnSpc>
                <a:spcPct val="127000"/>
              </a:lnSpc>
              <a:buNone/>
            </a:pPr>
            <a:r>
              <a:rPr lang="en-US" sz="1150" dirty="0">
                <a:solidFill>
                  <a:srgbClr val="454240"/>
                </a:solidFill>
                <a:latin typeface="DM Sans" pitchFamily="34" charset="0"/>
                <a:ea typeface="DM Sans" pitchFamily="34" charset="-122"/>
                <a:cs typeface="DM Sans" pitchFamily="34" charset="-120"/>
              </a:rPr>
              <a:t>Models are bad at calibrating their own confidence. They sound equally certain about things they're right about and things they're making up.</a:t>
            </a:r>
            <a:endParaRPr lang="en-US" sz="1150" dirty="0"/>
          </a:p>
        </p:txBody>
      </p:sp>
      <p:pic>
        <p:nvPicPr>
          <p:cNvPr id="15" name="Image 3"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42525" y="3757811"/>
            <a:ext cx="3552538" cy="1553468"/>
          </a:xfrm>
          <a:prstGeom prst="rect">
            <a:avLst/>
          </a:prstGeom>
        </p:spPr>
      </p:pic>
      <p:sp>
        <p:nvSpPr>
          <p:cNvPr id="16" name="Text 10"/>
          <p:cNvSpPr/>
          <p:nvPr/>
        </p:nvSpPr>
        <p:spPr>
          <a:xfrm>
            <a:off x="886597" y="3925689"/>
            <a:ext cx="2240601" cy="232470"/>
          </a:xfrm>
          <a:prstGeom prst="rect">
            <a:avLst/>
          </a:prstGeom>
          <a:noFill/>
          <a:ln/>
        </p:spPr>
        <p:txBody>
          <a:bodyPr wrap="none" lIns="0" tIns="0" rIns="0" bIns="0" rtlCol="0" anchor="t"/>
          <a:lstStyle/>
          <a:p>
            <a:pPr marL="0" indent="0" algn="l">
              <a:lnSpc>
                <a:spcPct val="104000"/>
              </a:lnSpc>
              <a:buNone/>
            </a:pPr>
            <a:r>
              <a:rPr lang="en-US" sz="1450" dirty="0">
                <a:solidFill>
                  <a:srgbClr val="454240"/>
                </a:solidFill>
                <a:latin typeface="Libre Baskerville" pitchFamily="34" charset="0"/>
                <a:ea typeface="Libre Baskerville" pitchFamily="34" charset="-122"/>
                <a:cs typeface="Libre Baskerville" pitchFamily="34" charset="-120"/>
              </a:rPr>
              <a:t>Long-horizon planning</a:t>
            </a:r>
            <a:endParaRPr lang="en-US" sz="1450" dirty="0"/>
          </a:p>
        </p:txBody>
      </p:sp>
      <p:sp>
        <p:nvSpPr>
          <p:cNvPr id="17" name="Text 11"/>
          <p:cNvSpPr/>
          <p:nvPr/>
        </p:nvSpPr>
        <p:spPr>
          <a:xfrm>
            <a:off x="886597" y="4238526"/>
            <a:ext cx="3140592" cy="904875"/>
          </a:xfrm>
          <a:prstGeom prst="rect">
            <a:avLst/>
          </a:prstGeom>
          <a:noFill/>
          <a:ln/>
        </p:spPr>
        <p:txBody>
          <a:bodyPr wrap="square" lIns="0" tIns="0" rIns="0" bIns="0" rtlCol="0" anchor="t">
            <a:normAutofit/>
          </a:bodyPr>
          <a:lstStyle/>
          <a:p>
            <a:pPr marL="0" indent="0" algn="l">
              <a:lnSpc>
                <a:spcPct val="127000"/>
              </a:lnSpc>
              <a:buNone/>
            </a:pPr>
            <a:r>
              <a:rPr lang="en-US" sz="1150" dirty="0">
                <a:solidFill>
                  <a:srgbClr val="454240"/>
                </a:solidFill>
                <a:latin typeface="DM Sans" pitchFamily="34" charset="0"/>
                <a:ea typeface="DM Sans" pitchFamily="34" charset="-122"/>
                <a:cs typeface="DM Sans" pitchFamily="34" charset="-120"/>
              </a:rPr>
              <a:t>Reasoning models help, but multi-step plans with many constraints still trip them up. They can lose track of constraints over long contexts.</a:t>
            </a:r>
            <a:endParaRPr lang="en-US" sz="1150" dirty="0"/>
          </a:p>
        </p:txBody>
      </p:sp>
      <p:pic>
        <p:nvPicPr>
          <p:cNvPr id="18" name="Image 4"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309955" y="3757811"/>
            <a:ext cx="3552637" cy="1553468"/>
          </a:xfrm>
          <a:prstGeom prst="rect">
            <a:avLst/>
          </a:prstGeom>
        </p:spPr>
      </p:pic>
      <p:sp>
        <p:nvSpPr>
          <p:cNvPr id="19" name="Text 12"/>
          <p:cNvSpPr/>
          <p:nvPr/>
        </p:nvSpPr>
        <p:spPr>
          <a:xfrm>
            <a:off x="4554027" y="3925689"/>
            <a:ext cx="2281677" cy="232470"/>
          </a:xfrm>
          <a:prstGeom prst="rect">
            <a:avLst/>
          </a:prstGeom>
          <a:noFill/>
          <a:ln/>
        </p:spPr>
        <p:txBody>
          <a:bodyPr wrap="none" lIns="0" tIns="0" rIns="0" bIns="0" rtlCol="0" anchor="t"/>
          <a:lstStyle/>
          <a:p>
            <a:pPr marL="0" indent="0" algn="l">
              <a:lnSpc>
                <a:spcPct val="104000"/>
              </a:lnSpc>
              <a:buNone/>
            </a:pPr>
            <a:r>
              <a:rPr lang="en-US" sz="1450" dirty="0">
                <a:solidFill>
                  <a:srgbClr val="454240"/>
                </a:solidFill>
                <a:latin typeface="Libre Baskerville" pitchFamily="34" charset="0"/>
                <a:ea typeface="Libre Baskerville" pitchFamily="34" charset="-122"/>
                <a:cs typeface="Libre Baskerville" pitchFamily="34" charset="-120"/>
              </a:rPr>
              <a:t>Anything time-sensitive</a:t>
            </a:r>
            <a:endParaRPr lang="en-US" sz="1450" dirty="0"/>
          </a:p>
        </p:txBody>
      </p:sp>
      <p:sp>
        <p:nvSpPr>
          <p:cNvPr id="20" name="Text 13"/>
          <p:cNvSpPr/>
          <p:nvPr/>
        </p:nvSpPr>
        <p:spPr>
          <a:xfrm>
            <a:off x="4554027" y="4238526"/>
            <a:ext cx="3140691" cy="226219"/>
          </a:xfrm>
          <a:prstGeom prst="rect">
            <a:avLst/>
          </a:prstGeom>
          <a:noFill/>
          <a:ln/>
        </p:spPr>
        <p:txBody>
          <a:bodyPr wrap="none" lIns="0" tIns="0" rIns="0" bIns="0" rtlCol="0" anchor="t"/>
          <a:lstStyle/>
          <a:p>
            <a:pPr marL="0" indent="0" algn="l">
              <a:lnSpc>
                <a:spcPct val="127000"/>
              </a:lnSpc>
              <a:buNone/>
            </a:pPr>
            <a:r>
              <a:rPr lang="en-US" sz="1150" dirty="0">
                <a:solidFill>
                  <a:srgbClr val="454240"/>
                </a:solidFill>
                <a:latin typeface="DM Sans" pitchFamily="34" charset="0"/>
                <a:ea typeface="DM Sans" pitchFamily="34" charset="-122"/>
                <a:cs typeface="DM Sans" pitchFamily="34" charset="-120"/>
              </a:rPr>
              <a:t>Cutoff dates. Need tools or RAG.</a:t>
            </a:r>
            <a:endParaRPr lang="en-US" sz="1150" dirty="0"/>
          </a:p>
        </p:txBody>
      </p:sp>
      <p:pic>
        <p:nvPicPr>
          <p:cNvPr id="21" name="Image 5"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977484" y="3757811"/>
            <a:ext cx="3552637" cy="1553468"/>
          </a:xfrm>
          <a:prstGeom prst="rect">
            <a:avLst/>
          </a:prstGeom>
        </p:spPr>
      </p:pic>
      <p:sp>
        <p:nvSpPr>
          <p:cNvPr id="22" name="Text 14"/>
          <p:cNvSpPr/>
          <p:nvPr/>
        </p:nvSpPr>
        <p:spPr>
          <a:xfrm>
            <a:off x="8221556" y="3925689"/>
            <a:ext cx="2852071" cy="232470"/>
          </a:xfrm>
          <a:prstGeom prst="rect">
            <a:avLst/>
          </a:prstGeom>
          <a:noFill/>
          <a:ln/>
        </p:spPr>
        <p:txBody>
          <a:bodyPr wrap="none" lIns="0" tIns="0" rIns="0" bIns="0" rtlCol="0" anchor="t"/>
          <a:lstStyle/>
          <a:p>
            <a:pPr marL="0" indent="0" algn="l">
              <a:lnSpc>
                <a:spcPct val="104000"/>
              </a:lnSpc>
              <a:buNone/>
            </a:pPr>
            <a:r>
              <a:rPr lang="en-US" sz="1450" dirty="0">
                <a:solidFill>
                  <a:srgbClr val="454240"/>
                </a:solidFill>
                <a:latin typeface="Libre Baskerville" pitchFamily="34" charset="0"/>
                <a:ea typeface="Libre Baskerville" pitchFamily="34" charset="-122"/>
                <a:cs typeface="Libre Baskerville" pitchFamily="34" charset="-120"/>
              </a:rPr>
              <a:t>Consistency under rephrasing</a:t>
            </a:r>
            <a:endParaRPr lang="en-US" sz="1450" dirty="0"/>
          </a:p>
        </p:txBody>
      </p:sp>
      <p:sp>
        <p:nvSpPr>
          <p:cNvPr id="23" name="Text 15"/>
          <p:cNvSpPr/>
          <p:nvPr/>
        </p:nvSpPr>
        <p:spPr>
          <a:xfrm>
            <a:off x="8221556" y="4238526"/>
            <a:ext cx="3140691" cy="904875"/>
          </a:xfrm>
          <a:prstGeom prst="rect">
            <a:avLst/>
          </a:prstGeom>
          <a:noFill/>
          <a:ln/>
        </p:spPr>
        <p:txBody>
          <a:bodyPr wrap="square" lIns="0" tIns="0" rIns="0" bIns="0" rtlCol="0" anchor="t">
            <a:normAutofit/>
          </a:bodyPr>
          <a:lstStyle/>
          <a:p>
            <a:pPr marL="0" indent="0" algn="l">
              <a:lnSpc>
                <a:spcPct val="127000"/>
              </a:lnSpc>
              <a:buNone/>
            </a:pPr>
            <a:r>
              <a:rPr lang="en-US" sz="1150" dirty="0">
                <a:solidFill>
                  <a:srgbClr val="454240"/>
                </a:solidFill>
                <a:latin typeface="DM Sans" pitchFamily="34" charset="0"/>
                <a:ea typeface="DM Sans" pitchFamily="34" charset="-122"/>
                <a:cs typeface="DM Sans" pitchFamily="34" charset="-120"/>
              </a:rPr>
              <a:t>Ask the same question two slightly different ways and you can get meaningfully different answers. This is a known failure of probability-based generation.</a:t>
            </a:r>
            <a:endParaRPr lang="en-US" sz="1150" dirty="0"/>
          </a:p>
        </p:txBody>
      </p:sp>
      <p:sp>
        <p:nvSpPr>
          <p:cNvPr id="24" name="Shape 16"/>
          <p:cNvSpPr/>
          <p:nvPr/>
        </p:nvSpPr>
        <p:spPr>
          <a:xfrm>
            <a:off x="661574" y="5461992"/>
            <a:ext cx="10868547" cy="767953"/>
          </a:xfrm>
          <a:prstGeom prst="roundRect">
            <a:avLst>
              <a:gd name="adj" fmla="val 8141"/>
            </a:avLst>
          </a:prstGeom>
          <a:solidFill>
            <a:srgbClr val="F3E4BF"/>
          </a:solidFill>
          <a:ln/>
        </p:spPr>
      </p:sp>
      <p:pic>
        <p:nvPicPr>
          <p:cNvPr id="25" name="Image 6" descr="preencoded.png"/>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810398" y="5670153"/>
            <a:ext cx="186031" cy="148828"/>
          </a:xfrm>
          <a:prstGeom prst="rect">
            <a:avLst/>
          </a:prstGeom>
        </p:spPr>
      </p:pic>
      <p:sp>
        <p:nvSpPr>
          <p:cNvPr id="26" name="Text 17"/>
          <p:cNvSpPr/>
          <p:nvPr/>
        </p:nvSpPr>
        <p:spPr>
          <a:xfrm>
            <a:off x="1145253" y="5619750"/>
            <a:ext cx="10236043" cy="452438"/>
          </a:xfrm>
          <a:prstGeom prst="rect">
            <a:avLst/>
          </a:prstGeom>
          <a:noFill/>
          <a:ln/>
        </p:spPr>
        <p:txBody>
          <a:bodyPr wrap="square" lIns="0" tIns="0" rIns="0" bIns="0" rtlCol="0" anchor="t">
            <a:normAutofit/>
          </a:bodyPr>
          <a:lstStyle/>
          <a:p>
            <a:pPr marL="0" indent="0" algn="l">
              <a:lnSpc>
                <a:spcPct val="127000"/>
              </a:lnSpc>
              <a:buNone/>
            </a:pPr>
            <a:r>
              <a:rPr lang="en-US" sz="1150" b="1" dirty="0">
                <a:solidFill>
                  <a:srgbClr val="000000"/>
                </a:solidFill>
                <a:latin typeface="DM Sans" pitchFamily="34" charset="0"/>
                <a:ea typeface="DM Sans" pitchFamily="34" charset="-122"/>
                <a:cs typeface="DM Sans" pitchFamily="34" charset="-120"/>
              </a:rPr>
              <a:t>The shape of the right relationship:</a:t>
            </a:r>
            <a:r>
              <a:rPr lang="en-US" sz="1150" dirty="0">
                <a:solidFill>
                  <a:srgbClr val="000000"/>
                </a:solidFill>
                <a:latin typeface="DM Sans" pitchFamily="34" charset="0"/>
                <a:ea typeface="DM Sans" pitchFamily="34" charset="-122"/>
                <a:cs typeface="DM Sans" pitchFamily="34" charset="-120"/>
              </a:rPr>
              <a:t> Use them where they're strong, scaffold them where they're weak, verify where it matters. Trust nothing important without a check.</a:t>
            </a:r>
            <a:endParaRPr lang="en-US" sz="11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746503" y="501055"/>
            <a:ext cx="7348056" cy="508695"/>
          </a:xfrm>
          <a:prstGeom prst="rect">
            <a:avLst/>
          </a:prstGeom>
          <a:noFill/>
          <a:ln/>
        </p:spPr>
        <p:txBody>
          <a:bodyPr wrap="none" lIns="0" tIns="0" rIns="0" bIns="0" rtlCol="0" anchor="t"/>
          <a:lstStyle/>
          <a:p>
            <a:pPr marL="0" indent="0" algn="l">
              <a:lnSpc>
                <a:spcPct val="104000"/>
              </a:lnSpc>
              <a:buNone/>
            </a:pPr>
            <a:r>
              <a:rPr lang="en-US" sz="3200" dirty="0">
                <a:solidFill>
                  <a:srgbClr val="5C4E3D"/>
                </a:solidFill>
                <a:latin typeface="Libre Baskerville" pitchFamily="34" charset="0"/>
                <a:ea typeface="Libre Baskerville" pitchFamily="34" charset="-122"/>
                <a:cs typeface="Libre Baskerville" pitchFamily="34" charset="-120"/>
              </a:rPr>
              <a:t>Bringing All Four Parts Together</a:t>
            </a:r>
            <a:endParaRPr lang="en-US" sz="3200" dirty="0"/>
          </a:p>
        </p:txBody>
      </p:sp>
      <p:sp>
        <p:nvSpPr>
          <p:cNvPr id="3" name="Text 1"/>
          <p:cNvSpPr/>
          <p:nvPr/>
        </p:nvSpPr>
        <p:spPr>
          <a:xfrm>
            <a:off x="746503" y="1330226"/>
            <a:ext cx="11308273" cy="258465"/>
          </a:xfrm>
          <a:prstGeom prst="rect">
            <a:avLst/>
          </a:prstGeom>
          <a:noFill/>
          <a:ln/>
        </p:spPr>
        <p:txBody>
          <a:bodyPr wrap="none" lIns="0" tIns="0" rIns="0" bIns="0" rtlCol="0" anchor="t"/>
          <a:lstStyle/>
          <a:p>
            <a:pPr marL="0" indent="0" algn="l">
              <a:lnSpc>
                <a:spcPct val="132000"/>
              </a:lnSpc>
              <a:buNone/>
            </a:pPr>
            <a:r>
              <a:rPr lang="en-US" sz="1250" dirty="0">
                <a:solidFill>
                  <a:srgbClr val="454240"/>
                </a:solidFill>
                <a:latin typeface="DM Sans" pitchFamily="34" charset="0"/>
                <a:ea typeface="DM Sans" pitchFamily="34" charset="-122"/>
                <a:cs typeface="DM Sans" pitchFamily="34" charset="-120"/>
              </a:rPr>
              <a:t>From the second you press Enter, to the strategic questions a CTO has to answer — here is the full picture.</a:t>
            </a:r>
            <a:endParaRPr lang="en-US" sz="1250" dirty="0"/>
          </a:p>
        </p:txBody>
      </p:sp>
      <p:sp>
        <p:nvSpPr>
          <p:cNvPr id="4" name="Shape 2"/>
          <p:cNvSpPr/>
          <p:nvPr/>
        </p:nvSpPr>
        <p:spPr>
          <a:xfrm>
            <a:off x="746503" y="4062909"/>
            <a:ext cx="10698689" cy="19050"/>
          </a:xfrm>
          <a:prstGeom prst="roundRect">
            <a:avLst>
              <a:gd name="adj" fmla="val 358945"/>
            </a:avLst>
          </a:prstGeom>
          <a:solidFill>
            <a:srgbClr val="DDD3BA"/>
          </a:solidFill>
          <a:ln/>
        </p:spPr>
      </p:sp>
      <p:sp>
        <p:nvSpPr>
          <p:cNvPr id="5" name="Shape 3"/>
          <p:cNvSpPr/>
          <p:nvPr/>
        </p:nvSpPr>
        <p:spPr>
          <a:xfrm>
            <a:off x="2816551" y="3574554"/>
            <a:ext cx="19050" cy="488355"/>
          </a:xfrm>
          <a:prstGeom prst="roundRect">
            <a:avLst>
              <a:gd name="adj" fmla="val 358945"/>
            </a:avLst>
          </a:prstGeom>
          <a:solidFill>
            <a:srgbClr val="DDD3BA"/>
          </a:solidFill>
          <a:ln/>
        </p:spPr>
      </p:sp>
      <p:sp>
        <p:nvSpPr>
          <p:cNvPr id="6" name="Shape 4"/>
          <p:cNvSpPr/>
          <p:nvPr/>
        </p:nvSpPr>
        <p:spPr>
          <a:xfrm>
            <a:off x="2642923" y="3879751"/>
            <a:ext cx="366306" cy="366316"/>
          </a:xfrm>
          <a:prstGeom prst="roundRect">
            <a:avLst>
              <a:gd name="adj" fmla="val 18667"/>
            </a:avLst>
          </a:prstGeom>
          <a:solidFill>
            <a:srgbClr val="F7EDD4"/>
          </a:solidFill>
          <a:ln w="6350">
            <a:solidFill>
              <a:srgbClr val="DDD3BA"/>
            </a:solidFill>
            <a:prstDash val="solid"/>
          </a:ln>
        </p:spPr>
      </p:sp>
      <p:sp>
        <p:nvSpPr>
          <p:cNvPr id="7" name="Text 5"/>
          <p:cNvSpPr/>
          <p:nvPr/>
        </p:nvSpPr>
        <p:spPr>
          <a:xfrm>
            <a:off x="2703991" y="3910310"/>
            <a:ext cx="244171" cy="305197"/>
          </a:xfrm>
          <a:prstGeom prst="rect">
            <a:avLst/>
          </a:prstGeom>
          <a:noFill/>
          <a:ln/>
        </p:spPr>
        <p:txBody>
          <a:bodyPr wrap="none" lIns="0" tIns="0" rIns="0" bIns="0" rtlCol="0" anchor="ctr"/>
          <a:lstStyle/>
          <a:p>
            <a:pPr marL="0" indent="0" algn="ctr">
              <a:lnSpc>
                <a:spcPct val="100000"/>
              </a:lnSpc>
              <a:buNone/>
            </a:pPr>
            <a:r>
              <a:rPr lang="en-US" sz="1900" dirty="0">
                <a:solidFill>
                  <a:srgbClr val="454240"/>
                </a:solidFill>
                <a:latin typeface="Libre Baskerville" pitchFamily="34" charset="0"/>
                <a:ea typeface="Libre Baskerville" pitchFamily="34" charset="-122"/>
                <a:cs typeface="Libre Baskerville" pitchFamily="34" charset="-120"/>
              </a:rPr>
              <a:t>1</a:t>
            </a:r>
            <a:endParaRPr lang="en-US" sz="1900" dirty="0"/>
          </a:p>
        </p:txBody>
      </p:sp>
      <p:sp>
        <p:nvSpPr>
          <p:cNvPr id="8" name="Text 6"/>
          <p:cNvSpPr/>
          <p:nvPr/>
        </p:nvSpPr>
        <p:spPr>
          <a:xfrm>
            <a:off x="1808613" y="1768971"/>
            <a:ext cx="2035025" cy="254298"/>
          </a:xfrm>
          <a:prstGeom prst="rect">
            <a:avLst/>
          </a:prstGeom>
          <a:noFill/>
          <a:ln/>
        </p:spPr>
        <p:txBody>
          <a:bodyPr wrap="none" lIns="0" tIns="0" rIns="0" bIns="0" rtlCol="0" anchor="t"/>
          <a:lstStyle/>
          <a:p>
            <a:pPr marL="0" indent="0" algn="ctr">
              <a:lnSpc>
                <a:spcPct val="104000"/>
              </a:lnSpc>
              <a:buNone/>
            </a:pPr>
            <a:r>
              <a:rPr lang="en-US" sz="1600" dirty="0">
                <a:solidFill>
                  <a:srgbClr val="454240"/>
                </a:solidFill>
                <a:latin typeface="Libre Baskerville" pitchFamily="34" charset="0"/>
                <a:ea typeface="Libre Baskerville" pitchFamily="34" charset="-122"/>
                <a:cs typeface="Libre Baskerville" pitchFamily="34" charset="-120"/>
              </a:rPr>
              <a:t>Part 1 — Delivery</a:t>
            </a:r>
            <a:endParaRPr lang="en-US" sz="1600" dirty="0"/>
          </a:p>
        </p:txBody>
      </p:sp>
      <p:sp>
        <p:nvSpPr>
          <p:cNvPr id="9" name="Text 7"/>
          <p:cNvSpPr/>
          <p:nvPr/>
        </p:nvSpPr>
        <p:spPr>
          <a:xfrm>
            <a:off x="909218" y="2119412"/>
            <a:ext cx="3833816" cy="1033859"/>
          </a:xfrm>
          <a:prstGeom prst="rect">
            <a:avLst/>
          </a:prstGeom>
          <a:noFill/>
          <a:ln/>
        </p:spPr>
        <p:txBody>
          <a:bodyPr wrap="square" lIns="0" tIns="0" rIns="0" bIns="0" rtlCol="0" anchor="t">
            <a:normAutofit/>
          </a:bodyPr>
          <a:lstStyle/>
          <a:p>
            <a:pPr marL="0" indent="0" algn="ctr">
              <a:lnSpc>
                <a:spcPct val="132000"/>
              </a:lnSpc>
              <a:buNone/>
            </a:pPr>
            <a:r>
              <a:rPr lang="en-US" sz="1250" dirty="0">
                <a:solidFill>
                  <a:srgbClr val="454240"/>
                </a:solidFill>
                <a:latin typeface="DM Sans" pitchFamily="34" charset="0"/>
                <a:ea typeface="DM Sans" pitchFamily="34" charset="-122"/>
                <a:cs typeface="DM Sans" pitchFamily="34" charset="-120"/>
              </a:rPr>
              <a:t>How your text travels from your keyboard to a GPU, gets cleaned, bundled with context, tokenised, embedded, and positioned. The mechanical journey of a request.</a:t>
            </a:r>
            <a:endParaRPr lang="en-US" sz="1250" dirty="0"/>
          </a:p>
        </p:txBody>
      </p:sp>
      <p:sp>
        <p:nvSpPr>
          <p:cNvPr id="10" name="Shape 8"/>
          <p:cNvSpPr/>
          <p:nvPr/>
        </p:nvSpPr>
        <p:spPr>
          <a:xfrm>
            <a:off x="4996333" y="4062909"/>
            <a:ext cx="19050" cy="488355"/>
          </a:xfrm>
          <a:prstGeom prst="roundRect">
            <a:avLst>
              <a:gd name="adj" fmla="val 358945"/>
            </a:avLst>
          </a:prstGeom>
          <a:solidFill>
            <a:srgbClr val="DDD3BA"/>
          </a:solidFill>
          <a:ln/>
        </p:spPr>
      </p:sp>
      <p:sp>
        <p:nvSpPr>
          <p:cNvPr id="11" name="Shape 9"/>
          <p:cNvSpPr/>
          <p:nvPr/>
        </p:nvSpPr>
        <p:spPr>
          <a:xfrm>
            <a:off x="4822704" y="3879751"/>
            <a:ext cx="366306" cy="366316"/>
          </a:xfrm>
          <a:prstGeom prst="roundRect">
            <a:avLst>
              <a:gd name="adj" fmla="val 18667"/>
            </a:avLst>
          </a:prstGeom>
          <a:solidFill>
            <a:srgbClr val="F7EDD4"/>
          </a:solidFill>
          <a:ln w="6350">
            <a:solidFill>
              <a:srgbClr val="DDD3BA"/>
            </a:solidFill>
            <a:prstDash val="solid"/>
          </a:ln>
        </p:spPr>
      </p:sp>
      <p:sp>
        <p:nvSpPr>
          <p:cNvPr id="12" name="Text 10"/>
          <p:cNvSpPr/>
          <p:nvPr/>
        </p:nvSpPr>
        <p:spPr>
          <a:xfrm>
            <a:off x="4883772" y="3910310"/>
            <a:ext cx="244171" cy="305197"/>
          </a:xfrm>
          <a:prstGeom prst="rect">
            <a:avLst/>
          </a:prstGeom>
          <a:noFill/>
          <a:ln/>
        </p:spPr>
        <p:txBody>
          <a:bodyPr wrap="none" lIns="0" tIns="0" rIns="0" bIns="0" rtlCol="0" anchor="ctr"/>
          <a:lstStyle/>
          <a:p>
            <a:pPr marL="0" indent="0" algn="ctr">
              <a:lnSpc>
                <a:spcPct val="100000"/>
              </a:lnSpc>
              <a:buNone/>
            </a:pPr>
            <a:r>
              <a:rPr lang="en-US" sz="1900" dirty="0">
                <a:solidFill>
                  <a:srgbClr val="454240"/>
                </a:solidFill>
                <a:latin typeface="Libre Baskerville" pitchFamily="34" charset="0"/>
                <a:ea typeface="Libre Baskerville" pitchFamily="34" charset="-122"/>
                <a:cs typeface="Libre Baskerville" pitchFamily="34" charset="-120"/>
              </a:rPr>
              <a:t>2</a:t>
            </a:r>
            <a:endParaRPr lang="en-US" sz="1900" dirty="0"/>
          </a:p>
        </p:txBody>
      </p:sp>
      <p:sp>
        <p:nvSpPr>
          <p:cNvPr id="13" name="Text 11"/>
          <p:cNvSpPr/>
          <p:nvPr/>
        </p:nvSpPr>
        <p:spPr>
          <a:xfrm>
            <a:off x="3988395" y="4714081"/>
            <a:ext cx="2035025" cy="254298"/>
          </a:xfrm>
          <a:prstGeom prst="rect">
            <a:avLst/>
          </a:prstGeom>
          <a:noFill/>
          <a:ln/>
        </p:spPr>
        <p:txBody>
          <a:bodyPr wrap="none" lIns="0" tIns="0" rIns="0" bIns="0" rtlCol="0" anchor="t"/>
          <a:lstStyle/>
          <a:p>
            <a:pPr marL="0" indent="0" algn="ctr">
              <a:lnSpc>
                <a:spcPct val="104000"/>
              </a:lnSpc>
              <a:buNone/>
            </a:pPr>
            <a:r>
              <a:rPr lang="en-US" sz="1600" dirty="0">
                <a:solidFill>
                  <a:srgbClr val="454240"/>
                </a:solidFill>
                <a:latin typeface="Libre Baskerville" pitchFamily="34" charset="0"/>
                <a:ea typeface="Libre Baskerville" pitchFamily="34" charset="-122"/>
                <a:cs typeface="Libre Baskerville" pitchFamily="34" charset="-120"/>
              </a:rPr>
              <a:t>Part 2 — Thinking</a:t>
            </a:r>
            <a:endParaRPr lang="en-US" sz="1600" dirty="0"/>
          </a:p>
        </p:txBody>
      </p:sp>
      <p:sp>
        <p:nvSpPr>
          <p:cNvPr id="14" name="Text 12"/>
          <p:cNvSpPr/>
          <p:nvPr/>
        </p:nvSpPr>
        <p:spPr>
          <a:xfrm>
            <a:off x="3088999" y="5064522"/>
            <a:ext cx="3833816" cy="1292324"/>
          </a:xfrm>
          <a:prstGeom prst="rect">
            <a:avLst/>
          </a:prstGeom>
          <a:noFill/>
          <a:ln/>
        </p:spPr>
        <p:txBody>
          <a:bodyPr wrap="square" lIns="0" tIns="0" rIns="0" bIns="0" rtlCol="0" anchor="t">
            <a:normAutofit/>
          </a:bodyPr>
          <a:lstStyle/>
          <a:p>
            <a:pPr marL="0" indent="0" algn="ctr">
              <a:lnSpc>
                <a:spcPct val="132000"/>
              </a:lnSpc>
              <a:buNone/>
            </a:pPr>
            <a:r>
              <a:rPr lang="en-US" sz="1250" dirty="0">
                <a:solidFill>
                  <a:srgbClr val="454240"/>
                </a:solidFill>
                <a:latin typeface="DM Sans" pitchFamily="34" charset="0"/>
                <a:ea typeface="DM Sans" pitchFamily="34" charset="-122"/>
                <a:cs typeface="DM Sans" pitchFamily="34" charset="-120"/>
              </a:rPr>
              <a:t>How the model processes those tokens. Attention. Next-word prediction. Probability distributions. Sampling (temperature, top-K, top-P). Detokenization. Streaming. The mechanics of generation.</a:t>
            </a:r>
            <a:endParaRPr lang="en-US" sz="1250" dirty="0"/>
          </a:p>
        </p:txBody>
      </p:sp>
      <p:sp>
        <p:nvSpPr>
          <p:cNvPr id="15" name="Shape 13"/>
          <p:cNvSpPr/>
          <p:nvPr/>
        </p:nvSpPr>
        <p:spPr>
          <a:xfrm>
            <a:off x="7176114" y="3574554"/>
            <a:ext cx="19050" cy="488355"/>
          </a:xfrm>
          <a:prstGeom prst="roundRect">
            <a:avLst>
              <a:gd name="adj" fmla="val 358945"/>
            </a:avLst>
          </a:prstGeom>
          <a:solidFill>
            <a:srgbClr val="DDD3BA"/>
          </a:solidFill>
          <a:ln/>
        </p:spPr>
      </p:sp>
      <p:sp>
        <p:nvSpPr>
          <p:cNvPr id="16" name="Shape 14"/>
          <p:cNvSpPr/>
          <p:nvPr/>
        </p:nvSpPr>
        <p:spPr>
          <a:xfrm>
            <a:off x="7002486" y="3879751"/>
            <a:ext cx="366306" cy="366316"/>
          </a:xfrm>
          <a:prstGeom prst="roundRect">
            <a:avLst>
              <a:gd name="adj" fmla="val 18667"/>
            </a:avLst>
          </a:prstGeom>
          <a:solidFill>
            <a:srgbClr val="F7EDD4"/>
          </a:solidFill>
          <a:ln w="6350">
            <a:solidFill>
              <a:srgbClr val="DDD3BA"/>
            </a:solidFill>
            <a:prstDash val="solid"/>
          </a:ln>
        </p:spPr>
      </p:sp>
      <p:sp>
        <p:nvSpPr>
          <p:cNvPr id="17" name="Text 15"/>
          <p:cNvSpPr/>
          <p:nvPr/>
        </p:nvSpPr>
        <p:spPr>
          <a:xfrm>
            <a:off x="7063553" y="3910310"/>
            <a:ext cx="244171" cy="305197"/>
          </a:xfrm>
          <a:prstGeom prst="rect">
            <a:avLst/>
          </a:prstGeom>
          <a:noFill/>
          <a:ln/>
        </p:spPr>
        <p:txBody>
          <a:bodyPr wrap="none" lIns="0" tIns="0" rIns="0" bIns="0" rtlCol="0" anchor="ctr"/>
          <a:lstStyle/>
          <a:p>
            <a:pPr marL="0" indent="0" algn="ctr">
              <a:lnSpc>
                <a:spcPct val="100000"/>
              </a:lnSpc>
              <a:buNone/>
            </a:pPr>
            <a:r>
              <a:rPr lang="en-US" sz="1900" dirty="0">
                <a:solidFill>
                  <a:srgbClr val="454240"/>
                </a:solidFill>
                <a:latin typeface="Libre Baskerville" pitchFamily="34" charset="0"/>
                <a:ea typeface="Libre Baskerville" pitchFamily="34" charset="-122"/>
                <a:cs typeface="Libre Baskerville" pitchFamily="34" charset="-120"/>
              </a:rPr>
              <a:t>3</a:t>
            </a:r>
            <a:endParaRPr lang="en-US" sz="1900" dirty="0"/>
          </a:p>
        </p:txBody>
      </p:sp>
      <p:sp>
        <p:nvSpPr>
          <p:cNvPr id="18" name="Text 16"/>
          <p:cNvSpPr/>
          <p:nvPr/>
        </p:nvSpPr>
        <p:spPr>
          <a:xfrm>
            <a:off x="5767243" y="1768971"/>
            <a:ext cx="2836792" cy="254298"/>
          </a:xfrm>
          <a:prstGeom prst="rect">
            <a:avLst/>
          </a:prstGeom>
          <a:noFill/>
          <a:ln/>
        </p:spPr>
        <p:txBody>
          <a:bodyPr wrap="none" lIns="0" tIns="0" rIns="0" bIns="0" rtlCol="0" anchor="t"/>
          <a:lstStyle/>
          <a:p>
            <a:pPr marL="0" indent="0" algn="ctr">
              <a:lnSpc>
                <a:spcPct val="104000"/>
              </a:lnSpc>
              <a:buNone/>
            </a:pPr>
            <a:r>
              <a:rPr lang="en-US" sz="1600" dirty="0">
                <a:solidFill>
                  <a:srgbClr val="454240"/>
                </a:solidFill>
                <a:latin typeface="Libre Baskerville" pitchFamily="34" charset="0"/>
                <a:ea typeface="Libre Baskerville" pitchFamily="34" charset="-122"/>
                <a:cs typeface="Libre Baskerville" pitchFamily="34" charset="-120"/>
              </a:rPr>
              <a:t>Part 3 — The Real Assistant</a:t>
            </a:r>
            <a:endParaRPr lang="en-US" sz="1600" dirty="0"/>
          </a:p>
        </p:txBody>
      </p:sp>
      <p:sp>
        <p:nvSpPr>
          <p:cNvPr id="19" name="Text 17"/>
          <p:cNvSpPr/>
          <p:nvPr/>
        </p:nvSpPr>
        <p:spPr>
          <a:xfrm>
            <a:off x="5268781" y="2119412"/>
            <a:ext cx="3833816" cy="1292324"/>
          </a:xfrm>
          <a:prstGeom prst="rect">
            <a:avLst/>
          </a:prstGeom>
          <a:noFill/>
          <a:ln/>
        </p:spPr>
        <p:txBody>
          <a:bodyPr wrap="square" lIns="0" tIns="0" rIns="0" bIns="0" rtlCol="0" anchor="t">
            <a:normAutofit/>
          </a:bodyPr>
          <a:lstStyle/>
          <a:p>
            <a:pPr marL="0" indent="0" algn="ctr">
              <a:lnSpc>
                <a:spcPct val="132000"/>
              </a:lnSpc>
              <a:buNone/>
            </a:pPr>
            <a:r>
              <a:rPr lang="en-US" sz="1250" dirty="0">
                <a:solidFill>
                  <a:srgbClr val="454240"/>
                </a:solidFill>
                <a:latin typeface="DM Sans" pitchFamily="34" charset="0"/>
                <a:ea typeface="DM Sans" pitchFamily="34" charset="-122"/>
                <a:cs typeface="DM Sans" pitchFamily="34" charset="-120"/>
              </a:rPr>
              <a:t>Instruction tuning. System prompts. Tool use. Agentic loops. RAG. Guardrails. Stop conditions. Context-window management. The KV cache. Cost mechanics and prompt caching. The architecture of a working system.</a:t>
            </a:r>
            <a:endParaRPr lang="en-US" sz="1250" dirty="0"/>
          </a:p>
        </p:txBody>
      </p:sp>
      <p:sp>
        <p:nvSpPr>
          <p:cNvPr id="20" name="Shape 18"/>
          <p:cNvSpPr/>
          <p:nvPr/>
        </p:nvSpPr>
        <p:spPr>
          <a:xfrm>
            <a:off x="9355896" y="4062909"/>
            <a:ext cx="19050" cy="488355"/>
          </a:xfrm>
          <a:prstGeom prst="roundRect">
            <a:avLst>
              <a:gd name="adj" fmla="val 358945"/>
            </a:avLst>
          </a:prstGeom>
          <a:solidFill>
            <a:srgbClr val="DDD3BA"/>
          </a:solidFill>
          <a:ln/>
        </p:spPr>
      </p:sp>
      <p:sp>
        <p:nvSpPr>
          <p:cNvPr id="21" name="Shape 19"/>
          <p:cNvSpPr/>
          <p:nvPr/>
        </p:nvSpPr>
        <p:spPr>
          <a:xfrm>
            <a:off x="9182267" y="3879751"/>
            <a:ext cx="366306" cy="366316"/>
          </a:xfrm>
          <a:prstGeom prst="roundRect">
            <a:avLst>
              <a:gd name="adj" fmla="val 18667"/>
            </a:avLst>
          </a:prstGeom>
          <a:solidFill>
            <a:srgbClr val="F7EDD4"/>
          </a:solidFill>
          <a:ln w="6350">
            <a:solidFill>
              <a:srgbClr val="DDD3BA"/>
            </a:solidFill>
            <a:prstDash val="solid"/>
          </a:ln>
        </p:spPr>
      </p:sp>
      <p:sp>
        <p:nvSpPr>
          <p:cNvPr id="22" name="Text 20"/>
          <p:cNvSpPr/>
          <p:nvPr/>
        </p:nvSpPr>
        <p:spPr>
          <a:xfrm>
            <a:off x="9243335" y="3910310"/>
            <a:ext cx="244171" cy="305197"/>
          </a:xfrm>
          <a:prstGeom prst="rect">
            <a:avLst/>
          </a:prstGeom>
          <a:noFill/>
          <a:ln/>
        </p:spPr>
        <p:txBody>
          <a:bodyPr wrap="none" lIns="0" tIns="0" rIns="0" bIns="0" rtlCol="0" anchor="ctr"/>
          <a:lstStyle/>
          <a:p>
            <a:pPr marL="0" indent="0" algn="ctr">
              <a:lnSpc>
                <a:spcPct val="100000"/>
              </a:lnSpc>
              <a:buNone/>
            </a:pPr>
            <a:r>
              <a:rPr lang="en-US" sz="1900" dirty="0">
                <a:solidFill>
                  <a:srgbClr val="454240"/>
                </a:solidFill>
                <a:latin typeface="Libre Baskerville" pitchFamily="34" charset="0"/>
                <a:ea typeface="Libre Baskerville" pitchFamily="34" charset="-122"/>
                <a:cs typeface="Libre Baskerville" pitchFamily="34" charset="-120"/>
              </a:rPr>
              <a:t>4</a:t>
            </a:r>
            <a:endParaRPr lang="en-US" sz="1900" dirty="0"/>
          </a:p>
        </p:txBody>
      </p:sp>
      <p:sp>
        <p:nvSpPr>
          <p:cNvPr id="23" name="Text 21"/>
          <p:cNvSpPr/>
          <p:nvPr/>
        </p:nvSpPr>
        <p:spPr>
          <a:xfrm>
            <a:off x="8347958" y="4714081"/>
            <a:ext cx="2035025" cy="254298"/>
          </a:xfrm>
          <a:prstGeom prst="rect">
            <a:avLst/>
          </a:prstGeom>
          <a:noFill/>
          <a:ln/>
        </p:spPr>
        <p:txBody>
          <a:bodyPr wrap="none" lIns="0" tIns="0" rIns="0" bIns="0" rtlCol="0" anchor="t"/>
          <a:lstStyle/>
          <a:p>
            <a:pPr marL="0" indent="0" algn="ctr">
              <a:lnSpc>
                <a:spcPct val="104000"/>
              </a:lnSpc>
              <a:buNone/>
            </a:pPr>
            <a:r>
              <a:rPr lang="en-US" sz="1600" dirty="0">
                <a:solidFill>
                  <a:srgbClr val="454240"/>
                </a:solidFill>
                <a:latin typeface="Libre Baskerville" pitchFamily="34" charset="0"/>
                <a:ea typeface="Libre Baskerville" pitchFamily="34" charset="-122"/>
                <a:cs typeface="Libre Baskerville" pitchFamily="34" charset="-120"/>
              </a:rPr>
              <a:t>Part 4 — Decisions</a:t>
            </a:r>
            <a:endParaRPr lang="en-US" sz="1600" dirty="0"/>
          </a:p>
        </p:txBody>
      </p:sp>
      <p:sp>
        <p:nvSpPr>
          <p:cNvPr id="24" name="Text 22"/>
          <p:cNvSpPr/>
          <p:nvPr/>
        </p:nvSpPr>
        <p:spPr>
          <a:xfrm>
            <a:off x="7448562" y="5064522"/>
            <a:ext cx="3833816" cy="1292324"/>
          </a:xfrm>
          <a:prstGeom prst="rect">
            <a:avLst/>
          </a:prstGeom>
          <a:noFill/>
          <a:ln/>
        </p:spPr>
        <p:txBody>
          <a:bodyPr wrap="square" lIns="0" tIns="0" rIns="0" bIns="0" rtlCol="0" anchor="t">
            <a:normAutofit/>
          </a:bodyPr>
          <a:lstStyle/>
          <a:p>
            <a:pPr marL="0" indent="0" algn="ctr">
              <a:lnSpc>
                <a:spcPct val="132000"/>
              </a:lnSpc>
              <a:buNone/>
            </a:pPr>
            <a:r>
              <a:rPr lang="en-US" sz="1250" dirty="0">
                <a:solidFill>
                  <a:srgbClr val="454240"/>
                </a:solidFill>
                <a:latin typeface="DM Sans" pitchFamily="34" charset="0"/>
                <a:ea typeface="DM Sans" pitchFamily="34" charset="-122"/>
                <a:cs typeface="DM Sans" pitchFamily="34" charset="-120"/>
              </a:rPr>
              <a:t>Knowledge cutoffs. Reasoning models. Multimodal inputs. The prompt-vs-RAG-vs-fine-tune decision. Model size and routing. Open vs closed models. Embeddings. Privacy and data handling. Evaluation. The honest limits.</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4436</Words>
  <Application>Microsoft Office PowerPoint</Application>
  <PresentationFormat>Widescreen</PresentationFormat>
  <Paragraphs>326</Paragraphs>
  <Slides>30</Slides>
  <Notes>30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DM Sans</vt:lpstr>
      <vt:lpstr>Arial</vt:lpstr>
      <vt:lpstr>Libre Baskerville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Soma Kesara</cp:lastModifiedBy>
  <cp:revision>3</cp:revision>
  <dcterms:created xsi:type="dcterms:W3CDTF">2026-06-11T04:53:33Z</dcterms:created>
  <dcterms:modified xsi:type="dcterms:W3CDTF">2026-06-11T05:04:29Z</dcterms:modified>
</cp:coreProperties>
</file>